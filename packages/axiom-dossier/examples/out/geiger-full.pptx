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2331720"/>
            <a:ext cx="10566400" cy="2057400"/>
          </a:xfrm>
          <a:prstGeom prst="rect">
            <a:avLst/>
          </a:prstGeom>
          <a:noFill/>
        </p:spPr>
        <p:txBody>
          <a:bodyPr wrap="square">
            <a:spAutoFit/>
          </a:bodyPr>
          <a:lstStyle/>
          <a:p>
            <a:r>
              <a:rPr sz="1900" b="1">
                <a:solidFill>
                  <a:srgbClr val="111111"/>
                </a:solidFill>
              </a:rPr>
              <a:t>GEIGER-1911</a:t>
            </a:r>
          </a:p>
          <a:p>
            <a:r>
              <a:rPr sz="1365" b="0">
                <a:solidFill>
                  <a:srgbClr val="555555"/>
                </a:solidFill>
              </a:rPr>
              <a:t>Is the positive charge of a gold atom concentrated in a centre far smaller than the atom itself?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Abstract</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positive charge of a gold atom was studied to determine whether it is concentrated in a centre far smaller than the atom itself. The question was asked by evaluating the upper limit on the radius of the positive charge of gold against a decision threshold. It was answered using counts recorded across multiple stations through profile likelihood via one forward route, with the single-scattering assumption asserted from the foil thickness and every other assumption measured by a station bought for that purpose. The upper limit on the radius of the positive charge of gold settled below the threshold, on the favourable side. This indicates that the positive charge is concentrated in a centre far smaller than the atom itself.</a:t>
            </a:r>
          </a:p>
        </p:txBody>
      </p:sp>
      <p:sp>
        <p:nvSpPr>
          <p:cNvPr id="4" name="TextBox 3"/>
          <p:cNvSpPr txBox="1"/>
          <p:nvPr/>
        </p:nvSpPr>
        <p:spPr>
          <a:xfrm>
            <a:off x="812800" y="1625600"/>
            <a:ext cx="10566400" cy="508000"/>
          </a:xfrm>
          <a:prstGeom prst="rect">
            <a:avLst/>
          </a:prstGeom>
          <a:noFill/>
        </p:spPr>
        <p:txBody>
          <a:bodyPr wrap="square">
            <a:spAutoFit/>
          </a:bodyPr>
          <a:lstStyle/>
          <a:p>
            <a:r>
              <a:rPr sz="1050" b="0">
                <a:solidFill>
                  <a:srgbClr val="1A1A1A"/>
                </a:solidFill>
              </a:rPr>
              <a:t>Reported quantities: Upper limit on the radius of the positive charge of gold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1. Introduction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This report addresses whether the positive charge of a gold atom is concentrated in a centre far smaller than the atom itself. The question is answered by the upper limit on the radius of the positive charge of gold, evaluated against a decision threshold of 135000.0 fm. The decision turns on the position of the estimated interval relative to this benchmark. An interval lying wholly on one side of 135000.0 fm settles the question. An interval spanning 135000.0 fm leaves the question unsettled. Identification for this study is downgraded. The subsequent sections describe the measurement framework, report the interval, and discuss the limitations of the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To address the question established above, the two atomic structures are parameterized through a single continuous cut-off radius. Because a head-on alpha particle stops at 59.2 fm and a trajectory scattered through an angle comes no closer than half that distance scaled by the scattering geometry, a positive charge of radius R suppresses scattering past a corresponding cut-off angle, separating the two candidate structures as values of about 7.3 fm and 135000 fm. Rather than treating the two atoms as separate models—which returns a fit comparison without the sensitivity curve needed to choose angles or exposure times—the cut-off parameter is estimated directly. Identification is downgraded via profile likelihood on the counts through one forward route, resting on three unresolved assumptions: single scattering, that the counter is linear below its rate cap, and that the two atoms differ only in the radius of the positive charge, as listed in Table 1. While the single-scattering assumption is asserted from the foil thickness, every other assumption is measured directly by dedicated stations. The experiment allocates nine stations across four distinct roles recorded in Table 2: anchors at 1° and 2.5° to pin the multiple-scattering core, an information bank at 5°, 10°, 20°, and 45°, witness stations at 90° and 150°, and a foil-out run at 90° to measure background. Allocating observation time strictly by evidence-per-hour into the bank was rejected because that metric is derived inside the core model under attack, whereas the witness stations yield evidence that does not depend on the core model. To maximize throughput without angular smearing, apertures are cut as annular slots, holding the radial half-width at the workshop floor and taking additional solid angle in azimuth. A round hole of equivalent area was rejected because at 90° it would span roughly ±13° and report a rate five per cent high, whereas the slot reports the rate to a part in four thousand. Across the 200 total observing hours, 135 hours are assigned to the witness stations and 110 hours to 150° alone, placing the bulk of the exposure past where a core thirty times too wide could reach. The five parameters of the Poisson count model are profiled over the cut-off, and the 95 % one-sided limit is set where the log-likelihood climbs 1.921 above its minimum on the informative side. Quoting the profile minimum as a point estimate of the radius was rejected because all values below the bound fit the observed counts equally well, leaving the result as a limit rather than a measurement.</a:t>
            </a:r>
          </a:p>
        </p:txBody>
      </p:sp>
      <p:sp>
        <p:nvSpPr>
          <p:cNvPr id="4" name="TextBox 3"/>
          <p:cNvSpPr txBox="1"/>
          <p:nvPr/>
        </p:nvSpPr>
        <p:spPr>
          <a:xfrm>
            <a:off x="812800" y="2921000"/>
            <a:ext cx="10566400" cy="508000"/>
          </a:xfrm>
          <a:prstGeom prst="rect">
            <a:avLst/>
          </a:prstGeom>
          <a:noFill/>
        </p:spPr>
        <p:txBody>
          <a:bodyPr wrap="square">
            <a:spAutoFit/>
          </a:bodyPr>
          <a:lstStyle/>
          <a:p>
            <a:r>
              <a:rPr sz="1050" b="1">
                <a:solidFill>
                  <a:srgbClr val="111111"/>
                </a:solidFill>
              </a:rPr>
              <a:t>The two atoms as one parameter</a:t>
            </a:r>
          </a:p>
        </p:txBody>
      </p:sp>
      <p:sp>
        <p:nvSpPr>
          <p:cNvPr id="5" name="TextBox 4"/>
          <p:cNvSpPr txBox="1"/>
          <p:nvPr/>
        </p:nvSpPr>
        <p:spPr>
          <a:xfrm>
            <a:off x="812800" y="3175000"/>
            <a:ext cx="10566400" cy="508000"/>
          </a:xfrm>
          <a:prstGeom prst="rect">
            <a:avLst/>
          </a:prstGeom>
          <a:noFill/>
        </p:spPr>
        <p:txBody>
          <a:bodyPr wrap="square">
            <a:spAutoFit/>
          </a:bodyPr>
          <a:lstStyle/>
          <a:p>
            <a:r>
              <a:rPr sz="1050" b="0">
                <a:solidFill>
                  <a:srgbClr val="111111"/>
                </a:solidFill>
              </a:rPr>
              <a:t>`D        = 2 z Z e^2 / (4 pi eps0 E)          closest approach, head-on`
`r_min(t) = (D/2) (1 + 1/sin(t/2))             closest approach at angle t`
`sin(t_cut/2) = 1 / (2R/D - 1)                 where a charge of radius R`
`                                              kills the scattering`
`lam      = log sin(t_cut/2)                   the fitted parameter`</a:t>
            </a:r>
          </a:p>
        </p:txBody>
      </p:sp>
      <p:sp>
        <p:nvSpPr>
          <p:cNvPr id="6" name="TextBox 5"/>
          <p:cNvSpPr txBox="1"/>
          <p:nvPr/>
        </p:nvSpPr>
        <p:spPr>
          <a:xfrm>
            <a:off x="812800" y="3962400"/>
            <a:ext cx="10566400" cy="508000"/>
          </a:xfrm>
          <a:prstGeom prst="rect">
            <a:avLst/>
          </a:prstGeom>
          <a:noFill/>
        </p:spPr>
        <p:txBody>
          <a:bodyPr wrap="square">
            <a:spAutoFit/>
          </a:bodyPr>
          <a:lstStyle/>
          <a:p>
            <a:r>
              <a:rPr sz="1050" b="1">
                <a:solidFill>
                  <a:srgbClr val="111111"/>
                </a:solidFill>
              </a:rPr>
              <a:t>What shape to cut the aperture</a:t>
            </a:r>
          </a:p>
        </p:txBody>
      </p:sp>
      <p:sp>
        <p:nvSpPr>
          <p:cNvPr id="7" name="TextBox 6"/>
          <p:cNvSpPr txBox="1"/>
          <p:nvPr/>
        </p:nvSpPr>
        <p:spPr>
          <a:xfrm>
            <a:off x="812800" y="4216400"/>
            <a:ext cx="10566400" cy="508000"/>
          </a:xfrm>
          <a:prstGeom prst="rect">
            <a:avLst/>
          </a:prstGeom>
          <a:noFill/>
        </p:spPr>
        <p:txBody>
          <a:bodyPr wrap="square">
            <a:spAutoFit/>
          </a:bodyPr>
          <a:lstStyle/>
          <a:p>
            <a:r>
              <a:rPr sz="1050" b="0">
                <a:solidFill>
                  <a:srgbClr val="111111"/>
                </a:solidFill>
              </a:rPr>
              <a:t>`Omega(t, d, phi) = phi * 2 sin(t) sin(d)      an annular slot subtends`
`  phi = azimuthal arc, d = radial half-width`
`  only d smears the angle; phi is free resolution`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sp>
        <p:nvSpPr>
          <p:cNvPr id="3" name="TextBox 2"/>
          <p:cNvSpPr txBox="1"/>
          <p:nvPr/>
        </p:nvSpPr>
        <p:spPr>
          <a:xfrm>
            <a:off x="812800" y="914400"/>
            <a:ext cx="10566400" cy="508000"/>
          </a:xfrm>
          <a:prstGeom prst="rect">
            <a:avLst/>
          </a:prstGeom>
          <a:noFill/>
        </p:spPr>
        <p:txBody>
          <a:bodyPr wrap="square">
            <a:spAutoFit/>
          </a:bodyPr>
          <a:lstStyle/>
          <a:p>
            <a:r>
              <a:rPr sz="1050" b="1">
                <a:solidFill>
                  <a:srgbClr val="111111"/>
                </a:solidFill>
              </a:rPr>
              <a:t>How long at each</a:t>
            </a:r>
          </a:p>
        </p:txBody>
      </p:sp>
      <p:sp>
        <p:nvSpPr>
          <p:cNvPr id="4" name="TextBox 3"/>
          <p:cNvSpPr txBox="1"/>
          <p:nvPr/>
        </p:nvSpPr>
        <p:spPr>
          <a:xfrm>
            <a:off x="812800" y="1168400"/>
            <a:ext cx="10566400" cy="508000"/>
          </a:xfrm>
          <a:prstGeom prst="rect">
            <a:avLst/>
          </a:prstGeom>
          <a:noFill/>
        </p:spPr>
        <p:txBody>
          <a:bodyPr wrap="square">
            <a:spAutoFit/>
          </a:bodyPr>
          <a:lstStyle/>
          <a:p>
            <a:r>
              <a:rPr sz="1050" b="0">
                <a:solidFill>
                  <a:srgbClr val="111111"/>
                </a:solidFill>
              </a:rPr>
              <a:t>`N(t) ~ Poisson( Omega * T * [ f_tail(t) + f_core(t) + b ] )`
`  f_tail(t) = exp(log_a) / sin^4(t/2)         single scattering`
`  f_core(t) = exp(log_c) exp(-t^2 / 2 exp(log_w)^2)   multiple scattering`
`  b         = exp(log_b)                      counter background`
`  the tail is cut off above t_cut(lam)`</a:t>
            </a:r>
          </a:p>
        </p:txBody>
      </p:sp>
      <p:sp>
        <p:nvSpPr>
          <p:cNvPr id="5" name="TextBox 4"/>
          <p:cNvSpPr txBox="1"/>
          <p:nvPr/>
        </p:nvSpPr>
        <p:spPr>
          <a:xfrm>
            <a:off x="812800" y="1879600"/>
            <a:ext cx="10566400" cy="508000"/>
          </a:xfrm>
          <a:prstGeom prst="rect">
            <a:avLst/>
          </a:prstGeom>
          <a:noFill/>
        </p:spPr>
        <p:txBody>
          <a:bodyPr wrap="square">
            <a:spAutoFit/>
          </a:bodyPr>
          <a:lstStyle/>
          <a:p>
            <a:r>
              <a:rPr sz="1050" b="1">
                <a:solidFill>
                  <a:srgbClr val="111111"/>
                </a:solidFill>
              </a:rPr>
              <a:t>Reading the bound off the counts</a:t>
            </a:r>
          </a:p>
        </p:txBody>
      </p:sp>
      <p:sp>
        <p:nvSpPr>
          <p:cNvPr id="6" name="TextBox 5"/>
          <p:cNvSpPr txBox="1"/>
          <p:nvPr/>
        </p:nvSpPr>
        <p:spPr>
          <a:xfrm>
            <a:off x="812800" y="2133600"/>
            <a:ext cx="10566400" cy="508000"/>
          </a:xfrm>
          <a:prstGeom prst="rect">
            <a:avLst/>
          </a:prstGeom>
          <a:noFill/>
        </p:spPr>
        <p:txBody>
          <a:bodyPr wrap="square">
            <a:spAutoFit/>
          </a:bodyPr>
          <a:lstStyle/>
          <a:p>
            <a:r>
              <a:rPr sz="1050" b="0">
                <a:solidFill>
                  <a:srgbClr val="111111"/>
                </a:solidFill>
              </a:rPr>
              <a:t>`R_95 : 2 [ l(lam_hat) - l(lam) ] = 1.921     one-sided, one parameter`
`  l(.)  = the Poisson log-likelihood over all stations`
`  R     = (D/2) (1 + 1/exp(lam))               radius from the cut-off`</a:t>
            </a:r>
          </a:p>
        </p:txBody>
      </p:sp>
      <p:sp>
        <p:nvSpPr>
          <p:cNvPr id="7" name="TextBox 6"/>
          <p:cNvSpPr txBox="1"/>
          <p:nvPr/>
        </p:nvSpPr>
        <p:spPr>
          <a:xfrm>
            <a:off x="812800" y="2616200"/>
            <a:ext cx="10566400" cy="508000"/>
          </a:xfrm>
          <a:prstGeom prst="rect">
            <a:avLst/>
          </a:prstGeom>
          <a:noFill/>
        </p:spPr>
        <p:txBody>
          <a:bodyPr wrap="square">
            <a:spAutoFit/>
          </a:bodyPr>
          <a:lstStyle/>
          <a:p>
            <a:r>
              <a:rPr sz="1050" b="1">
                <a:solidFill>
                  <a:srgbClr val="111111"/>
                </a:solidFill>
              </a:rPr>
              <a:t>Assumptions this analysis rests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 (cont.)</a:t>
            </a:r>
          </a:p>
        </p:txBody>
      </p:sp>
      <p:graphicFrame>
        <p:nvGraphicFramePr>
          <p:cNvPr id="3" name="Table 2"/>
          <p:cNvGraphicFramePr>
            <a:graphicFrameLocks noGrp="1"/>
          </p:cNvGraphicFramePr>
          <p:nvPr/>
        </p:nvGraphicFramePr>
        <p:xfrm>
          <a:off x="812800" y="914400"/>
          <a:ext cx="10566400" cy="12192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Assumption</a:t>
                      </a:r>
                    </a:p>
                  </a:txBody>
                  <a:tcPr/>
                </a:tc>
                <a:tc>
                  <a:txBody>
                    <a:bodyPr/>
                    <a:lstStyle/>
                    <a:p>
                      <a:r>
                        <a:rPr sz="892" b="1">
                          <a:solidFill>
                            <a:srgbClr val="111111"/>
                          </a:solidFill>
                        </a:rPr>
                        <a:t>Statement</a:t>
                      </a:r>
                    </a:p>
                  </a:txBody>
                  <a:tcPr/>
                </a:tc>
                <a:tc>
                  <a:txBody>
                    <a:bodyPr/>
                    <a:lstStyle/>
                    <a:p>
                      <a:r>
                        <a:rPr sz="892" b="1">
                          <a:solidFill>
                            <a:srgbClr val="111111"/>
                          </a:solidFill>
                        </a:rPr>
                        <a:t>Status</a:t>
                      </a:r>
                    </a:p>
                  </a:txBody>
                  <a:tcPr/>
                </a:tc>
                <a:tc>
                  <a:txBody>
                    <a:bodyPr/>
                    <a:lstStyle/>
                    <a:p>
                      <a:r>
                        <a:rPr sz="892" b="1">
                          <a:solidFill>
                            <a:srgbClr val="111111"/>
                          </a:solidFill>
                        </a:rPr>
                        <a:t>Challenged by</a:t>
                      </a:r>
                    </a:p>
                  </a:txBody>
                  <a:tcPr/>
                </a:tc>
              </a:tr>
              <a:tr h="304800">
                <a:tc>
                  <a:txBody>
                    <a:bodyPr/>
                    <a:lstStyle/>
                    <a:p>
                      <a:r>
                        <a:rPr sz="892" b="0">
                          <a:solidFill>
                            <a:srgbClr val="111111"/>
                          </a:solidFill>
                        </a:rPr>
                        <a:t>single scattering</a:t>
                      </a:r>
                    </a:p>
                  </a:txBody>
                  <a:tcPr/>
                </a:tc>
                <a:tc>
                  <a:txBody>
                    <a:bodyPr/>
                    <a:lstStyle/>
                    <a:p>
                      <a:r>
                        <a:rPr sz="892" b="0">
                          <a:solidFill>
                            <a:srgbClr val="111111"/>
                          </a:solidFill>
                        </a:rPr>
                        <a:t>a wide-angle count is one close encounter, not several</a:t>
                      </a:r>
                    </a:p>
                  </a:txBody>
                  <a:tcPr/>
                </a:tc>
                <a:tc>
                  <a:txBody>
                    <a:bodyPr/>
                    <a:lstStyle/>
                    <a:p>
                      <a:r>
                        <a:rPr sz="892" b="0">
                          <a:solidFill>
                            <a:srgbClr val="111111"/>
                          </a:solidFill>
                        </a:rPr>
                        <a:t>was asserted without a check</a:t>
                      </a:r>
                    </a:p>
                  </a:txBody>
                  <a:tcPr/>
                </a:tc>
                <a:tc>
                  <a:txBody>
                    <a:bodyPr/>
                    <a:lstStyle/>
                    <a:p>
                      <a:r>
                        <a:rPr sz="892" b="0">
                          <a:solidFill>
                            <a:srgbClr val="111111"/>
                          </a:solidFill>
                        </a:rPr>
                        <a:t>a thicker foil, where two encounters would compound</a:t>
                      </a:r>
                    </a:p>
                  </a:txBody>
                  <a:tcPr/>
                </a:tc>
              </a:tr>
              <a:tr h="304800">
                <a:tc>
                  <a:txBody>
                    <a:bodyPr/>
                    <a:lstStyle/>
                    <a:p>
                      <a:r>
                        <a:rPr sz="892" b="0">
                          <a:solidFill>
                            <a:srgbClr val="111111"/>
                          </a:solidFill>
                        </a:rPr>
                        <a:t>the counter is linear below its rate cap</a:t>
                      </a:r>
                    </a:p>
                  </a:txBody>
                  <a:tcPr/>
                </a:tc>
                <a:tc>
                  <a:txBody>
                    <a:bodyPr/>
                    <a:lstStyle/>
                    <a:p>
                      <a:r>
                        <a:rPr sz="892" b="0">
                          <a:solidFill>
                            <a:srgbClr val="111111"/>
                          </a:solidFill>
                        </a:rPr>
                        <a:t>every aperture is opened only as wide as keeps the rate under 1.5 counts per second, where the counter does not miss particles</a:t>
                      </a:r>
                    </a:p>
                  </a:txBody>
                  <a:tcPr/>
                </a:tc>
                <a:tc>
                  <a:txBody>
                    <a:bodyPr/>
                    <a:lstStyle/>
                    <a:p>
                      <a:r>
                        <a:rPr sz="892" b="0">
                          <a:solidFill>
                            <a:srgbClr val="111111"/>
                          </a:solidFill>
                        </a:rPr>
                        <a:t>was asserted without a check</a:t>
                      </a:r>
                    </a:p>
                  </a:txBody>
                  <a:tcPr/>
                </a:tc>
                <a:tc>
                  <a:txBody>
                    <a:bodyPr/>
                    <a:lstStyle/>
                    <a:p>
                      <a:r>
                        <a:rPr sz="892" b="0">
                          <a:solidFill>
                            <a:srgbClr val="111111"/>
                          </a:solidFill>
                        </a:rPr>
                        <a:t>a station run wide enough to pile up, which would under-report the busiest angles</a:t>
                      </a:r>
                    </a:p>
                  </a:txBody>
                  <a:tcPr/>
                </a:tc>
              </a:tr>
              <a:tr h="304800">
                <a:tc>
                  <a:txBody>
                    <a:bodyPr/>
                    <a:lstStyle/>
                    <a:p>
                      <a:r>
                        <a:rPr sz="892" b="0">
                          <a:solidFill>
                            <a:srgbClr val="111111"/>
                          </a:solidFill>
                        </a:rPr>
                        <a:t>the two atoms differ only in the radius of the positive charge</a:t>
                      </a:r>
                    </a:p>
                  </a:txBody>
                  <a:tcPr/>
                </a:tc>
                <a:tc>
                  <a:txBody>
                    <a:bodyPr/>
                    <a:lstStyle/>
                    <a:p>
                      <a:r>
                        <a:rPr sz="892" b="0">
                          <a:solidFill>
                            <a:srgbClr val="111111"/>
                          </a:solidFill>
                        </a:rPr>
                        <a:t>a hard centre and a charge spread through the atom are one model at two values of one number, the radius R of the positive charge</a:t>
                      </a:r>
                    </a:p>
                  </a:txBody>
                  <a:tcPr/>
                </a:tc>
                <a:tc>
                  <a:txBody>
                    <a:bodyPr/>
                    <a:lstStyle/>
                    <a:p>
                      <a:r>
                        <a:rPr sz="892" b="0">
                          <a:solidFill>
                            <a:srgbClr val="111111"/>
                          </a:solidFill>
                        </a:rPr>
                        <a:t>was asserted without a check</a:t>
                      </a:r>
                    </a:p>
                  </a:txBody>
                  <a:tcPr/>
                </a:tc>
                <a:tc>
                  <a:txBody>
                    <a:bodyPr/>
                    <a:lstStyle/>
                    <a:p>
                      <a:r>
                        <a:rPr sz="892" b="0">
                          <a:solidFill>
                            <a:srgbClr val="111111"/>
                          </a:solidFill>
                        </a:rPr>
                        <a:t>any difference between the two atoms that is not a matter of extent</a:t>
                      </a:r>
                    </a:p>
                  </a:txBody>
                  <a:tcPr/>
                </a:tc>
              </a:tr>
            </a:tbl>
          </a:graphicData>
        </a:graphic>
      </p:graphicFrame>
      <p:sp>
        <p:nvSpPr>
          <p:cNvPr id="4" name="TextBox 3"/>
          <p:cNvSpPr txBox="1"/>
          <p:nvPr/>
        </p:nvSpPr>
        <p:spPr>
          <a:xfrm>
            <a:off x="812800" y="2286000"/>
            <a:ext cx="10566400" cy="3759200"/>
          </a:xfrm>
          <a:prstGeom prst="rect">
            <a:avLst/>
          </a:prstGeom>
          <a:noFill/>
        </p:spPr>
        <p:txBody>
          <a:bodyPr wrap="square">
            <a:spAutoFit/>
          </a:bodyPr>
          <a:lstStyle/>
          <a:p>
            <a:r>
              <a:rPr sz="892" b="1">
                <a:solidFill>
                  <a:srgbClr val="1A1A1A"/>
                </a:solidFill>
              </a:rPr>
              <a:t>assumption  </a:t>
            </a:r>
            <a:r>
              <a:rPr sz="945" b="0">
                <a:solidFill>
                  <a:srgbClr val="111111"/>
                </a:solidFill>
              </a:rPr>
              <a:t>The witness stations were bought so that the wide-angle evidence does not rest on the model of the multiple-scattering core. They are the reason the bound survives that model being wrong.</a:t>
            </a:r>
          </a:p>
          <a:p>
            <a:r>
              <a:rPr sz="892" b="1">
                <a:solidFill>
                  <a:srgbClr val="1A1A1A"/>
                </a:solidFill>
              </a:rPr>
              <a:t>assumption  </a:t>
            </a:r>
            <a:r>
              <a:rPr sz="945" b="0">
                <a:solidFill>
                  <a:srgbClr val="111111"/>
                </a:solidFill>
              </a:rPr>
              <a:t>The bound is reported against the radius a diffuse atom would have, not against zero: this experiment excludes an atom, it does not measure a nucleus.</a:t>
            </a:r>
          </a:p>
        </p:txBody>
      </p:sp>
      <p:graphicFrame>
        <p:nvGraphicFramePr>
          <p:cNvPr id="5" name="Table 4"/>
          <p:cNvGraphicFramePr>
            <a:graphicFrameLocks noGrp="1"/>
          </p:cNvGraphicFramePr>
          <p:nvPr/>
        </p:nvGraphicFramePr>
        <p:xfrm>
          <a:off x="812800" y="2971800"/>
          <a:ext cx="10566400" cy="3073400"/>
        </p:xfrm>
        <a:graphic>
          <a:graphicData uri="http://schemas.openxmlformats.org/drawingml/2006/table">
            <a:tbl>
              <a:tblPr firstRow="1" bandRow="1">
                <a:tableStyleId>{5C22544A-7EE6-4342-B048-85BDC9FD1C3A}</a:tableStyleId>
              </a:tblPr>
              <a:tblGrid>
                <a:gridCol w="3522133"/>
                <a:gridCol w="3522133"/>
                <a:gridCol w="3522134"/>
              </a:tblGrid>
              <a:tr h="133626">
                <a:tc>
                  <a:txBody>
                    <a:bodyPr/>
                    <a:lstStyle/>
                    <a:p>
                      <a:r>
                        <a:rPr sz="892" b="1">
                          <a:solidFill>
                            <a:srgbClr val="111111"/>
                          </a:solidFill>
                        </a:rPr>
                        <a:t>Step</a:t>
                      </a:r>
                    </a:p>
                  </a:txBody>
                  <a:tcPr/>
                </a:tc>
                <a:tc>
                  <a:txBody>
                    <a:bodyPr/>
                    <a:lstStyle/>
                    <a:p>
                      <a:r>
                        <a:rPr sz="892" b="1">
                          <a:solidFill>
                            <a:srgbClr val="111111"/>
                          </a:solidFill>
                        </a:rPr>
                        <a:t>Parameter</a:t>
                      </a:r>
                    </a:p>
                  </a:txBody>
                  <a:tcPr/>
                </a:tc>
                <a:tc>
                  <a:txBody>
                    <a:bodyPr/>
                    <a:lstStyle/>
                    <a:p>
                      <a:r>
                        <a:rPr sz="892" b="1">
                          <a:solidFill>
                            <a:srgbClr val="111111"/>
                          </a:solidFill>
                        </a:rPr>
                        <a:t>Value</a:t>
                      </a:r>
                    </a:p>
                  </a:txBody>
                  <a:tcPr/>
                </a:tc>
              </a:tr>
              <a:tr h="133626">
                <a:tc>
                  <a:txBody>
                    <a:bodyPr/>
                    <a:lstStyle/>
                    <a:p>
                      <a:r>
                        <a:rPr sz="892" b="0">
                          <a:solidFill>
                            <a:srgbClr val="111111"/>
                          </a:solidFill>
                        </a:rPr>
                        <a:t>Identification</a:t>
                      </a:r>
                    </a:p>
                  </a:txBody>
                  <a:tcPr/>
                </a:tc>
                <a:tc>
                  <a:txBody>
                    <a:bodyPr/>
                    <a:lstStyle/>
                    <a:p>
                      <a:r>
                        <a:rPr sz="892" b="0">
                          <a:solidFill>
                            <a:srgbClr val="111111"/>
                          </a:solidFill>
                        </a:rPr>
                        <a:t>route</a:t>
                      </a:r>
                    </a:p>
                  </a:txBody>
                  <a:tcPr/>
                </a:tc>
                <a:tc>
                  <a:txBody>
                    <a:bodyPr/>
                    <a:lstStyle/>
                    <a:p>
                      <a:r>
                        <a:rPr sz="892" b="0">
                          <a:solidFill>
                            <a:srgbClr val="111111"/>
                          </a:solidFill>
                        </a:rPr>
                        <a:t>profile likelihood on the counts, through one forward()</a:t>
                      </a:r>
                    </a:p>
                  </a:txBody>
                  <a:tcPr/>
                </a:tc>
              </a:tr>
              <a:tr h="133626">
                <a:tc>
                  <a:txBody>
                    <a:bodyPr/>
                    <a:lstStyle/>
                    <a:p>
                      <a:r>
                        <a:rPr sz="892" b="0">
                          <a:solidFill>
                            <a:srgbClr val="111111"/>
                          </a:solidFill>
                        </a:rPr>
                        <a:t>Identification</a:t>
                      </a:r>
                    </a:p>
                  </a:txBody>
                  <a:tcPr/>
                </a:tc>
                <a:tc>
                  <a:txBody>
                    <a:bodyPr/>
                    <a:lstStyle/>
                    <a:p>
                      <a:r>
                        <a:rPr sz="892" b="0">
                          <a:solidFill>
                            <a:srgbClr val="111111"/>
                          </a:solidFill>
                        </a:rPr>
                        <a:t>status</a:t>
                      </a:r>
                    </a:p>
                  </a:txBody>
                  <a:tcPr/>
                </a:tc>
                <a:tc>
                  <a:txBody>
                    <a:bodyPr/>
                    <a:lstStyle/>
                    <a:p>
                      <a:r>
                        <a:rPr sz="892" b="0">
                          <a:solidFill>
                            <a:srgbClr val="111111"/>
                          </a:solidFill>
                        </a:rPr>
                        <a:t>downgraded</a:t>
                      </a:r>
                    </a:p>
                  </a:txBody>
                  <a:tcPr/>
                </a:tc>
              </a:tr>
              <a:tr h="133626">
                <a:tc>
                  <a:txBody>
                    <a:bodyPr/>
                    <a:lstStyle/>
                    <a:p>
                      <a:r>
                        <a:rPr sz="892" b="0">
                          <a:solidFill>
                            <a:srgbClr val="111111"/>
                          </a:solidFill>
                        </a:rPr>
                        <a:t>The two atoms as one parameter</a:t>
                      </a:r>
                    </a:p>
                  </a:txBody>
                  <a:tcPr/>
                </a:tc>
                <a:tc>
                  <a:txBody>
                    <a:bodyPr/>
                    <a:lstStyle/>
                    <a:p>
                      <a:r>
                        <a:rPr sz="892" b="0">
                          <a:solidFill>
                            <a:srgbClr val="111111"/>
                          </a:solidFill>
                        </a:rPr>
                        <a:t>beam energy (MeV)</a:t>
                      </a:r>
                    </a:p>
                  </a:txBody>
                  <a:tcPr/>
                </a:tc>
                <a:tc>
                  <a:txBody>
                    <a:bodyPr/>
                    <a:lstStyle/>
                    <a:p>
                      <a:r>
                        <a:rPr sz="892" b="0">
                          <a:solidFill>
                            <a:srgbClr val="111111"/>
                          </a:solidFill>
                        </a:rPr>
                        <a:t>7.68</a:t>
                      </a:r>
                    </a:p>
                  </a:txBody>
                  <a:tcPr/>
                </a:tc>
              </a:tr>
              <a:tr h="133626">
                <a:tc>
                  <a:txBody>
                    <a:bodyPr/>
                    <a:lstStyle/>
                    <a:p>
                      <a:r>
                        <a:rPr sz="892" b="0">
                          <a:solidFill>
                            <a:srgbClr val="111111"/>
                          </a:solidFill>
                        </a:rPr>
                        <a:t>The two atoms as one parameter</a:t>
                      </a:r>
                    </a:p>
                  </a:txBody>
                  <a:tcPr/>
                </a:tc>
                <a:tc>
                  <a:txBody>
                    <a:bodyPr/>
                    <a:lstStyle/>
                    <a:p>
                      <a:r>
                        <a:rPr sz="892" b="0">
                          <a:solidFill>
                            <a:srgbClr val="111111"/>
                          </a:solidFill>
                        </a:rPr>
                        <a:t>closest approach D (fm)</a:t>
                      </a:r>
                    </a:p>
                  </a:txBody>
                  <a:tcPr/>
                </a:tc>
                <a:tc>
                  <a:txBody>
                    <a:bodyPr/>
                    <a:lstStyle/>
                    <a:p>
                      <a:r>
                        <a:rPr sz="892" b="0">
                          <a:solidFill>
                            <a:srgbClr val="111111"/>
                          </a:solidFill>
                        </a:rPr>
                        <a:t>59.25</a:t>
                      </a:r>
                    </a:p>
                  </a:txBody>
                  <a:tcPr/>
                </a:tc>
              </a:tr>
              <a:tr h="133626">
                <a:tc>
                  <a:txBody>
                    <a:bodyPr/>
                    <a:lstStyle/>
                    <a:p>
                      <a:r>
                        <a:rPr sz="892" b="0">
                          <a:solidFill>
                            <a:srgbClr val="111111"/>
                          </a:solidFill>
                        </a:rPr>
                        <a:t>The two atoms as one parameter</a:t>
                      </a:r>
                    </a:p>
                  </a:txBody>
                  <a:tcPr/>
                </a:tc>
                <a:tc>
                  <a:txBody>
                    <a:bodyPr/>
                    <a:lstStyle/>
                    <a:p>
                      <a:r>
                        <a:rPr sz="892" b="0">
                          <a:solidFill>
                            <a:srgbClr val="111111"/>
                          </a:solidFill>
                        </a:rPr>
                        <a:t>diffuse atom R (fm)</a:t>
                      </a:r>
                    </a:p>
                  </a:txBody>
                  <a:tcPr/>
                </a:tc>
                <a:tc>
                  <a:txBody>
                    <a:bodyPr/>
                    <a:lstStyle/>
                    <a:p>
                      <a:r>
                        <a:rPr sz="892" b="0">
                          <a:solidFill>
                            <a:srgbClr val="111111"/>
                          </a:solidFill>
                        </a:rPr>
                        <a:t>135000</a:t>
                      </a:r>
                    </a:p>
                  </a:txBody>
                  <a:tcPr/>
                </a:tc>
              </a:tr>
              <a:tr h="133626">
                <a:tc>
                  <a:txBody>
                    <a:bodyPr/>
                    <a:lstStyle/>
                    <a:p>
                      <a:r>
                        <a:rPr sz="892" b="0">
                          <a:solidFill>
                            <a:srgbClr val="111111"/>
                          </a:solidFill>
                        </a:rPr>
                        <a:t>The two atoms as one parameter</a:t>
                      </a:r>
                    </a:p>
                  </a:txBody>
                  <a:tcPr/>
                </a:tc>
                <a:tc>
                  <a:txBody>
                    <a:bodyPr/>
                    <a:lstStyle/>
                    <a:p>
                      <a:r>
                        <a:rPr sz="892" b="0">
                          <a:solidFill>
                            <a:srgbClr val="111111"/>
                          </a:solidFill>
                        </a:rPr>
                        <a:t>foil areal density (atoms/m²)</a:t>
                      </a:r>
                    </a:p>
                  </a:txBody>
                  <a:tcPr/>
                </a:tc>
                <a:tc>
                  <a:txBody>
                    <a:bodyPr/>
                    <a:lstStyle/>
                    <a:p>
                      <a:r>
                        <a:rPr sz="892" b="0">
                          <a:solidFill>
                            <a:srgbClr val="111111"/>
                          </a:solidFill>
                        </a:rPr>
                        <a:t>2.36e+22</a:t>
                      </a:r>
                    </a:p>
                  </a:txBody>
                  <a:tcPr/>
                </a:tc>
              </a:tr>
              <a:tr h="133626">
                <a:tc>
                  <a:txBody>
                    <a:bodyPr/>
                    <a:lstStyle/>
                    <a:p>
                      <a:r>
                        <a:rPr sz="892" b="0">
                          <a:solidFill>
                            <a:srgbClr val="111111"/>
                          </a:solidFill>
                        </a:rPr>
                        <a:t>The two atoms as one parameter</a:t>
                      </a:r>
                    </a:p>
                  </a:txBody>
                  <a:tcPr/>
                </a:tc>
                <a:tc>
                  <a:txBody>
                    <a:bodyPr/>
                    <a:lstStyle/>
                    <a:p>
                      <a:r>
                        <a:rPr sz="892" b="0">
                          <a:solidFill>
                            <a:srgbClr val="111111"/>
                          </a:solidFill>
                        </a:rPr>
                        <a:t>hard centre R (fm)</a:t>
                      </a:r>
                    </a:p>
                  </a:txBody>
                  <a:tcPr/>
                </a:tc>
                <a:tc>
                  <a:txBody>
                    <a:bodyPr/>
                    <a:lstStyle/>
                    <a:p>
                      <a:r>
                        <a:rPr sz="892" b="0">
                          <a:solidFill>
                            <a:srgbClr val="111111"/>
                          </a:solidFill>
                        </a:rPr>
                        <a:t>7.3</a:t>
                      </a:r>
                    </a:p>
                  </a:txBody>
                  <a:tcPr/>
                </a:tc>
              </a:tr>
              <a:tr h="133626">
                <a:tc>
                  <a:txBody>
                    <a:bodyPr/>
                    <a:lstStyle/>
                    <a:p>
                      <a:r>
                        <a:rPr sz="892" b="0">
                          <a:solidFill>
                            <a:srgbClr val="111111"/>
                          </a:solidFill>
                        </a:rPr>
                        <a:t>Where to point the counter</a:t>
                      </a:r>
                    </a:p>
                  </a:txBody>
                  <a:tcPr/>
                </a:tc>
                <a:tc>
                  <a:txBody>
                    <a:bodyPr/>
                    <a:lstStyle/>
                    <a:p>
                      <a:r>
                        <a:rPr sz="892" b="0">
                          <a:solidFill>
                            <a:srgbClr val="111111"/>
                          </a:solidFill>
                        </a:rPr>
                        <a:t>anchor</a:t>
                      </a:r>
                    </a:p>
                  </a:txBody>
                  <a:tcPr/>
                </a:tc>
                <a:tc>
                  <a:txBody>
                    <a:bodyPr/>
                    <a:lstStyle/>
                    <a:p>
                      <a:r>
                        <a:rPr sz="892" b="0">
                          <a:solidFill>
                            <a:srgbClr val="111111"/>
                          </a:solidFill>
                        </a:rPr>
                        <a:t>1°, 2.5° (10 h)</a:t>
                      </a:r>
                    </a:p>
                  </a:txBody>
                  <a:tcPr/>
                </a:tc>
              </a:tr>
              <a:tr h="133626">
                <a:tc>
                  <a:txBody>
                    <a:bodyPr/>
                    <a:lstStyle/>
                    <a:p>
                      <a:r>
                        <a:rPr sz="892" b="0">
                          <a:solidFill>
                            <a:srgbClr val="111111"/>
                          </a:solidFill>
                        </a:rPr>
                        <a:t>Where to point the counter</a:t>
                      </a:r>
                    </a:p>
                  </a:txBody>
                  <a:tcPr/>
                </a:tc>
                <a:tc>
                  <a:txBody>
                    <a:bodyPr/>
                    <a:lstStyle/>
                    <a:p>
                      <a:r>
                        <a:rPr sz="892" b="0">
                          <a:solidFill>
                            <a:srgbClr val="111111"/>
                          </a:solidFill>
                        </a:rPr>
                        <a:t>background</a:t>
                      </a:r>
                    </a:p>
                  </a:txBody>
                  <a:tcPr/>
                </a:tc>
                <a:tc>
                  <a:txBody>
                    <a:bodyPr/>
                    <a:lstStyle/>
                    <a:p>
                      <a:r>
                        <a:rPr sz="892" b="0">
                          <a:solidFill>
                            <a:srgbClr val="111111"/>
                          </a:solidFill>
                        </a:rPr>
                        <a:t>90°, foil out (10 h)</a:t>
                      </a:r>
                    </a:p>
                  </a:txBody>
                  <a:tcPr/>
                </a:tc>
              </a:tr>
              <a:tr h="133626">
                <a:tc>
                  <a:txBody>
                    <a:bodyPr/>
                    <a:lstStyle/>
                    <a:p>
                      <a:r>
                        <a:rPr sz="892" b="0">
                          <a:solidFill>
                            <a:srgbClr val="111111"/>
                          </a:solidFill>
                        </a:rPr>
                        <a:t>Where to point the counter</a:t>
                      </a:r>
                    </a:p>
                  </a:txBody>
                  <a:tcPr/>
                </a:tc>
                <a:tc>
                  <a:txBody>
                    <a:bodyPr/>
                    <a:lstStyle/>
                    <a:p>
                      <a:r>
                        <a:rPr sz="892" b="0">
                          <a:solidFill>
                            <a:srgbClr val="111111"/>
                          </a:solidFill>
                        </a:rPr>
                        <a:t>bank</a:t>
                      </a:r>
                    </a:p>
                  </a:txBody>
                  <a:tcPr/>
                </a:tc>
                <a:tc>
                  <a:txBody>
                    <a:bodyPr/>
                    <a:lstStyle/>
                    <a:p>
                      <a:r>
                        <a:rPr sz="892" b="0">
                          <a:solidFill>
                            <a:srgbClr val="111111"/>
                          </a:solidFill>
                        </a:rPr>
                        <a:t>5°, 10°, 20°, 45° (45 h)</a:t>
                      </a:r>
                    </a:p>
                  </a:txBody>
                  <a:tcPr/>
                </a:tc>
              </a:tr>
              <a:tr h="133626">
                <a:tc>
                  <a:txBody>
                    <a:bodyPr/>
                    <a:lstStyle/>
                    <a:p>
                      <a:r>
                        <a:rPr sz="892" b="0">
                          <a:solidFill>
                            <a:srgbClr val="111111"/>
                          </a:solidFill>
                        </a:rPr>
                        <a:t>Where to point the counter</a:t>
                      </a:r>
                    </a:p>
                  </a:txBody>
                  <a:tcPr/>
                </a:tc>
                <a:tc>
                  <a:txBody>
                    <a:bodyPr/>
                    <a:lstStyle/>
                    <a:p>
                      <a:r>
                        <a:rPr sz="892" b="0">
                          <a:solidFill>
                            <a:srgbClr val="111111"/>
                          </a:solidFill>
                        </a:rPr>
                        <a:t>stations</a:t>
                      </a:r>
                    </a:p>
                  </a:txBody>
                  <a:tcPr/>
                </a:tc>
                <a:tc>
                  <a:txBody>
                    <a:bodyPr/>
                    <a:lstStyle/>
                    <a:p>
                      <a:r>
                        <a:rPr sz="892" b="0">
                          <a:solidFill>
                            <a:srgbClr val="111111"/>
                          </a:solidFill>
                        </a:rPr>
                        <a:t>9</a:t>
                      </a:r>
                    </a:p>
                  </a:txBody>
                  <a:tcPr/>
                </a:tc>
              </a:tr>
              <a:tr h="133626">
                <a:tc>
                  <a:txBody>
                    <a:bodyPr/>
                    <a:lstStyle/>
                    <a:p>
                      <a:r>
                        <a:rPr sz="892" b="0">
                          <a:solidFill>
                            <a:srgbClr val="111111"/>
                          </a:solidFill>
                        </a:rPr>
                        <a:t>Where to point the counter</a:t>
                      </a:r>
                    </a:p>
                  </a:txBody>
                  <a:tcPr/>
                </a:tc>
                <a:tc>
                  <a:txBody>
                    <a:bodyPr/>
                    <a:lstStyle/>
                    <a:p>
                      <a:r>
                        <a:rPr sz="892" b="0">
                          <a:solidFill>
                            <a:srgbClr val="111111"/>
                          </a:solidFill>
                        </a:rPr>
                        <a:t>witness</a:t>
                      </a:r>
                    </a:p>
                  </a:txBody>
                  <a:tcPr/>
                </a:tc>
                <a:tc>
                  <a:txBody>
                    <a:bodyPr/>
                    <a:lstStyle/>
                    <a:p>
                      <a:r>
                        <a:rPr sz="892" b="0">
                          <a:solidFill>
                            <a:srgbClr val="111111"/>
                          </a:solidFill>
                        </a:rPr>
                        <a:t>90°, 150° (135 h)</a:t>
                      </a:r>
                    </a:p>
                  </a:txBody>
                  <a:tcPr/>
                </a:tc>
              </a:tr>
              <a:tr h="133626">
                <a:tc>
                  <a:txBody>
                    <a:bodyPr/>
                    <a:lstStyle/>
                    <a:p>
                      <a:r>
                        <a:rPr sz="892" b="0">
                          <a:solidFill>
                            <a:srgbClr val="111111"/>
                          </a:solidFill>
                        </a:rPr>
                        <a:t>What shape to cut the aperture</a:t>
                      </a:r>
                    </a:p>
                  </a:txBody>
                  <a:tcPr/>
                </a:tc>
                <a:tc>
                  <a:txBody>
                    <a:bodyPr/>
                    <a:lstStyle/>
                    <a:p>
                      <a:r>
                        <a:rPr sz="892" b="0">
                          <a:solidFill>
                            <a:srgbClr val="111111"/>
                          </a:solidFill>
                        </a:rPr>
                        <a:t>beam rate (alphas/s)</a:t>
                      </a:r>
                    </a:p>
                  </a:txBody>
                  <a:tcPr/>
                </a:tc>
                <a:tc>
                  <a:txBody>
                    <a:bodyPr/>
                    <a:lstStyle/>
                    <a:p>
                      <a:r>
                        <a:rPr sz="892" b="0">
                          <a:solidFill>
                            <a:srgbClr val="111111"/>
                          </a:solidFill>
                        </a:rPr>
                        <a:t>2e+05</a:t>
                      </a:r>
                    </a:p>
                  </a:txBody>
                  <a:tcPr/>
                </a:tc>
              </a:tr>
              <a:tr h="133626">
                <a:tc>
                  <a:txBody>
                    <a:bodyPr/>
                    <a:lstStyle/>
                    <a:p>
                      <a:r>
                        <a:rPr sz="892" b="0">
                          <a:solidFill>
                            <a:srgbClr val="111111"/>
                          </a:solidFill>
                        </a:rPr>
                        <a:t>What shape to cut the aperture</a:t>
                      </a:r>
                    </a:p>
                  </a:txBody>
                  <a:tcPr/>
                </a:tc>
                <a:tc>
                  <a:txBody>
                    <a:bodyPr/>
                    <a:lstStyle/>
                    <a:p>
                      <a:r>
                        <a:rPr sz="892" b="0">
                          <a:solidFill>
                            <a:srgbClr val="111111"/>
                          </a:solidFill>
                        </a:rPr>
                        <a:t>rate cap (counts/s)</a:t>
                      </a:r>
                    </a:p>
                  </a:txBody>
                  <a:tcPr/>
                </a:tc>
                <a:tc>
                  <a:txBody>
                    <a:bodyPr/>
                    <a:lstStyle/>
                    <a:p>
                      <a:r>
                        <a:rPr sz="892" b="0">
                          <a:solidFill>
                            <a:srgbClr val="111111"/>
                          </a:solidFill>
                        </a:rPr>
                        <a:t>1.5</a:t>
                      </a:r>
                    </a:p>
                  </a:txBody>
                  <a:tcPr/>
                </a:tc>
              </a:tr>
              <a:tr h="133626">
                <a:tc>
                  <a:txBody>
                    <a:bodyPr/>
                    <a:lstStyle/>
                    <a:p>
                      <a:r>
                        <a:rPr sz="892" b="0">
                          <a:solidFill>
                            <a:srgbClr val="111111"/>
                          </a:solidFill>
                        </a:rPr>
                        <a:t>What shape to cut the aperture</a:t>
                      </a:r>
                    </a:p>
                  </a:txBody>
                  <a:tcPr/>
                </a:tc>
                <a:tc>
                  <a:txBody>
                    <a:bodyPr/>
                    <a:lstStyle/>
                    <a:p>
                      <a:r>
                        <a:rPr sz="892" b="0">
                          <a:solidFill>
                            <a:srgbClr val="111111"/>
                          </a:solidFill>
                        </a:rPr>
                        <a:t>widest aperture (sr)</a:t>
                      </a:r>
                    </a:p>
                  </a:txBody>
                  <a:tcPr/>
                </a:tc>
                <a:tc>
                  <a:txBody>
                    <a:bodyPr/>
                    <a:lstStyle/>
                    <a:p>
                      <a:r>
                        <a:rPr sz="892" b="0">
                          <a:solidFill>
                            <a:srgbClr val="111111"/>
                          </a:solidFill>
                        </a:rPr>
                        <a:t>0.2</a:t>
                      </a:r>
                    </a:p>
                  </a:txBody>
                  <a:tcPr/>
                </a:tc>
              </a:tr>
              <a:tr h="133626">
                <a:tc>
                  <a:txBody>
                    <a:bodyPr/>
                    <a:lstStyle/>
                    <a:p>
                      <a:r>
                        <a:rPr sz="892" b="0">
                          <a:solidFill>
                            <a:srgbClr val="111111"/>
                          </a:solidFill>
                        </a:rPr>
                        <a:t>How long at each</a:t>
                      </a:r>
                    </a:p>
                  </a:txBody>
                  <a:tcPr/>
                </a:tc>
                <a:tc>
                  <a:txBody>
                    <a:bodyPr/>
                    <a:lstStyle/>
                    <a:p>
                      <a:r>
                        <a:rPr sz="892" b="0">
                          <a:solidFill>
                            <a:srgbClr val="111111"/>
                          </a:solidFill>
                        </a:rPr>
                        <a:t>hours at 150°</a:t>
                      </a:r>
                    </a:p>
                  </a:txBody>
                  <a:tcPr/>
                </a:tc>
                <a:tc>
                  <a:txBody>
                    <a:bodyPr/>
                    <a:lstStyle/>
                    <a:p>
                      <a:r>
                        <a:rPr sz="892" b="0">
                          <a:solidFill>
                            <a:srgbClr val="111111"/>
                          </a:solidFill>
                        </a:rPr>
                        <a:t>110</a:t>
                      </a:r>
                    </a:p>
                  </a:txBody>
                  <a:tcPr/>
                </a:tc>
              </a:tr>
              <a:tr h="133626">
                <a:tc>
                  <a:txBody>
                    <a:bodyPr/>
                    <a:lstStyle/>
                    <a:p>
                      <a:r>
                        <a:rPr sz="892" b="0">
                          <a:solidFill>
                            <a:srgbClr val="111111"/>
                          </a:solidFill>
                        </a:rPr>
                        <a:t>How long at each</a:t>
                      </a:r>
                    </a:p>
                  </a:txBody>
                  <a:tcPr/>
                </a:tc>
                <a:tc>
                  <a:txBody>
                    <a:bodyPr/>
                    <a:lstStyle/>
                    <a:p>
                      <a:r>
                        <a:rPr sz="892" b="0">
                          <a:solidFill>
                            <a:srgbClr val="111111"/>
                          </a:solidFill>
                        </a:rPr>
                        <a:t>seed</a:t>
                      </a:r>
                    </a:p>
                  </a:txBody>
                  <a:tcPr/>
                </a:tc>
                <a:tc>
                  <a:txBody>
                    <a:bodyPr/>
                    <a:lstStyle/>
                    <a:p>
                      <a:r>
                        <a:rPr sz="892" b="0">
                          <a:solidFill>
                            <a:srgbClr val="111111"/>
                          </a:solidFill>
                        </a:rPr>
                        <a:t>1911</a:t>
                      </a:r>
                    </a:p>
                  </a:txBody>
                  <a:tcPr/>
                </a:tc>
              </a:tr>
              <a:tr h="133626">
                <a:tc>
                  <a:txBody>
                    <a:bodyPr/>
                    <a:lstStyle/>
                    <a:p>
                      <a:r>
                        <a:rPr sz="892" b="0">
                          <a:solidFill>
                            <a:srgbClr val="111111"/>
                          </a:solidFill>
                        </a:rPr>
                        <a:t>How long at each</a:t>
                      </a:r>
                    </a:p>
                  </a:txBody>
                  <a:tcPr/>
                </a:tc>
                <a:tc>
                  <a:txBody>
                    <a:bodyPr/>
                    <a:lstStyle/>
                    <a:p>
                      <a:r>
                        <a:rPr sz="892" b="0">
                          <a:solidFill>
                            <a:srgbClr val="111111"/>
                          </a:solidFill>
                        </a:rPr>
                        <a:t>total hours</a:t>
                      </a:r>
                    </a:p>
                  </a:txBody>
                  <a:tcPr/>
                </a:tc>
                <a:tc>
                  <a:txBody>
                    <a:bodyPr/>
                    <a:lstStyle/>
                    <a:p>
                      <a:r>
                        <a:rPr sz="892" b="0">
                          <a:solidFill>
                            <a:srgbClr val="111111"/>
                          </a:solidFill>
                        </a:rPr>
                        <a:t>200</a:t>
                      </a:r>
                    </a:p>
                  </a:txBody>
                  <a:tcPr/>
                </a:tc>
              </a:tr>
              <a:tr h="133626">
                <a:tc>
                  <a:txBody>
                    <a:bodyPr/>
                    <a:lstStyle/>
                    <a:p>
                      <a:r>
                        <a:rPr sz="892" b="0">
                          <a:solidFill>
                            <a:srgbClr val="111111"/>
                          </a:solidFill>
                        </a:rPr>
                        <a:t>Reading the bound off the counts</a:t>
                      </a:r>
                    </a:p>
                  </a:txBody>
                  <a:tcPr/>
                </a:tc>
                <a:tc>
                  <a:txBody>
                    <a:bodyPr/>
                    <a:lstStyle/>
                    <a:p>
                      <a:r>
                        <a:rPr sz="892" b="0">
                          <a:solidFill>
                            <a:srgbClr val="111111"/>
                          </a:solidFill>
                        </a:rPr>
                        <a:t>drop at 95% one-sided</a:t>
                      </a:r>
                    </a:p>
                  </a:txBody>
                  <a:tcPr/>
                </a:tc>
                <a:tc>
                  <a:txBody>
                    <a:bodyPr/>
                    <a:lstStyle/>
                    <a:p>
                      <a:r>
                        <a:rPr sz="892" b="0">
                          <a:solidFill>
                            <a:srgbClr val="111111"/>
                          </a:solidFill>
                        </a:rPr>
                        <a:t>1.921</a:t>
                      </a:r>
                    </a:p>
                  </a:txBody>
                  <a:tcPr/>
                </a:tc>
              </a:tr>
              <a:tr h="133626">
                <a:tc>
                  <a:txBody>
                    <a:bodyPr/>
                    <a:lstStyle/>
                    <a:p>
                      <a:r>
                        <a:rPr sz="892" b="0">
                          <a:solidFill>
                            <a:srgbClr val="111111"/>
                          </a:solidFill>
                        </a:rPr>
                        <a:t>Reading the bound off the counts</a:t>
                      </a:r>
                    </a:p>
                  </a:txBody>
                  <a:tcPr/>
                </a:tc>
                <a:tc>
                  <a:txBody>
                    <a:bodyPr/>
                    <a:lstStyle/>
                    <a:p>
                      <a:r>
                        <a:rPr sz="892" b="0">
                          <a:solidFill>
                            <a:srgbClr val="111111"/>
                          </a:solidFill>
                        </a:rPr>
                        <a:t>grid</a:t>
                      </a:r>
                    </a:p>
                  </a:txBody>
                  <a:tcPr/>
                </a:tc>
                <a:tc>
                  <a:txBody>
                    <a:bodyPr/>
                    <a:lstStyle/>
                    <a:p>
                      <a:r>
                        <a:rPr sz="892" b="0">
                          <a:solidFill>
                            <a:srgbClr val="111111"/>
                          </a:solidFill>
                        </a:rPr>
                        <a:t>41 points over lam in [-4, 4]</a:t>
                      </a:r>
                    </a:p>
                  </a:txBody>
                  <a:tcPr/>
                </a:tc>
              </a:tr>
              <a:tr h="133626">
                <a:tc>
                  <a:txBody>
                    <a:bodyPr/>
                    <a:lstStyle/>
                    <a:p>
                      <a:r>
                        <a:rPr sz="892" b="0">
                          <a:solidFill>
                            <a:srgbClr val="111111"/>
                          </a:solidFill>
                        </a:rPr>
                        <a:t>Reading the bound off the counts</a:t>
                      </a:r>
                    </a:p>
                  </a:txBody>
                  <a:tcPr/>
                </a:tc>
                <a:tc>
                  <a:txBody>
                    <a:bodyPr/>
                    <a:lstStyle/>
                    <a:p>
                      <a:r>
                        <a:rPr sz="892" b="0">
                          <a:solidFill>
                            <a:srgbClr val="111111"/>
                          </a:solidFill>
                        </a:rPr>
                        <a:t>nuisance parameters</a:t>
                      </a:r>
                    </a:p>
                  </a:txBody>
                  <a:tcPr/>
                </a:tc>
                <a:tc>
                  <a:txBody>
                    <a:bodyPr/>
                    <a:lstStyle/>
                    <a:p>
                      <a:r>
                        <a:rPr sz="892" b="0">
                          <a:solidFill>
                            <a:srgbClr val="111111"/>
                          </a:solidFill>
                        </a:rPr>
                        <a:t>log_a, log_c, log_w, log_b</a:t>
                      </a:r>
                    </a:p>
                  </a:txBody>
                  <a:tcPr/>
                </a:tc>
              </a:tr>
              <a:tr h="133628">
                <a:tc>
                  <a:txBody>
                    <a:bodyPr/>
                    <a:lstStyle/>
                    <a:p>
                      <a:r>
                        <a:rPr sz="892" b="0">
                          <a:solidFill>
                            <a:srgbClr val="111111"/>
                          </a:solidFill>
                        </a:rPr>
                        <a:t>Reading the bound off the counts</a:t>
                      </a:r>
                    </a:p>
                  </a:txBody>
                  <a:tcPr/>
                </a:tc>
                <a:tc>
                  <a:txBody>
                    <a:bodyPr/>
                    <a:lstStyle/>
                    <a:p>
                      <a:r>
                        <a:rPr sz="892" b="0">
                          <a:solidFill>
                            <a:srgbClr val="111111"/>
                          </a:solidFill>
                        </a:rPr>
                        <a:t>profiled parameter</a:t>
                      </a:r>
                    </a:p>
                  </a:txBody>
                  <a:tcPr/>
                </a:tc>
                <a:tc>
                  <a:txBody>
                    <a:bodyPr/>
                    <a:lstStyle/>
                    <a:p>
                      <a:r>
                        <a:rPr sz="892" b="0">
                          <a:solidFill>
                            <a:srgbClr val="111111"/>
                          </a:solidFill>
                        </a:rPr>
                        <a:t>lam</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a:t>
            </a:r>
          </a:p>
        </p:txBody>
      </p:sp>
      <p:sp>
        <p:nvSpPr>
          <p:cNvPr id="3" name="TextBox 2"/>
          <p:cNvSpPr txBox="1"/>
          <p:nvPr/>
        </p:nvSpPr>
        <p:spPr>
          <a:xfrm>
            <a:off x="812800" y="914400"/>
            <a:ext cx="10464800" cy="889000"/>
          </a:xfrm>
          <a:prstGeom prst="rect">
            <a:avLst/>
          </a:prstGeom>
          <a:noFill/>
        </p:spPr>
        <p:txBody>
          <a:bodyPr wrap="square">
            <a:spAutoFit/>
          </a:bodyPr>
          <a:lstStyle/>
          <a:p>
            <a:r>
              <a:rPr sz="892" b="0">
                <a:solidFill>
                  <a:srgbClr val="555555"/>
                </a:solidFill>
              </a:rPr>
              <a:t>UPPER LIMIT ON THE RADIUS OF THE POSITIVE CHARGE OF GOLD</a:t>
            </a:r>
          </a:p>
          <a:p>
            <a:r>
              <a:rPr sz="1520" b="1">
                <a:solidFill>
                  <a:srgbClr val="1A1A1A"/>
                </a:solidFill>
              </a:rPr>
              <a:t>33.5 fm</a:t>
            </a:r>
          </a:p>
          <a:p>
            <a:r>
              <a:rPr sz="892" b="0">
                <a:solidFill>
                  <a:srgbClr val="555555"/>
                </a:solidFill>
              </a:rPr>
              <a:t>[0, 33] (95% WALD)</a:t>
            </a:r>
          </a:p>
        </p:txBody>
      </p:sp>
      <p:sp>
        <p:nvSpPr>
          <p:cNvPr id="4" name="TextBox 3"/>
          <p:cNvSpPr txBox="1"/>
          <p:nvPr/>
        </p:nvSpPr>
        <p:spPr>
          <a:xfrm>
            <a:off x="812800" y="1955800"/>
            <a:ext cx="10566400" cy="508000"/>
          </a:xfrm>
          <a:prstGeom prst="rect">
            <a:avLst/>
          </a:prstGeom>
          <a:noFill/>
        </p:spPr>
        <p:txBody>
          <a:bodyPr wrap="square">
            <a:spAutoFit/>
          </a:bodyPr>
          <a:lstStyle/>
          <a:p>
            <a:r>
              <a:rPr sz="1050" b="0">
                <a:solidFill>
                  <a:srgbClr val="111111"/>
                </a:solidFill>
              </a:rPr>
              <a:t>Addressing the target comparison identified in the introduction, the analysis yields an empirical bound on the charge dimension following the design specified in the methods. The upper limit on the radius of the positive charge of gold is 33.5 fm (95% WALD 0.0 to 33.5 fm). Table 3 reports the estimated quantities. Figure 1 displays the estimated quantities with their intervals.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pic>
        <p:nvPicPr>
          <p:cNvPr id="3" name="Picture 2" descr="image.png"/>
          <p:cNvPicPr>
            <a:picLocks noChangeAspect="1"/>
          </p:cNvPicPr>
          <p:nvPr/>
        </p:nvPicPr>
        <p:blipFill>
          <a:blip r:embed="rId2"/>
          <a:stretch>
            <a:fillRect/>
          </a:stretch>
        </p:blipFill>
        <p:spPr>
          <a:xfrm>
            <a:off x="812800" y="914400"/>
            <a:ext cx="9122190" cy="5130800"/>
          </a:xfrm>
          <a:prstGeom prst="rect">
            <a:avLst/>
          </a:prstGeom>
        </p:spPr>
      </p:pic>
      <p:sp>
        <p:nvSpPr>
          <p:cNvPr id="4" name="TextBox 3"/>
          <p:cNvSpPr txBox="1"/>
          <p:nvPr/>
        </p:nvSpPr>
        <p:spPr>
          <a:xfrm>
            <a:off x="812800" y="6126480"/>
            <a:ext cx="10566400" cy="254000"/>
          </a:xfrm>
          <a:prstGeom prst="rect">
            <a:avLst/>
          </a:prstGeom>
          <a:noFill/>
        </p:spPr>
        <p:txBody>
          <a:bodyPr wrap="square">
            <a:spAutoFit/>
          </a:bodyPr>
          <a:lstStyle/>
          <a:p>
            <a:r>
              <a:rPr sz="892" b="0">
                <a:solidFill>
                  <a:srgbClr val="555555"/>
                </a:solidFill>
              </a:rPr>
              <a:t>Figure 1. Estimated quantities with their intervals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graphicFrame>
        <p:nvGraphicFramePr>
          <p:cNvPr id="3" name="Table 2"/>
          <p:cNvGraphicFramePr>
            <a:graphicFrameLocks noGrp="1"/>
          </p:cNvGraphicFramePr>
          <p:nvPr/>
        </p:nvGraphicFramePr>
        <p:xfrm>
          <a:off x="812800" y="914400"/>
          <a:ext cx="10566400" cy="609600"/>
        </p:xfrm>
        <a:graphic>
          <a:graphicData uri="http://schemas.openxmlformats.org/drawingml/2006/table">
            <a:tbl>
              <a:tblPr firstRow="1" bandRow="1">
                <a:tableStyleId>{5C22544A-7EE6-4342-B048-85BDC9FD1C3A}</a:tableStyleId>
              </a:tblPr>
              <a:tblGrid>
                <a:gridCol w="1761066"/>
                <a:gridCol w="1761066"/>
                <a:gridCol w="1761066"/>
                <a:gridCol w="1761066"/>
                <a:gridCol w="1761066"/>
                <a:gridCol w="1761070"/>
              </a:tblGrid>
              <a:tr h="304800">
                <a:tc>
                  <a:txBody>
                    <a:bodyPr/>
                    <a:lstStyle/>
                    <a:p>
                      <a:r>
                        <a:rPr sz="892" b="1">
                          <a:solidFill>
                            <a:srgbClr val="111111"/>
                          </a:solidFill>
                        </a:rPr>
                        <a:t>Quantity</a:t>
                      </a:r>
                    </a:p>
                  </a:txBody>
                  <a:tcPr/>
                </a:tc>
                <a:tc>
                  <a:txBody>
                    <a:bodyPr/>
                    <a:lstStyle/>
                    <a:p>
                      <a:r>
                        <a:rPr sz="892" b="1">
                          <a:solidFill>
                            <a:srgbClr val="111111"/>
                          </a:solidFill>
                        </a:rPr>
                        <a:t>Estimate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c>
                  <a:txBody>
                    <a:bodyPr/>
                    <a:lstStyle/>
                    <a:p>
                      <a:r>
                        <a:rPr sz="892" b="1">
                          <a:solidFill>
                            <a:srgbClr val="111111"/>
                          </a:solidFill>
                        </a:rPr>
                        <a:t>Threshold</a:t>
                      </a:r>
                    </a:p>
                  </a:txBody>
                  <a:tcPr/>
                </a:tc>
                <a:tc>
                  <a:txBody>
                    <a:bodyPr/>
                    <a:lstStyle/>
                    <a:p>
                      <a:r>
                        <a:rPr sz="892" b="1">
                          <a:solidFill>
                            <a:srgbClr val="111111"/>
                          </a:solidFill>
                        </a:rPr>
                        <a:t>Relative to threshold</a:t>
                      </a:r>
                    </a:p>
                  </a:txBody>
                  <a:tcPr/>
                </a:tc>
              </a:tr>
              <a:tr h="304800">
                <a:tc>
                  <a:txBody>
                    <a:bodyPr/>
                    <a:lstStyle/>
                    <a:p>
                      <a:r>
                        <a:rPr sz="892" b="0">
                          <a:solidFill>
                            <a:srgbClr val="111111"/>
                          </a:solidFill>
                        </a:rPr>
                        <a:t>Upper limit on the radius of the positive charge of gold</a:t>
                      </a:r>
                    </a:p>
                  </a:txBody>
                  <a:tcPr/>
                </a:tc>
                <a:tc>
                  <a:txBody>
                    <a:bodyPr/>
                    <a:lstStyle/>
                    <a:p>
                      <a:r>
                        <a:rPr sz="892" b="0">
                          <a:solidFill>
                            <a:srgbClr val="111111"/>
                          </a:solidFill>
                        </a:rPr>
                        <a:t>33.5</a:t>
                      </a:r>
                    </a:p>
                  </a:txBody>
                  <a:tcPr/>
                </a:tc>
                <a:tc>
                  <a:txBody>
                    <a:bodyPr/>
                    <a:lstStyle/>
                    <a:p>
                      <a:r>
                        <a:rPr sz="892" b="0">
                          <a:solidFill>
                            <a:srgbClr val="111111"/>
                          </a:solidFill>
                        </a:rPr>
                        <a:t>fm</a:t>
                      </a:r>
                    </a:p>
                  </a:txBody>
                  <a:tcPr/>
                </a:tc>
                <a:tc>
                  <a:txBody>
                    <a:bodyPr/>
                    <a:lstStyle/>
                    <a:p>
                      <a:r>
                        <a:rPr sz="892" b="0">
                          <a:solidFill>
                            <a:srgbClr val="111111"/>
                          </a:solidFill>
                        </a:rPr>
                        <a:t>0.0 to 33.5 (95% WALD)</a:t>
                      </a:r>
                    </a:p>
                  </a:txBody>
                  <a:tcPr/>
                </a:tc>
                <a:tc>
                  <a:txBody>
                    <a:bodyPr/>
                    <a:lstStyle/>
                    <a:p>
                      <a:r>
                        <a:rPr sz="892" b="0">
                          <a:solidFill>
                            <a:srgbClr val="111111"/>
                          </a:solidFill>
                        </a:rPr>
                        <a:t>135000.0</a:t>
                      </a:r>
                    </a:p>
                  </a:txBody>
                  <a:tcPr/>
                </a:tc>
                <a:tc>
                  <a:txBody>
                    <a:bodyPr/>
                    <a:lstStyle/>
                    <a:p>
                      <a:r>
                        <a:rPr sz="892" b="0">
                          <a:solidFill>
                            <a:srgbClr val="111111"/>
                          </a:solidFill>
                        </a:rPr>
                        <a:t>below threshold</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4. What the run showed</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A1A1A"/>
                </a:solidFill>
              </a:rPr>
              <a:t>Written by the analyst after seeing the output, and reproduced unchanged. Nothing in this section is generated.</a:t>
            </a:r>
          </a:p>
        </p:txBody>
      </p:sp>
      <p:sp>
        <p:nvSpPr>
          <p:cNvPr id="4" name="TextBox 3"/>
          <p:cNvSpPr txBox="1"/>
          <p:nvPr/>
        </p:nvSpPr>
        <p:spPr>
          <a:xfrm>
            <a:off x="812800" y="1244600"/>
            <a:ext cx="10566400" cy="508000"/>
          </a:xfrm>
          <a:prstGeom prst="rect">
            <a:avLst/>
          </a:prstGeom>
          <a:noFill/>
        </p:spPr>
        <p:txBody>
          <a:bodyPr wrap="square">
            <a:spAutoFit/>
          </a:bodyPr>
          <a:lstStyle/>
          <a:p>
            <a:r>
              <a:rPr sz="1050" b="0">
                <a:solidFill>
                  <a:srgbClr val="111111"/>
                </a:solidFill>
              </a:rPr>
              <a:t>At 150 degrees the counter recorded 94,117 particles where a diffuse atom predicts 119 — a Poisson excess of 306 standard errors. There is no version of this that is a fluctuation.</a:t>
            </a:r>
          </a:p>
        </p:txBody>
      </p:sp>
      <p:sp>
        <p:nvSpPr>
          <p:cNvPr id="5" name="TextBox 4"/>
          <p:cNvSpPr txBox="1"/>
          <p:nvPr/>
        </p:nvSpPr>
        <p:spPr>
          <a:xfrm>
            <a:off x="812800" y="1574800"/>
            <a:ext cx="10566400" cy="508000"/>
          </a:xfrm>
          <a:prstGeom prst="rect">
            <a:avLst/>
          </a:prstGeom>
          <a:noFill/>
        </p:spPr>
        <p:txBody>
          <a:bodyPr wrap="square">
            <a:spAutoFit/>
          </a:bodyPr>
          <a:lstStyle/>
          <a:p>
            <a:r>
              <a:rPr sz="1050" b="0">
                <a:solidFill>
                  <a:srgbClr val="111111"/>
                </a:solidFill>
              </a:rPr>
              <a:t>The hours went where the argument was weakest rather than where the information was densest, and that is what the bound is made of. Dropping the 150 degree witness and keeping every other station loses most of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5. Model checking</a:t>
            </a:r>
          </a:p>
        </p:txBody>
      </p:sp>
      <p:sp>
        <p:nvSpPr>
          <p:cNvPr id="3" name="TextBox 2"/>
          <p:cNvSpPr txBox="1"/>
          <p:nvPr/>
        </p:nvSpPr>
        <p:spPr>
          <a:xfrm>
            <a:off x="812800" y="914400"/>
            <a:ext cx="2540000" cy="889000"/>
          </a:xfrm>
          <a:prstGeom prst="rect">
            <a:avLst/>
          </a:prstGeom>
          <a:noFill/>
        </p:spPr>
        <p:txBody>
          <a:bodyPr wrap="square">
            <a:spAutoFit/>
          </a:bodyPr>
          <a:lstStyle/>
          <a:p>
            <a:r>
              <a:rPr sz="892" b="0">
                <a:solidFill>
                  <a:srgbClr val="555555"/>
                </a:solidFill>
              </a:rPr>
              <a:t>RADIUS AT WHICH THE PROFILE LIKELIHOOD BOTTOMS</a:t>
            </a:r>
          </a:p>
          <a:p>
            <a:r>
              <a:rPr sz="1520" b="1">
                <a:solidFill>
                  <a:srgbClr val="1A1A1A"/>
                </a:solidFill>
              </a:rPr>
              <a:t>32.3 fm</a:t>
            </a:r>
          </a:p>
        </p:txBody>
      </p:sp>
      <p:sp>
        <p:nvSpPr>
          <p:cNvPr id="4" name="TextBox 3"/>
          <p:cNvSpPr txBox="1"/>
          <p:nvPr/>
        </p:nvSpPr>
        <p:spPr>
          <a:xfrm>
            <a:off x="3454400" y="914400"/>
            <a:ext cx="2540000" cy="889000"/>
          </a:xfrm>
          <a:prstGeom prst="rect">
            <a:avLst/>
          </a:prstGeom>
          <a:noFill/>
        </p:spPr>
        <p:txBody>
          <a:bodyPr wrap="square">
            <a:spAutoFit/>
          </a:bodyPr>
          <a:lstStyle/>
          <a:p>
            <a:r>
              <a:rPr sz="892" b="0">
                <a:solidFill>
                  <a:srgbClr val="555555"/>
                </a:solidFill>
              </a:rPr>
              <a:t>RADIUS THE BEAM ENERGY ALONE COULD NEVER RESOLVE PAST</a:t>
            </a:r>
          </a:p>
          <a:p>
            <a:r>
              <a:rPr sz="1520" b="1">
                <a:solidFill>
                  <a:srgbClr val="1A1A1A"/>
                </a:solidFill>
              </a:rPr>
              <a:t>29.6 fm</a:t>
            </a:r>
          </a:p>
        </p:txBody>
      </p:sp>
      <p:sp>
        <p:nvSpPr>
          <p:cNvPr id="5" name="TextBox 4"/>
          <p:cNvSpPr txBox="1"/>
          <p:nvPr/>
        </p:nvSpPr>
        <p:spPr>
          <a:xfrm>
            <a:off x="6096000" y="914400"/>
            <a:ext cx="2540000" cy="889000"/>
          </a:xfrm>
          <a:prstGeom prst="rect">
            <a:avLst/>
          </a:prstGeom>
          <a:noFill/>
        </p:spPr>
        <p:txBody>
          <a:bodyPr wrap="square">
            <a:spAutoFit/>
          </a:bodyPr>
          <a:lstStyle/>
          <a:p>
            <a:r>
              <a:rPr sz="892" b="0">
                <a:solidFill>
                  <a:srgbClr val="555555"/>
                </a:solidFill>
              </a:rPr>
              <a:t>COUNTS AT 150 DEGREES, FOIL IN</a:t>
            </a:r>
          </a:p>
          <a:p>
            <a:r>
              <a:rPr sz="1520" b="1">
                <a:solidFill>
                  <a:srgbClr val="1A1A1A"/>
                </a:solidFill>
              </a:rPr>
              <a:t>94,117</a:t>
            </a:r>
          </a:p>
        </p:txBody>
      </p:sp>
      <p:sp>
        <p:nvSpPr>
          <p:cNvPr id="6" name="TextBox 5"/>
          <p:cNvSpPr txBox="1"/>
          <p:nvPr/>
        </p:nvSpPr>
        <p:spPr>
          <a:xfrm>
            <a:off x="8737600" y="914400"/>
            <a:ext cx="2540000" cy="889000"/>
          </a:xfrm>
          <a:prstGeom prst="rect">
            <a:avLst/>
          </a:prstGeom>
          <a:noFill/>
        </p:spPr>
        <p:txBody>
          <a:bodyPr wrap="square">
            <a:spAutoFit/>
          </a:bodyPr>
          <a:lstStyle/>
          <a:p>
            <a:r>
              <a:rPr sz="892" b="0">
                <a:solidFill>
                  <a:srgbClr val="555555"/>
                </a:solidFill>
              </a:rPr>
              <a:t>COUNTS A DIFFUSE ATOM PREDICTS AT 150 DEGREES</a:t>
            </a:r>
          </a:p>
          <a:p>
            <a:r>
              <a:rPr sz="1520" b="1">
                <a:solidFill>
                  <a:srgbClr val="1A1A1A"/>
                </a:solidFill>
              </a:rPr>
              <a:t>118.8</a:t>
            </a:r>
          </a:p>
        </p:txBody>
      </p:sp>
      <p:sp>
        <p:nvSpPr>
          <p:cNvPr id="7" name="TextBox 6"/>
          <p:cNvSpPr txBox="1"/>
          <p:nvPr/>
        </p:nvSpPr>
        <p:spPr>
          <a:xfrm>
            <a:off x="812800" y="1955800"/>
            <a:ext cx="10566400" cy="508000"/>
          </a:xfrm>
          <a:prstGeom prst="rect">
            <a:avLst/>
          </a:prstGeom>
          <a:noFill/>
        </p:spPr>
        <p:txBody>
          <a:bodyPr wrap="square">
            <a:spAutoFit/>
          </a:bodyPr>
          <a:lstStyle/>
          <a:p>
            <a:r>
              <a:rPr sz="1050" b="0">
                <a:solidFill>
                  <a:srgbClr val="111111"/>
                </a:solidFill>
              </a:rPr>
              <a:t>Model checks evaluate the fit of the specification rather than the underlying effect itself. A diagnostic check can lower confidence in an estimate, but it can never establish one. The recorded diagnostics for this analysis are presented in Table 4. Across every station, the counts recorded total 466849. At 150 degrees with the foil in, the observed count is 94117. By contrast, the count a diffuse atom predicts at 150 degrees is 118.8. With the foil out, the count at 90 degrees is 11. Regarding the resolution limits, the radius at which the profile likelihood bottoms is 32.3 fm. This sits above the 29.6 fm radius the beam energy alone could never resolve past. These comparisons examine the physical bounds and scattering counts against specific baselines, while the core assumptions identified in the methods remain unexamined by these checks.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5. Model checking (cont.)</a:t>
            </a:r>
          </a:p>
        </p:txBody>
      </p:sp>
      <p:sp>
        <p:nvSpPr>
          <p:cNvPr id="3" name="TextBox 2"/>
          <p:cNvSpPr txBox="1"/>
          <p:nvPr/>
        </p:nvSpPr>
        <p:spPr>
          <a:xfrm>
            <a:off x="812800" y="914400"/>
            <a:ext cx="5181600" cy="889000"/>
          </a:xfrm>
          <a:prstGeom prst="rect">
            <a:avLst/>
          </a:prstGeom>
          <a:noFill/>
        </p:spPr>
        <p:txBody>
          <a:bodyPr wrap="square">
            <a:spAutoFit/>
          </a:bodyPr>
          <a:lstStyle/>
          <a:p>
            <a:r>
              <a:rPr sz="892" b="0">
                <a:solidFill>
                  <a:srgbClr val="555555"/>
                </a:solidFill>
              </a:rPr>
              <a:t>COUNTS AT 90 DEGREES WITH THE FOIL OUT</a:t>
            </a:r>
          </a:p>
          <a:p>
            <a:r>
              <a:rPr sz="1520" b="1">
                <a:solidFill>
                  <a:srgbClr val="1A1A1A"/>
                </a:solidFill>
              </a:rPr>
              <a:t>11</a:t>
            </a:r>
          </a:p>
        </p:txBody>
      </p:sp>
      <p:sp>
        <p:nvSpPr>
          <p:cNvPr id="4" name="TextBox 3"/>
          <p:cNvSpPr txBox="1"/>
          <p:nvPr/>
        </p:nvSpPr>
        <p:spPr>
          <a:xfrm>
            <a:off x="6096000" y="914400"/>
            <a:ext cx="5181600" cy="889000"/>
          </a:xfrm>
          <a:prstGeom prst="rect">
            <a:avLst/>
          </a:prstGeom>
          <a:noFill/>
        </p:spPr>
        <p:txBody>
          <a:bodyPr wrap="square">
            <a:spAutoFit/>
          </a:bodyPr>
          <a:lstStyle/>
          <a:p>
            <a:r>
              <a:rPr sz="892" b="0">
                <a:solidFill>
                  <a:srgbClr val="555555"/>
                </a:solidFill>
              </a:rPr>
              <a:t>COUNTS RECORDED ACROSS EVERY STATION</a:t>
            </a:r>
          </a:p>
          <a:p>
            <a:r>
              <a:rPr sz="1520" b="1">
                <a:solidFill>
                  <a:srgbClr val="1A1A1A"/>
                </a:solidFill>
              </a:rPr>
              <a:t>466,849</a:t>
            </a:r>
          </a:p>
        </p:txBody>
      </p:sp>
      <p:graphicFrame>
        <p:nvGraphicFramePr>
          <p:cNvPr id="5" name="Table 4"/>
          <p:cNvGraphicFramePr>
            <a:graphicFrameLocks noGrp="1"/>
          </p:cNvGraphicFramePr>
          <p:nvPr/>
        </p:nvGraphicFramePr>
        <p:xfrm>
          <a:off x="812800" y="1955800"/>
          <a:ext cx="10566400" cy="21336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Check</a:t>
                      </a:r>
                    </a:p>
                  </a:txBody>
                  <a:tcPr/>
                </a:tc>
                <a:tc>
                  <a:txBody>
                    <a:bodyPr/>
                    <a:lstStyle/>
                    <a:p>
                      <a:r>
                        <a:rPr sz="892" b="1">
                          <a:solidFill>
                            <a:srgbClr val="111111"/>
                          </a:solidFill>
                        </a:rPr>
                        <a:t>Value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r>
              <a:tr h="304800">
                <a:tc>
                  <a:txBody>
                    <a:bodyPr/>
                    <a:lstStyle/>
                    <a:p>
                      <a:r>
                        <a:rPr sz="892" b="0">
                          <a:solidFill>
                            <a:srgbClr val="111111"/>
                          </a:solidFill>
                        </a:rPr>
                        <a:t>Radius at which the profile likelihood bottoms</a:t>
                      </a:r>
                    </a:p>
                  </a:txBody>
                  <a:tcPr/>
                </a:tc>
                <a:tc>
                  <a:txBody>
                    <a:bodyPr/>
                    <a:lstStyle/>
                    <a:p>
                      <a:r>
                        <a:rPr sz="892" b="0">
                          <a:solidFill>
                            <a:srgbClr val="111111"/>
                          </a:solidFill>
                        </a:rPr>
                        <a:t>32.3</a:t>
                      </a:r>
                    </a:p>
                  </a:txBody>
                  <a:tcPr/>
                </a:tc>
                <a:tc>
                  <a:txBody>
                    <a:bodyPr/>
                    <a:lstStyle/>
                    <a:p>
                      <a:r>
                        <a:rPr sz="892" b="0">
                          <a:solidFill>
                            <a:srgbClr val="111111"/>
                          </a:solidFill>
                        </a:rPr>
                        <a:t>fm</a:t>
                      </a:r>
                    </a:p>
                  </a:txBody>
                  <a:tcPr/>
                </a:tc>
                <a:tc>
                  <a:txBody>
                    <a:bodyPr/>
                    <a:lstStyle/>
                    <a:p>
                      <a:r>
                        <a:rPr sz="892" b="0">
                          <a:solidFill>
                            <a:srgbClr val="111111"/>
                          </a:solidFill>
                        </a:rPr>
                        <a:t>—</a:t>
                      </a:r>
                    </a:p>
                  </a:txBody>
                  <a:tcPr/>
                </a:tc>
              </a:tr>
              <a:tr h="304800">
                <a:tc>
                  <a:txBody>
                    <a:bodyPr/>
                    <a:lstStyle/>
                    <a:p>
                      <a:r>
                        <a:rPr sz="892" b="0">
                          <a:solidFill>
                            <a:srgbClr val="111111"/>
                          </a:solidFill>
                        </a:rPr>
                        <a:t>Radius the beam energy alone could never resolve past</a:t>
                      </a:r>
                    </a:p>
                  </a:txBody>
                  <a:tcPr/>
                </a:tc>
                <a:tc>
                  <a:txBody>
                    <a:bodyPr/>
                    <a:lstStyle/>
                    <a:p>
                      <a:r>
                        <a:rPr sz="892" b="0">
                          <a:solidFill>
                            <a:srgbClr val="111111"/>
                          </a:solidFill>
                        </a:rPr>
                        <a:t>29.6</a:t>
                      </a:r>
                    </a:p>
                  </a:txBody>
                  <a:tcPr/>
                </a:tc>
                <a:tc>
                  <a:txBody>
                    <a:bodyPr/>
                    <a:lstStyle/>
                    <a:p>
                      <a:r>
                        <a:rPr sz="892" b="0">
                          <a:solidFill>
                            <a:srgbClr val="111111"/>
                          </a:solidFill>
                        </a:rPr>
                        <a:t>fm</a:t>
                      </a:r>
                    </a:p>
                  </a:txBody>
                  <a:tcPr/>
                </a:tc>
                <a:tc>
                  <a:txBody>
                    <a:bodyPr/>
                    <a:lstStyle/>
                    <a:p>
                      <a:r>
                        <a:rPr sz="892" b="0">
                          <a:solidFill>
                            <a:srgbClr val="111111"/>
                          </a:solidFill>
                        </a:rPr>
                        <a:t>—</a:t>
                      </a:r>
                    </a:p>
                  </a:txBody>
                  <a:tcPr/>
                </a:tc>
              </a:tr>
              <a:tr h="304800">
                <a:tc>
                  <a:txBody>
                    <a:bodyPr/>
                    <a:lstStyle/>
                    <a:p>
                      <a:r>
                        <a:rPr sz="892" b="0">
                          <a:solidFill>
                            <a:srgbClr val="111111"/>
                          </a:solidFill>
                        </a:rPr>
                        <a:t>Counts at 150 degrees, foil in</a:t>
                      </a:r>
                    </a:p>
                  </a:txBody>
                  <a:tcPr/>
                </a:tc>
                <a:tc>
                  <a:txBody>
                    <a:bodyPr/>
                    <a:lstStyle/>
                    <a:p>
                      <a:r>
                        <a:rPr sz="892" b="0">
                          <a:solidFill>
                            <a:srgbClr val="111111"/>
                          </a:solidFill>
                        </a:rPr>
                        <a:t>94117</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Counts a diffuse atom predicts at 150 degrees</a:t>
                      </a:r>
                    </a:p>
                  </a:txBody>
                  <a:tcPr/>
                </a:tc>
                <a:tc>
                  <a:txBody>
                    <a:bodyPr/>
                    <a:lstStyle/>
                    <a:p>
                      <a:r>
                        <a:rPr sz="892" b="0">
                          <a:solidFill>
                            <a:srgbClr val="111111"/>
                          </a:solidFill>
                        </a:rPr>
                        <a:t>118.8</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Counts at 90 degrees with the foil out</a:t>
                      </a:r>
                    </a:p>
                  </a:txBody>
                  <a:tcPr/>
                </a:tc>
                <a:tc>
                  <a:txBody>
                    <a:bodyPr/>
                    <a:lstStyle/>
                    <a:p>
                      <a:r>
                        <a:rPr sz="892" b="0">
                          <a:solidFill>
                            <a:srgbClr val="111111"/>
                          </a:solidFill>
                        </a:rPr>
                        <a:t>11</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Counts recorded across every station</a:t>
                      </a:r>
                    </a:p>
                  </a:txBody>
                  <a:tcPr/>
                </a:tc>
                <a:tc>
                  <a:txBody>
                    <a:bodyPr/>
                    <a:lstStyle/>
                    <a:p>
                      <a:r>
                        <a:rPr sz="892" b="0">
                          <a:solidFill>
                            <a:srgbClr val="111111"/>
                          </a:solidFill>
                        </a:rPr>
                        <a:t>466849</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6. Discussion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upper limit on the radius of the positive charge of gold settled below the threshold, landing on the favourable side. This result speaks directly to whether the positive charge of a gold atom is concentrated in a centre far smaller than the atom itself. The estimate indicates that the charge is confined within the smaller radius rather than distributed across the atomic volume. The strength of this inference, however, depends on the identification, which was downgraded via profile likelihood on the counts through one forward operation. This downgrade arises because the single-scattering assumption is asserted from the foil thickness rather than measured. In contrast, every other assumption the bound leans on was measured by a station the design bought for that purpose. What the analysis licenses is an empirical bound on the counts obtained under the experimental setup. It does not license treating the scattering interpretation as self-contained without additional verification of the asserted thickness property. The findings remain conditional on 3 unresolved assumptions. The limitations section states what each of these assumptions claims and what would challenge it. Resolving whether the single-scattering premise holds under direct empirical measurement remains the central question raised by this bound.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7. Conclusions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positive charge of a gold atom is concentrated in a centre far smaller than the atom itself. The upper limit on the radius of the positive charge of gold is 33.5 fm (95% WALD 0.0 to 33.5 fm), which settles the outcome below the threshold on the favourable side. The analysis operates under a downgraded identification. Consequently, this result depends on three unresolved assumptions. These are single scattering, that the counter is linear below its rate cap, and that the two atoms differ only in the radius of the positive charge. What each of these assumptions claims is stated in the limitations section. The conclusion holds conditional on these assumptions and not otherwise.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8. Limitations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Identification is downgraded, leaving three unresolved assumptions that are asserted without a direct check. The first is single scattering, which asserts that a wide-angle count is one close encounter, not several. This assumption licenses treating each observed deflection as a single event rather than an accumulation of deflections. It is challenged by a thicker foil, where two encounters would compound. The second assumption is that the counter is linear below its rate cap, asserting that every aperture is opened only as wide as keeps the rate under 1.5 counts per second, where the counter does not miss particles. This licenses the direct comparison of counts across different aperture settings. It is challenged by a station run wide enough to pile up, which would under-report the busiest angles. The third assumption is that the two atoms differ only in the radius of the positive charge. This asserts that a hard centre and a charge spread through the atom are one model at two values of one number, the radius R of the positive charge. This licenses comparing the atomic structures along that single parameter. It is challenged by any difference between the two atoms that is not a matter of extent.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9. Provenance</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812800" y="1320800"/>
          <a:ext cx="10566400" cy="24384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Quantity</a:t>
                      </a:r>
                    </a:p>
                  </a:txBody>
                  <a:tcPr/>
                </a:tc>
                <a:tc>
                  <a:txBody>
                    <a:bodyPr/>
                    <a:lstStyle/>
                    <a:p>
                      <a:r>
                        <a:rPr sz="892" b="1">
                          <a:solidFill>
                            <a:srgbClr val="111111"/>
                          </a:solidFill>
                        </a:rPr>
                        <a:t>Key</a:t>
                      </a:r>
                    </a:p>
                  </a:txBody>
                  <a:tcPr/>
                </a:tc>
                <a:tc>
                  <a:txBody>
                    <a:bodyPr/>
                    <a:lstStyle/>
                    <a:p>
                      <a:r>
                        <a:rPr sz="892" b="1">
                          <a:solidFill>
                            <a:srgbClr val="111111"/>
                          </a:solidFill>
                        </a:rPr>
                        <a:t>Value</a:t>
                      </a:r>
                    </a:p>
                  </a:txBody>
                  <a:tcPr/>
                </a:tc>
                <a:tc>
                  <a:txBody>
                    <a:bodyPr/>
                    <a:lstStyle/>
                    <a:p>
                      <a:r>
                        <a:rPr sz="892" b="1">
                          <a:solidFill>
                            <a:srgbClr val="111111"/>
                          </a:solidFill>
                        </a:rPr>
                        <a:t>Produced by</a:t>
                      </a:r>
                    </a:p>
                  </a:txBody>
                  <a:tcPr/>
                </a:tc>
              </a:tr>
              <a:tr h="304800">
                <a:tc>
                  <a:txBody>
                    <a:bodyPr/>
                    <a:lstStyle/>
                    <a:p>
                      <a:r>
                        <a:rPr sz="892" b="0">
                          <a:solidFill>
                            <a:srgbClr val="111111"/>
                          </a:solidFill>
                        </a:rPr>
                        <a:t>Upper limit on the radius of the positive charge of gold</a:t>
                      </a:r>
                    </a:p>
                  </a:txBody>
                  <a:tcPr/>
                </a:tc>
                <a:tc>
                  <a:txBody>
                    <a:bodyPr/>
                    <a:lstStyle/>
                    <a:p>
                      <a:r>
                        <a:rPr sz="892" b="0">
                          <a:solidFill>
                            <a:srgbClr val="111111"/>
                          </a:solidFill>
                        </a:rPr>
                        <a:t>radius</a:t>
                      </a:r>
                    </a:p>
                  </a:txBody>
                  <a:tcPr/>
                </a:tc>
                <a:tc>
                  <a:txBody>
                    <a:bodyPr/>
                    <a:lstStyle/>
                    <a:p>
                      <a:r>
                        <a:rPr sz="892" b="0">
                          <a:solidFill>
                            <a:srgbClr val="111111"/>
                          </a:solidFill>
                        </a:rPr>
                        <a:t>33.5 fm (95% WALD 0.0 to 33.5 fm)</a:t>
                      </a:r>
                    </a:p>
                  </a:txBody>
                  <a:tcPr/>
                </a:tc>
                <a:tc>
                  <a:txBody>
                    <a:bodyPr/>
                    <a:lstStyle/>
                    <a:p>
                      <a:r>
                        <a:rPr sz="892" b="0">
                          <a:solidFill>
                            <a:srgbClr val="111111"/>
                          </a:solidFill>
                        </a:rPr>
                        <a:t>design.profile_likelihood on lam</a:t>
                      </a:r>
                    </a:p>
                  </a:txBody>
                  <a:tcPr/>
                </a:tc>
              </a:tr>
              <a:tr h="304800">
                <a:tc>
                  <a:txBody>
                    <a:bodyPr/>
                    <a:lstStyle/>
                    <a:p>
                      <a:r>
                        <a:rPr sz="892" b="0">
                          <a:solidFill>
                            <a:srgbClr val="111111"/>
                          </a:solidFill>
                        </a:rPr>
                        <a:t>Radius at which the profile likelihood bottoms</a:t>
                      </a:r>
                    </a:p>
                  </a:txBody>
                  <a:tcPr/>
                </a:tc>
                <a:tc>
                  <a:txBody>
                    <a:bodyPr/>
                    <a:lstStyle/>
                    <a:p>
                      <a:r>
                        <a:rPr sz="892" b="0">
                          <a:solidFill>
                            <a:srgbClr val="111111"/>
                          </a:solidFill>
                        </a:rPr>
                        <a:t>profile_min</a:t>
                      </a:r>
                    </a:p>
                  </a:txBody>
                  <a:tcPr/>
                </a:tc>
                <a:tc>
                  <a:txBody>
                    <a:bodyPr/>
                    <a:lstStyle/>
                    <a:p>
                      <a:r>
                        <a:rPr sz="892" b="0">
                          <a:solidFill>
                            <a:srgbClr val="111111"/>
                          </a:solidFill>
                        </a:rPr>
                        <a:t>32.3 fm</a:t>
                      </a:r>
                    </a:p>
                  </a:txBody>
                  <a:tcPr/>
                </a:tc>
                <a:tc>
                  <a:txBody>
                    <a:bodyPr/>
                    <a:lstStyle/>
                    <a:p>
                      <a:r>
                        <a:rPr sz="892" b="0">
                          <a:solidFill>
                            <a:srgbClr val="111111"/>
                          </a:solidFill>
                        </a:rPr>
                        <a:t>—</a:t>
                      </a:r>
                    </a:p>
                  </a:txBody>
                  <a:tcPr/>
                </a:tc>
              </a:tr>
              <a:tr h="304800">
                <a:tc>
                  <a:txBody>
                    <a:bodyPr/>
                    <a:lstStyle/>
                    <a:p>
                      <a:r>
                        <a:rPr sz="892" b="0">
                          <a:solidFill>
                            <a:srgbClr val="111111"/>
                          </a:solidFill>
                        </a:rPr>
                        <a:t>Radius the beam energy alone could never resolve past</a:t>
                      </a:r>
                    </a:p>
                  </a:txBody>
                  <a:tcPr/>
                </a:tc>
                <a:tc>
                  <a:txBody>
                    <a:bodyPr/>
                    <a:lstStyle/>
                    <a:p>
                      <a:r>
                        <a:rPr sz="892" b="0">
                          <a:solidFill>
                            <a:srgbClr val="111111"/>
                          </a:solidFill>
                        </a:rPr>
                        <a:t>floor</a:t>
                      </a:r>
                    </a:p>
                  </a:txBody>
                  <a:tcPr/>
                </a:tc>
                <a:tc>
                  <a:txBody>
                    <a:bodyPr/>
                    <a:lstStyle/>
                    <a:p>
                      <a:r>
                        <a:rPr sz="892" b="0">
                          <a:solidFill>
                            <a:srgbClr val="111111"/>
                          </a:solidFill>
                        </a:rPr>
                        <a:t>29.6 fm</a:t>
                      </a:r>
                    </a:p>
                  </a:txBody>
                  <a:tcPr/>
                </a:tc>
                <a:tc>
                  <a:txBody>
                    <a:bodyPr/>
                    <a:lstStyle/>
                    <a:p>
                      <a:r>
                        <a:rPr sz="892" b="0">
                          <a:solidFill>
                            <a:srgbClr val="111111"/>
                          </a:solidFill>
                        </a:rPr>
                        <a:t>—</a:t>
                      </a:r>
                    </a:p>
                  </a:txBody>
                  <a:tcPr/>
                </a:tc>
              </a:tr>
              <a:tr h="304800">
                <a:tc>
                  <a:txBody>
                    <a:bodyPr/>
                    <a:lstStyle/>
                    <a:p>
                      <a:r>
                        <a:rPr sz="892" b="0">
                          <a:solidFill>
                            <a:srgbClr val="111111"/>
                          </a:solidFill>
                        </a:rPr>
                        <a:t>Counts at 150 degrees, foil in</a:t>
                      </a:r>
                    </a:p>
                  </a:txBody>
                  <a:tcPr/>
                </a:tc>
                <a:tc>
                  <a:txBody>
                    <a:bodyPr/>
                    <a:lstStyle/>
                    <a:p>
                      <a:r>
                        <a:rPr sz="892" b="0">
                          <a:solidFill>
                            <a:srgbClr val="111111"/>
                          </a:solidFill>
                        </a:rPr>
                        <a:t>witness_counts</a:t>
                      </a:r>
                    </a:p>
                  </a:txBody>
                  <a:tcPr/>
                </a:tc>
                <a:tc>
                  <a:txBody>
                    <a:bodyPr/>
                    <a:lstStyle/>
                    <a:p>
                      <a:r>
                        <a:rPr sz="892" b="0">
                          <a:solidFill>
                            <a:srgbClr val="111111"/>
                          </a:solidFill>
                        </a:rPr>
                        <a:t>94117</a:t>
                      </a:r>
                    </a:p>
                  </a:txBody>
                  <a:tcPr/>
                </a:tc>
                <a:tc>
                  <a:txBody>
                    <a:bodyPr/>
                    <a:lstStyle/>
                    <a:p>
                      <a:r>
                        <a:rPr sz="892" b="0">
                          <a:solidFill>
                            <a:srgbClr val="111111"/>
                          </a:solidFill>
                        </a:rPr>
                        <a:t>—</a:t>
                      </a:r>
                    </a:p>
                  </a:txBody>
                  <a:tcPr/>
                </a:tc>
              </a:tr>
              <a:tr h="304800">
                <a:tc>
                  <a:txBody>
                    <a:bodyPr/>
                    <a:lstStyle/>
                    <a:p>
                      <a:r>
                        <a:rPr sz="892" b="0">
                          <a:solidFill>
                            <a:srgbClr val="111111"/>
                          </a:solidFill>
                        </a:rPr>
                        <a:t>Counts a diffuse atom predicts at 150 degrees</a:t>
                      </a:r>
                    </a:p>
                  </a:txBody>
                  <a:tcPr/>
                </a:tc>
                <a:tc>
                  <a:txBody>
                    <a:bodyPr/>
                    <a:lstStyle/>
                    <a:p>
                      <a:r>
                        <a:rPr sz="892" b="0">
                          <a:solidFill>
                            <a:srgbClr val="111111"/>
                          </a:solidFill>
                        </a:rPr>
                        <a:t>witness_if_diffuse</a:t>
                      </a:r>
                    </a:p>
                  </a:txBody>
                  <a:tcPr/>
                </a:tc>
                <a:tc>
                  <a:txBody>
                    <a:bodyPr/>
                    <a:lstStyle/>
                    <a:p>
                      <a:r>
                        <a:rPr sz="892" b="0">
                          <a:solidFill>
                            <a:srgbClr val="111111"/>
                          </a:solidFill>
                        </a:rPr>
                        <a:t>118.8</a:t>
                      </a:r>
                    </a:p>
                  </a:txBody>
                  <a:tcPr/>
                </a:tc>
                <a:tc>
                  <a:txBody>
                    <a:bodyPr/>
                    <a:lstStyle/>
                    <a:p>
                      <a:r>
                        <a:rPr sz="892" b="0">
                          <a:solidFill>
                            <a:srgbClr val="111111"/>
                          </a:solidFill>
                        </a:rPr>
                        <a:t>—</a:t>
                      </a:r>
                    </a:p>
                  </a:txBody>
                  <a:tcPr/>
                </a:tc>
              </a:tr>
              <a:tr h="304800">
                <a:tc>
                  <a:txBody>
                    <a:bodyPr/>
                    <a:lstStyle/>
                    <a:p>
                      <a:r>
                        <a:rPr sz="892" b="0">
                          <a:solidFill>
                            <a:srgbClr val="111111"/>
                          </a:solidFill>
                        </a:rPr>
                        <a:t>Counts at 90 degrees with the foil out</a:t>
                      </a:r>
                    </a:p>
                  </a:txBody>
                  <a:tcPr/>
                </a:tc>
                <a:tc>
                  <a:txBody>
                    <a:bodyPr/>
                    <a:lstStyle/>
                    <a:p>
                      <a:r>
                        <a:rPr sz="892" b="0">
                          <a:solidFill>
                            <a:srgbClr val="111111"/>
                          </a:solidFill>
                        </a:rPr>
                        <a:t>background_counts</a:t>
                      </a:r>
                    </a:p>
                  </a:txBody>
                  <a:tcPr/>
                </a:tc>
                <a:tc>
                  <a:txBody>
                    <a:bodyPr/>
                    <a:lstStyle/>
                    <a:p>
                      <a:r>
                        <a:rPr sz="892" b="0">
                          <a:solidFill>
                            <a:srgbClr val="111111"/>
                          </a:solidFill>
                        </a:rPr>
                        <a:t>11</a:t>
                      </a:r>
                    </a:p>
                  </a:txBody>
                  <a:tcPr/>
                </a:tc>
                <a:tc>
                  <a:txBody>
                    <a:bodyPr/>
                    <a:lstStyle/>
                    <a:p>
                      <a:r>
                        <a:rPr sz="892" b="0">
                          <a:solidFill>
                            <a:srgbClr val="111111"/>
                          </a:solidFill>
                        </a:rPr>
                        <a:t>—</a:t>
                      </a:r>
                    </a:p>
                  </a:txBody>
                  <a:tcPr/>
                </a:tc>
              </a:tr>
              <a:tr h="304800">
                <a:tc>
                  <a:txBody>
                    <a:bodyPr/>
                    <a:lstStyle/>
                    <a:p>
                      <a:r>
                        <a:rPr sz="892" b="0">
                          <a:solidFill>
                            <a:srgbClr val="111111"/>
                          </a:solidFill>
                        </a:rPr>
                        <a:t>Counts recorded across every station</a:t>
                      </a:r>
                    </a:p>
                  </a:txBody>
                  <a:tcPr/>
                </a:tc>
                <a:tc>
                  <a:txBody>
                    <a:bodyPr/>
                    <a:lstStyle/>
                    <a:p>
                      <a:r>
                        <a:rPr sz="892" b="0">
                          <a:solidFill>
                            <a:srgbClr val="111111"/>
                          </a:solidFill>
                        </a:rPr>
                        <a:t>total_counts</a:t>
                      </a:r>
                    </a:p>
                  </a:txBody>
                  <a:tcPr/>
                </a:tc>
                <a:tc>
                  <a:txBody>
                    <a:bodyPr/>
                    <a:lstStyle/>
                    <a:p>
                      <a:r>
                        <a:rPr sz="892" b="0">
                          <a:solidFill>
                            <a:srgbClr val="111111"/>
                          </a:solidFill>
                        </a:rPr>
                        <a:t>466849</a:t>
                      </a:r>
                    </a:p>
                  </a:txBody>
                  <a:tcPr/>
                </a:tc>
                <a:tc>
                  <a:txBody>
                    <a:bodyPr/>
                    <a:lstStyle/>
                    <a:p>
                      <a:r>
                        <a:rPr sz="892" b="0">
                          <a:solidFill>
                            <a:srgbClr val="111111"/>
                          </a:solidFill>
                        </a:rPr>
                        <a:t>—</a:t>
                      </a:r>
                    </a:p>
                  </a:txBody>
                  <a:tcPr/>
                </a:tc>
              </a:tr>
            </a:tbl>
          </a:graphicData>
        </a:graphic>
      </p:graphicFrame>
      <p:graphicFrame>
        <p:nvGraphicFramePr>
          <p:cNvPr id="5" name="Table 4"/>
          <p:cNvGraphicFramePr>
            <a:graphicFrameLocks noGrp="1"/>
          </p:cNvGraphicFramePr>
          <p:nvPr/>
        </p:nvGraphicFramePr>
        <p:xfrm>
          <a:off x="812800" y="3911600"/>
          <a:ext cx="10566400" cy="2133600"/>
        </p:xfrm>
        <a:graphic>
          <a:graphicData uri="http://schemas.openxmlformats.org/drawingml/2006/table">
            <a:tbl>
              <a:tblPr firstRow="1" bandRow="1">
                <a:tableStyleId>{5C22544A-7EE6-4342-B048-85BDC9FD1C3A}</a:tableStyleId>
              </a:tblPr>
              <a:tblGrid>
                <a:gridCol w="5283200"/>
                <a:gridCol w="5283200"/>
              </a:tblGrid>
              <a:tr h="142240">
                <a:tc>
                  <a:txBody>
                    <a:bodyPr/>
                    <a:lstStyle/>
                    <a:p>
                      <a:r>
                        <a:rPr sz="892" b="1">
                          <a:solidFill>
                            <a:srgbClr val="111111"/>
                          </a:solidFill>
                        </a:rPr>
                        <a:t>Field</a:t>
                      </a:r>
                    </a:p>
                  </a:txBody>
                  <a:tcPr/>
                </a:tc>
                <a:tc>
                  <a:txBody>
                    <a:bodyPr/>
                    <a:lstStyle/>
                    <a:p>
                      <a:r>
                        <a:rPr sz="892" b="1">
                          <a:solidFill>
                            <a:srgbClr val="111111"/>
                          </a:solidFill>
                        </a:rPr>
                        <a:t>Value</a:t>
                      </a:r>
                    </a:p>
                  </a:txBody>
                  <a:tcPr/>
                </a:tc>
              </a:tr>
              <a:tr h="142240">
                <a:tc>
                  <a:txBody>
                    <a:bodyPr/>
                    <a:lstStyle/>
                    <a:p>
                      <a:r>
                        <a:rPr sz="892" b="0">
                          <a:solidFill>
                            <a:srgbClr val="111111"/>
                          </a:solidFill>
                        </a:rPr>
                        <a:t>estimator</a:t>
                      </a:r>
                    </a:p>
                  </a:txBody>
                  <a:tcPr/>
                </a:tc>
                <a:tc>
                  <a:txBody>
                    <a:bodyPr/>
                    <a:lstStyle/>
                    <a:p>
                      <a:r>
                        <a:rPr sz="892" b="0">
                          <a:solidFill>
                            <a:srgbClr val="111111"/>
                          </a:solidFill>
                        </a:rPr>
                        <a:t>profile likelihood on lam, one-sided</a:t>
                      </a:r>
                    </a:p>
                  </a:txBody>
                  <a:tcPr/>
                </a:tc>
              </a:tr>
              <a:tr h="142240">
                <a:tc>
                  <a:txBody>
                    <a:bodyPr/>
                    <a:lstStyle/>
                    <a:p>
                      <a:r>
                        <a:rPr sz="892" b="0">
                          <a:solidFill>
                            <a:srgbClr val="111111"/>
                          </a:solidFill>
                        </a:rPr>
                        <a:t>interval_mass</a:t>
                      </a:r>
                    </a:p>
                  </a:txBody>
                  <a:tcPr/>
                </a:tc>
                <a:tc>
                  <a:txBody>
                    <a:bodyPr/>
                    <a:lstStyle/>
                    <a:p>
                      <a:r>
                        <a:rPr sz="892" b="0">
                          <a:solidFill>
                            <a:srgbClr val="111111"/>
                          </a:solidFill>
                        </a:rPr>
                        <a:t>95%</a:t>
                      </a:r>
                    </a:p>
                  </a:txBody>
                  <a:tcPr/>
                </a:tc>
              </a:tr>
              <a:tr h="142240">
                <a:tc>
                  <a:txBody>
                    <a:bodyPr/>
                    <a:lstStyle/>
                    <a:p>
                      <a:r>
                        <a:rPr sz="892" b="0">
                          <a:solidFill>
                            <a:srgbClr val="111111"/>
                          </a:solidFill>
                        </a:rPr>
                        <a:t>observing_hours</a:t>
                      </a:r>
                    </a:p>
                  </a:txBody>
                  <a:tcPr/>
                </a:tc>
                <a:tc>
                  <a:txBody>
                    <a:bodyPr/>
                    <a:lstStyle/>
                    <a:p>
                      <a:r>
                        <a:rPr sz="892" b="0">
                          <a:solidFill>
                            <a:srgbClr val="111111"/>
                          </a:solidFill>
                        </a:rPr>
                        <a:t>200</a:t>
                      </a:r>
                    </a:p>
                  </a:txBody>
                  <a:tcPr/>
                </a:tc>
              </a:tr>
              <a:tr h="142240">
                <a:tc>
                  <a:txBody>
                    <a:bodyPr/>
                    <a:lstStyle/>
                    <a:p>
                      <a:r>
                        <a:rPr sz="892" b="0">
                          <a:solidFill>
                            <a:srgbClr val="111111"/>
                          </a:solidFill>
                        </a:rPr>
                        <a:t>seed</a:t>
                      </a:r>
                    </a:p>
                  </a:txBody>
                  <a:tcPr/>
                </a:tc>
                <a:tc>
                  <a:txBody>
                    <a:bodyPr/>
                    <a:lstStyle/>
                    <a:p>
                      <a:r>
                        <a:rPr sz="892" b="0">
                          <a:solidFill>
                            <a:srgbClr val="111111"/>
                          </a:solidFill>
                        </a:rPr>
                        <a:t>1911</a:t>
                      </a:r>
                    </a:p>
                  </a:txBody>
                  <a:tcPr/>
                </a:tc>
              </a:tr>
              <a:tr h="142240">
                <a:tc>
                  <a:txBody>
                    <a:bodyPr/>
                    <a:lstStyle/>
                    <a:p>
                      <a:r>
                        <a:rPr sz="892" b="0">
                          <a:solidFill>
                            <a:srgbClr val="111111"/>
                          </a:solidFill>
                        </a:rPr>
                        <a:t>world</a:t>
                      </a:r>
                    </a:p>
                  </a:txBody>
                  <a:tcPr/>
                </a:tc>
                <a:tc>
                  <a:txBody>
                    <a:bodyPr/>
                    <a:lstStyle/>
                    <a:p>
                      <a:r>
                        <a:rPr sz="892" b="0">
                          <a:solidFill>
                            <a:srgbClr val="111111"/>
                          </a:solidFill>
                        </a:rPr>
                        <a:t>nbs/case-studies/rutherford/scattering.py</a:t>
                      </a:r>
                    </a:p>
                  </a:txBody>
                  <a:tcPr/>
                </a:tc>
              </a:tr>
              <a:tr h="142240">
                <a:tc>
                  <a:txBody>
                    <a:bodyPr/>
                    <a:lstStyle/>
                    <a:p>
                      <a:r>
                        <a:rPr sz="892" b="0">
                          <a:solidFill>
                            <a:srgbClr val="111111"/>
                          </a:solidFill>
                        </a:rPr>
                        <a:t>evidence hash</a:t>
                      </a:r>
                    </a:p>
                  </a:txBody>
                  <a:tcPr/>
                </a:tc>
                <a:tc>
                  <a:txBody>
                    <a:bodyPr/>
                    <a:lstStyle/>
                    <a:p>
                      <a:r>
                        <a:rPr sz="892" b="0">
                          <a:solidFill>
                            <a:srgbClr val="111111"/>
                          </a:solidFill>
                        </a:rPr>
                        <a:t>e8f37b522ca34db4d0bfd8bebb94b492fca1ffcc356a5dac330b4370d7de1efc</a:t>
                      </a:r>
                    </a:p>
                  </a:txBody>
                  <a:tcPr/>
                </a:tc>
              </a:tr>
              <a:tr h="142240">
                <a:tc>
                  <a:txBody>
                    <a:bodyPr/>
                    <a:lstStyle/>
                    <a:p>
                      <a:r>
                        <a:rPr sz="892" b="0">
                          <a:solidFill>
                            <a:srgbClr val="111111"/>
                          </a:solidFill>
                        </a:rPr>
                        <a:t>narration: abstract</a:t>
                      </a:r>
                    </a:p>
                  </a:txBody>
                  <a:tcPr/>
                </a:tc>
                <a:tc>
                  <a:txBody>
                    <a:bodyPr/>
                    <a:lstStyle/>
                    <a:p>
                      <a:r>
                        <a:rPr sz="892" b="0">
                          <a:solidFill>
                            <a:srgbClr val="111111"/>
                          </a:solidFill>
                        </a:rPr>
                        <a:t>gemini-3.5-flash-lite — verified</a:t>
                      </a:r>
                    </a:p>
                  </a:txBody>
                  <a:tcPr/>
                </a:tc>
              </a:tr>
              <a:tr h="142240">
                <a:tc>
                  <a:txBody>
                    <a:bodyPr/>
                    <a:lstStyle/>
                    <a:p>
                      <a:r>
                        <a:rPr sz="892" b="0">
                          <a:solidFill>
                            <a:srgbClr val="111111"/>
                          </a:solidFill>
                        </a:rPr>
                        <a:t>narration: introduction</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methods</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results</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diagnostics</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discussion</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conclusions</a:t>
                      </a:r>
                    </a:p>
                  </a:txBody>
                  <a:tcPr/>
                </a:tc>
                <a:tc>
                  <a:txBody>
                    <a:bodyPr/>
                    <a:lstStyle/>
                    <a:p>
                      <a:r>
                        <a:rPr sz="892" b="0">
                          <a:solidFill>
                            <a:srgbClr val="111111"/>
                          </a:solidFill>
                        </a:rPr>
                        <a:t>gemini-3.7-flash — verified</a:t>
                      </a:r>
                    </a:p>
                  </a:txBody>
                  <a:tcPr/>
                </a:tc>
              </a:tr>
              <a:tr h="142240">
                <a:tc>
                  <a:txBody>
                    <a:bodyPr/>
                    <a:lstStyle/>
                    <a:p>
                      <a:r>
                        <a:rPr sz="892" b="0">
                          <a:solidFill>
                            <a:srgbClr val="111111"/>
                          </a:solidFill>
                        </a:rPr>
                        <a:t>narration: limitations</a:t>
                      </a:r>
                    </a:p>
                  </a:txBody>
                  <a:tcPr/>
                </a:tc>
                <a:tc>
                  <a:txBody>
                    <a:bodyPr/>
                    <a:lstStyle/>
                    <a:p>
                      <a:r>
                        <a:rPr sz="892" b="0">
                          <a:solidFill>
                            <a:srgbClr val="111111"/>
                          </a:solidFill>
                        </a:rPr>
                        <a:t>gemini-3.7-flash — verified</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