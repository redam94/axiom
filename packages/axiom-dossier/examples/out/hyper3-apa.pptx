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331720"/>
            <a:ext cx="10363200" cy="2057400"/>
          </a:xfrm>
          <a:prstGeom prst="rect">
            <a:avLst/>
          </a:prstGeom>
          <a:noFill/>
        </p:spPr>
        <p:txBody>
          <a:bodyPr wrap="square">
            <a:spAutoFit/>
          </a:bodyPr>
          <a:lstStyle/>
          <a:p>
            <a:r>
              <a:rPr sz="1200" b="1">
                <a:solidFill>
                  <a:srgbClr val="000000"/>
                </a:solidFill>
              </a:rPr>
              <a:t>HYPER-3</a:t>
            </a:r>
          </a:p>
          <a:p>
            <a:r>
              <a:rPr sz="1560" b="0">
                <a:solidFill>
                  <a:srgbClr val="000000"/>
                </a:solidFill>
              </a:rPr>
              <a:t>Matthew Reda · axiom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3200" cy="431800"/>
          </a:xfrm>
          <a:prstGeom prst="rect">
            <a:avLst/>
          </a:prstGeom>
          <a:noFill/>
        </p:spPr>
        <p:txBody>
          <a:bodyPr wrap="square">
            <a:spAutoFit/>
          </a:bodyPr>
          <a:lstStyle/>
          <a:p>
            <a:r>
              <a:rPr sz="1200" b="1">
                <a:solidFill>
                  <a:srgbClr val="000000"/>
                </a:solidFill>
              </a:rPr>
              <a:t>Author Note</a:t>
            </a:r>
          </a:p>
        </p:txBody>
      </p:sp>
      <p:sp>
        <p:nvSpPr>
          <p:cNvPr id="3" name="TextBox 2"/>
          <p:cNvSpPr txBox="1"/>
          <p:nvPr/>
        </p:nvSpPr>
        <p:spPr>
          <a:xfrm>
            <a:off x="914400" y="965200"/>
            <a:ext cx="10363200" cy="508000"/>
          </a:xfrm>
          <a:prstGeom prst="rect">
            <a:avLst/>
          </a:prstGeom>
          <a:noFill/>
        </p:spPr>
        <p:txBody>
          <a:bodyPr wrap="square">
            <a:spAutoFit/>
          </a:bodyPr>
          <a:lstStyle/>
          <a:p>
            <a:r>
              <a:rPr sz="1200" b="0">
                <a:solidFill>
                  <a:srgbClr val="000000"/>
                </a:solidFill>
              </a:rPr>
              <a:t>The HYPER-3 study evaluates which of three daily doses should go into phase III and whether any dose harms participants. Across the age strata, 400 adults with elevated or stage-1 hypertension were randomized 2:1:1:1 to standard of care or one of three daily doses, with 100 randomized in band age 25 to 35, 160 in band age 36 to 50, and 140 in band age 51 plus. The target effect of arm on change is identified via the backdoor route, yielding pooled contrasts against control of -5.27 mmHg (90% WALD -6.63 to -3.91 mmHg) for 10 mg, -4.80 mmHg (90% WALD -6.17 to -3.44 mmHg) for 20 mg, and -1.53 mmHg (90% WALD -2.97 to -0.10 mmHg) for 40 mg evaluated against a decision threshold of 0.00 mmHg. For the 40 mg dose, the contrast against control is -5.26 mmHg (90% WALD -8.17 to -2.36 mmHg) in band age 25 to 35 and 6.20 mmHg (90% WALD 3.98 to 8.42 mmHg) in band age 51 plus. Across the trial, 372 units contributed to the primary endpoint, and 0.797 of units remained on study at the final week.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3200" cy="431800"/>
          </a:xfrm>
          <a:prstGeom prst="rect">
            <a:avLst/>
          </a:prstGeom>
          <a:noFill/>
        </p:spPr>
        <p:txBody>
          <a:bodyPr wrap="square">
            <a:spAutoFit/>
          </a:bodyPr>
          <a:lstStyle/>
          <a:p>
            <a:r>
              <a:rPr sz="1200" b="1">
                <a:solidFill>
                  <a:srgbClr val="000000"/>
                </a:solidFill>
              </a:rPr>
              <a:t>Abstract</a:t>
            </a:r>
          </a:p>
        </p:txBody>
      </p:sp>
      <p:sp>
        <p:nvSpPr>
          <p:cNvPr id="3" name="TextBox 2"/>
          <p:cNvSpPr txBox="1"/>
          <p:nvPr/>
        </p:nvSpPr>
        <p:spPr>
          <a:xfrm>
            <a:off x="914400" y="965200"/>
            <a:ext cx="10363200" cy="508000"/>
          </a:xfrm>
          <a:prstGeom prst="rect">
            <a:avLst/>
          </a:prstGeom>
          <a:noFill/>
        </p:spPr>
        <p:txBody>
          <a:bodyPr wrap="square">
            <a:spAutoFit/>
          </a:bodyPr>
          <a:lstStyle/>
          <a:p>
            <a:r>
              <a:rPr sz="1200" b="0">
                <a:solidFill>
                  <a:srgbClr val="000000"/>
                </a:solidFill>
              </a:rPr>
              <a:t>Four hundred adults with elevated or stage-1 hypertension were randomized to evaluate three daily doses against standard of care. The trial addressed which daily dose should advance to phase III and whether any dose harms the participants. The effect of treatment on blood pressure change is identified via the backdoor route identified in the identification graph. The strongest standing assumption is that dropout is ignorable given baseline. The pooled contrasts for 40 mg, 20 mg, and 10 mg each settled below the decision threshold on the favourable side. For the 40 mg dose in participants aged 51 and older, the contrast settled above the threshold on the unfavourable side at 6.20 mmHg (90% WALD 3.98 to 8.42 mmHg), whereas the same dose settled below the threshold in participants aged 25 to 35. These findings indicate that while pooled estimates support advancing the doses, heterogeneity across age strata reveals an unfavorable increase in blood pressure for older participants on the 40 mg dose.</a:t>
            </a:r>
          </a:p>
        </p:txBody>
      </p:sp>
      <p:sp>
        <p:nvSpPr>
          <p:cNvPr id="4" name="TextBox 3"/>
          <p:cNvSpPr txBox="1"/>
          <p:nvPr/>
        </p:nvSpPr>
        <p:spPr>
          <a:xfrm>
            <a:off x="914400" y="1905000"/>
            <a:ext cx="10363200" cy="508000"/>
          </a:xfrm>
          <a:prstGeom prst="rect">
            <a:avLst/>
          </a:prstGeom>
          <a:noFill/>
        </p:spPr>
        <p:txBody>
          <a:bodyPr wrap="square">
            <a:spAutoFit/>
          </a:bodyPr>
          <a:lstStyle/>
          <a:p>
            <a:r>
              <a:rPr sz="1200" b="0">
                <a:solidFill>
                  <a:srgbClr val="000000"/>
                </a:solidFill>
              </a:rPr>
              <a:t>Reported quantities: 40 mg vs control, pooled; 20 mg vs control, pooled; 10 mg vs control, pooled; 40 mg vs control, age 51+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3200" cy="431800"/>
          </a:xfrm>
          <a:prstGeom prst="rect">
            <a:avLst/>
          </a:prstGeom>
          <a:noFill/>
        </p:spPr>
        <p:txBody>
          <a:bodyPr wrap="square">
            <a:spAutoFit/>
          </a:bodyPr>
          <a:lstStyle/>
          <a:p>
            <a:r>
              <a:rPr sz="1200" b="1">
                <a:solidFill>
                  <a:srgbClr val="000000"/>
                </a:solidFill>
              </a:rPr>
              <a:t>Introduction</a:t>
            </a:r>
          </a:p>
        </p:txBody>
      </p:sp>
      <p:sp>
        <p:nvSpPr>
          <p:cNvPr id="3" name="TextBox 2"/>
          <p:cNvSpPr txBox="1"/>
          <p:nvPr/>
        </p:nvSpPr>
        <p:spPr>
          <a:xfrm>
            <a:off x="914400" y="965200"/>
            <a:ext cx="10363200" cy="508000"/>
          </a:xfrm>
          <a:prstGeom prst="rect">
            <a:avLst/>
          </a:prstGeom>
          <a:noFill/>
        </p:spPr>
        <p:txBody>
          <a:bodyPr wrap="square">
            <a:spAutoFit/>
          </a:bodyPr>
          <a:lstStyle/>
          <a:p>
            <a:r>
              <a:rPr sz="1200" b="0">
                <a:solidFill>
                  <a:srgbClr val="000000"/>
                </a:solidFill>
              </a:rPr>
              <a:t>This report addresses which of three daily doses should go into phase III, and whether any of them is harming the people taking it. The analysis answers this question using 40 mg versus control, pooled. The target quantity is identified. The decision turns on a decision threshold of 0.00 mmHg. An interval that falls entirely on one side of 0.00 mmHg settles the comparison. An interval spanning 0.00 mmHg leaves the question unsettled. Such an interval does not mean there is no effect.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3200" cy="431800"/>
          </a:xfrm>
          <a:prstGeom prst="rect">
            <a:avLst/>
          </a:prstGeom>
          <a:noFill/>
        </p:spPr>
        <p:txBody>
          <a:bodyPr wrap="square">
            <a:spAutoFit/>
          </a:bodyPr>
          <a:lstStyle/>
          <a:p>
            <a:r>
              <a:rPr sz="1200" b="1">
                <a:solidFill>
                  <a:srgbClr val="000000"/>
                </a:solidFill>
              </a:rPr>
              <a:t>Methods</a:t>
            </a:r>
          </a:p>
        </p:txBody>
      </p:sp>
      <p:sp>
        <p:nvSpPr>
          <p:cNvPr id="3" name="TextBox 2"/>
          <p:cNvSpPr txBox="1"/>
          <p:nvPr/>
        </p:nvSpPr>
        <p:spPr>
          <a:xfrm>
            <a:off x="914400" y="965200"/>
            <a:ext cx="10363200" cy="508000"/>
          </a:xfrm>
          <a:prstGeom prst="rect">
            <a:avLst/>
          </a:prstGeom>
          <a:noFill/>
        </p:spPr>
        <p:txBody>
          <a:bodyPr wrap="square">
            <a:spAutoFit/>
          </a:bodyPr>
          <a:lstStyle/>
          <a:p>
            <a:r>
              <a:rPr sz="1200" b="0">
                <a:solidFill>
                  <a:srgbClr val="000000"/>
                </a:solidFill>
              </a:rPr>
              <a:t>To address the question established in the introduction, 400 adults with elevated or stage-1 hypertension were randomized 2:1:1:1 to standard of care or to one of three daily doses, stratified by age band, with the design parameters recorded in Table 1. The protocol estimates three contrasts against a shared control rather than one dose against another. The target is the effect of arm on change, which is identified via the backdoor route shown in Figure 1. This identification turns on the arrows from adherence to change, age to change, arm to adherence, arm to change, and baseline to change. Seated systolic pressure was measured weekly, and both endpoints average the readings inside a window—weeks 5–8 for safety and weeks 9–12 for the primary endpoint—rather than reading a single visit. Averaging several correlated readings roughly halves the variance of a unit's endpoint, which is the difference between a safety boundary that can fire inside a stratum and one that cannot. Each dose was compared with control by ANCOVA on the change from baseline, adjusting for baseline pressure, and adjusting for age band when the contrast is pooled across bands. Randomization licenses the intent-to-treat contrast and nothing else; adjusting for a pre-randomization covariate buys precision at no cost, whereas adjusting for anything measured afterwards would forfeit the identification the randomization provided. Twelve harm contrasts—each dose against control overall and inside each age band—were monitored at scheduled safety reviews against a posterior-probability boundary with a 2 mmHg clinical margin. Pre-specifying the bands as monitored contrasts makes harm within a single age band visible before the trial ends, which no estimator applied at closeout would have found earlier. The analysis relies on two unresolved assumptions, named dropout is ignorable given baseline and the pooled contrast answers the question. What each of these assumptions claims is stated in the limitations section.</a:t>
            </a:r>
          </a:p>
        </p:txBody>
      </p:sp>
      <p:sp>
        <p:nvSpPr>
          <p:cNvPr id="4" name="TextBox 3"/>
          <p:cNvSpPr txBox="1"/>
          <p:nvPr/>
        </p:nvSpPr>
        <p:spPr>
          <a:xfrm>
            <a:off x="914400" y="2590800"/>
            <a:ext cx="10363200" cy="508000"/>
          </a:xfrm>
          <a:prstGeom prst="rect">
            <a:avLst/>
          </a:prstGeom>
          <a:noFill/>
        </p:spPr>
        <p:txBody>
          <a:bodyPr wrap="square">
            <a:spAutoFit/>
          </a:bodyPr>
          <a:lstStyle/>
          <a:p>
            <a:r>
              <a:rPr sz="1200" b="1">
                <a:solidFill>
                  <a:srgbClr val="000000"/>
                </a:solidFill>
              </a:rPr>
              <a:t>Protocol</a:t>
            </a:r>
          </a:p>
        </p:txBody>
      </p:sp>
      <p:sp>
        <p:nvSpPr>
          <p:cNvPr id="5" name="TextBox 4"/>
          <p:cNvSpPr txBox="1"/>
          <p:nvPr/>
        </p:nvSpPr>
        <p:spPr>
          <a:xfrm>
            <a:off x="914400" y="2844800"/>
            <a:ext cx="10363200" cy="508000"/>
          </a:xfrm>
          <a:prstGeom prst="rect">
            <a:avLst/>
          </a:prstGeom>
          <a:noFill/>
        </p:spPr>
        <p:txBody>
          <a:bodyPr wrap="square">
            <a:spAutoFit/>
          </a:bodyPr>
          <a:lstStyle/>
          <a:p>
            <a:r>
              <a:rPr sz="1200" b="0">
                <a:solidFill>
                  <a:srgbClr val="000000"/>
                </a:solidFill>
              </a:rPr>
              <a:t>`arm_i ~ blocked randomization within age band, allocation 2:1:1:1`</a:t>
            </a:r>
          </a:p>
        </p:txBody>
      </p:sp>
      <p:sp>
        <p:nvSpPr>
          <p:cNvPr id="6" name="TextBox 5"/>
          <p:cNvSpPr txBox="1"/>
          <p:nvPr/>
        </p:nvSpPr>
        <p:spPr>
          <a:xfrm>
            <a:off x="914400" y="3098800"/>
            <a:ext cx="10363200" cy="508000"/>
          </a:xfrm>
          <a:prstGeom prst="rect">
            <a:avLst/>
          </a:prstGeom>
          <a:noFill/>
        </p:spPr>
        <p:txBody>
          <a:bodyPr wrap="square">
            <a:spAutoFit/>
          </a:bodyPr>
          <a:lstStyle/>
          <a:p>
            <a:r>
              <a:rPr sz="1200" b="1">
                <a:solidFill>
                  <a:srgbClr val="000000"/>
                </a:solidFill>
              </a:rPr>
              <a:t>Analysis</a:t>
            </a:r>
          </a:p>
        </p:txBody>
      </p:sp>
      <p:sp>
        <p:nvSpPr>
          <p:cNvPr id="7" name="TextBox 6"/>
          <p:cNvSpPr txBox="1"/>
          <p:nvPr/>
        </p:nvSpPr>
        <p:spPr>
          <a:xfrm>
            <a:off x="914400" y="3352800"/>
            <a:ext cx="10363200" cy="508000"/>
          </a:xfrm>
          <a:prstGeom prst="rect">
            <a:avLst/>
          </a:prstGeom>
          <a:noFill/>
        </p:spPr>
        <p:txBody>
          <a:bodyPr wrap="square">
            <a:spAutoFit/>
          </a:bodyPr>
          <a:lstStyle/>
          <a:p>
            <a:r>
              <a:rPr sz="1200" b="0">
                <a:solidFill>
                  <a:srgbClr val="000000"/>
                </a:solidFill>
              </a:rPr>
              <a:t>`change_i = beta0 + tau * treated_i + beta1 * baseline_i + eps_i`
`  pooled, add:  + sum_b gamma_b * 1[age_band_i = b]`
`  change_i   = mean(SBP_i, weeks 9-12) - SBP_i(baseline)`
`  tau        = the contrast reported; treated_i = 1 for the dose arm`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3200" cy="431800"/>
          </a:xfrm>
          <a:prstGeom prst="rect">
            <a:avLst/>
          </a:prstGeom>
          <a:noFill/>
        </p:spPr>
        <p:txBody>
          <a:bodyPr wrap="square">
            <a:spAutoFit/>
          </a:bodyPr>
          <a:lstStyle/>
          <a:p>
            <a:r>
              <a:rPr sz="1200" b="1">
                <a:solidFill>
                  <a:srgbClr val="000000"/>
                </a:solidFill>
              </a:rPr>
              <a:t>Methods (cont.)</a:t>
            </a:r>
          </a:p>
        </p:txBody>
      </p:sp>
      <p:sp>
        <p:nvSpPr>
          <p:cNvPr id="3" name="TextBox 2"/>
          <p:cNvSpPr txBox="1"/>
          <p:nvPr/>
        </p:nvSpPr>
        <p:spPr>
          <a:xfrm>
            <a:off x="914400" y="965200"/>
            <a:ext cx="10363200" cy="508000"/>
          </a:xfrm>
          <a:prstGeom prst="rect">
            <a:avLst/>
          </a:prstGeom>
          <a:noFill/>
        </p:spPr>
        <p:txBody>
          <a:bodyPr wrap="square">
            <a:spAutoFit/>
          </a:bodyPr>
          <a:lstStyle/>
          <a:p>
            <a:r>
              <a:rPr sz="1200" b="1">
                <a:solidFill>
                  <a:srgbClr val="000000"/>
                </a:solidFill>
              </a:rPr>
              <a:t>Safety monitoring</a:t>
            </a:r>
          </a:p>
        </p:txBody>
      </p:sp>
      <p:sp>
        <p:nvSpPr>
          <p:cNvPr id="4" name="TextBox 3"/>
          <p:cNvSpPr txBox="1"/>
          <p:nvPr/>
        </p:nvSpPr>
        <p:spPr>
          <a:xfrm>
            <a:off x="914400" y="1219200"/>
            <a:ext cx="10363200" cy="508000"/>
          </a:xfrm>
          <a:prstGeom prst="rect">
            <a:avLst/>
          </a:prstGeom>
          <a:noFill/>
        </p:spPr>
        <p:txBody>
          <a:bodyPr wrap="square">
            <a:spAutoFit/>
          </a:bodyPr>
          <a:lstStyle/>
          <a:p>
            <a:r>
              <a:rPr sz="1200" b="0">
                <a:solidFill>
                  <a:srgbClr val="000000"/>
                </a:solidFill>
              </a:rPr>
              <a:t>`stop for harm at look k when`
`  P(tau_g &gt; delta | data_k) &gt; b_k     for any monitored contrast g`
`  delta = the clinical margin; b_k = the boundary at look k`</a:t>
            </a:r>
          </a:p>
        </p:txBody>
      </p:sp>
      <p:sp>
        <p:nvSpPr>
          <p:cNvPr id="5" name="TextBox 4"/>
          <p:cNvSpPr txBox="1"/>
          <p:nvPr/>
        </p:nvSpPr>
        <p:spPr>
          <a:xfrm>
            <a:off x="914400" y="1701800"/>
            <a:ext cx="10363200" cy="508000"/>
          </a:xfrm>
          <a:prstGeom prst="rect">
            <a:avLst/>
          </a:prstGeom>
          <a:noFill/>
        </p:spPr>
        <p:txBody>
          <a:bodyPr wrap="square">
            <a:spAutoFit/>
          </a:bodyPr>
          <a:lstStyle/>
          <a:p>
            <a:r>
              <a:rPr sz="1200" b="1">
                <a:solidFill>
                  <a:srgbClr val="000000"/>
                </a:solidFill>
              </a:rPr>
              <a:t>The identification graph</a:t>
            </a:r>
          </a:p>
        </p:txBody>
      </p:sp>
      <p:graphicFrame>
        <p:nvGraphicFramePr>
          <p:cNvPr id="6" name="Table 5"/>
          <p:cNvGraphicFramePr>
            <a:graphicFrameLocks noGrp="1"/>
          </p:cNvGraphicFramePr>
          <p:nvPr/>
        </p:nvGraphicFramePr>
        <p:xfrm>
          <a:off x="914400" y="1955800"/>
          <a:ext cx="10363200" cy="1828800"/>
        </p:xfrm>
        <a:graphic>
          <a:graphicData uri="http://schemas.openxmlformats.org/drawingml/2006/table">
            <a:tbl>
              <a:tblPr firstRow="1" bandRow="1">
                <a:tableStyleId>{5C22544A-7EE6-4342-B048-85BDC9FD1C3A}</a:tableStyleId>
              </a:tblPr>
              <a:tblGrid>
                <a:gridCol w="2590800"/>
                <a:gridCol w="2590800"/>
                <a:gridCol w="2590800"/>
                <a:gridCol w="2590800"/>
              </a:tblGrid>
              <a:tr h="304800">
                <a:tc>
                  <a:txBody>
                    <a:bodyPr/>
                    <a:lstStyle/>
                    <a:p>
                      <a:r>
                        <a:rPr sz="1019" b="1">
                          <a:solidFill>
                            <a:srgbClr val="000000"/>
                          </a:solidFill>
                        </a:rPr>
                        <a:t>From</a:t>
                      </a:r>
                    </a:p>
                  </a:txBody>
                  <a:tcPr/>
                </a:tc>
                <a:tc>
                  <a:txBody>
                    <a:bodyPr/>
                    <a:lstStyle/>
                    <a:p>
                      <a:r>
                        <a:rPr sz="1019" b="1">
                          <a:solidFill>
                            <a:srgbClr val="000000"/>
                          </a:solidFill>
                        </a:rPr>
                        <a:t>Arrow</a:t>
                      </a:r>
                    </a:p>
                  </a:txBody>
                  <a:tcPr/>
                </a:tc>
                <a:tc>
                  <a:txBody>
                    <a:bodyPr/>
                    <a:lstStyle/>
                    <a:p>
                      <a:r>
                        <a:rPr sz="1019" b="1">
                          <a:solidFill>
                            <a:srgbClr val="000000"/>
                          </a:solidFill>
                        </a:rPr>
                        <a:t>To</a:t>
                      </a:r>
                    </a:p>
                  </a:txBody>
                  <a:tcPr/>
                </a:tc>
                <a:tc>
                  <a:txBody>
                    <a:bodyPr/>
                    <a:lstStyle/>
                    <a:p>
                      <a:r>
                        <a:rPr sz="1019" b="1">
                          <a:solidFill>
                            <a:srgbClr val="000000"/>
                          </a:solidFill>
                        </a:rPr>
                        <a:t>Kind</a:t>
                      </a:r>
                    </a:p>
                  </a:txBody>
                  <a:tcPr/>
                </a:tc>
              </a:tr>
              <a:tr h="304800">
                <a:tc>
                  <a:txBody>
                    <a:bodyPr/>
                    <a:lstStyle/>
                    <a:p>
                      <a:r>
                        <a:rPr sz="1019" b="0">
                          <a:solidFill>
                            <a:srgbClr val="000000"/>
                          </a:solidFill>
                        </a:rPr>
                        <a:t>adherence</a:t>
                      </a:r>
                    </a:p>
                  </a:txBody>
                  <a:tcPr/>
                </a:tc>
                <a:tc>
                  <a:txBody>
                    <a:bodyPr/>
                    <a:lstStyle/>
                    <a:p>
                      <a:r>
                        <a:rPr sz="1019" b="0">
                          <a:solidFill>
                            <a:srgbClr val="000000"/>
                          </a:solidFill>
                        </a:rPr>
                        <a:t>→</a:t>
                      </a:r>
                    </a:p>
                  </a:txBody>
                  <a:tcPr/>
                </a:tc>
                <a:tc>
                  <a:txBody>
                    <a:bodyPr/>
                    <a:lstStyle/>
                    <a:p>
                      <a:r>
                        <a:rPr sz="1019" b="0">
                          <a:solidFill>
                            <a:srgbClr val="000000"/>
                          </a:solidFill>
                        </a:rPr>
                        <a:t>change</a:t>
                      </a:r>
                    </a:p>
                  </a:txBody>
                  <a:tcPr/>
                </a:tc>
                <a:tc>
                  <a:txBody>
                    <a:bodyPr/>
                    <a:lstStyle/>
                    <a:p>
                      <a:r>
                        <a:rPr sz="1019" b="0">
                          <a:solidFill>
                            <a:srgbClr val="000000"/>
                          </a:solidFill>
                        </a:rPr>
                        <a:t>direct effect</a:t>
                      </a:r>
                    </a:p>
                  </a:txBody>
                  <a:tcPr/>
                </a:tc>
              </a:tr>
              <a:tr h="304800">
                <a:tc>
                  <a:txBody>
                    <a:bodyPr/>
                    <a:lstStyle/>
                    <a:p>
                      <a:r>
                        <a:rPr sz="1019" b="0">
                          <a:solidFill>
                            <a:srgbClr val="000000"/>
                          </a:solidFill>
                        </a:rPr>
                        <a:t>age</a:t>
                      </a:r>
                    </a:p>
                  </a:txBody>
                  <a:tcPr/>
                </a:tc>
                <a:tc>
                  <a:txBody>
                    <a:bodyPr/>
                    <a:lstStyle/>
                    <a:p>
                      <a:r>
                        <a:rPr sz="1019" b="0">
                          <a:solidFill>
                            <a:srgbClr val="000000"/>
                          </a:solidFill>
                        </a:rPr>
                        <a:t>→</a:t>
                      </a:r>
                    </a:p>
                  </a:txBody>
                  <a:tcPr/>
                </a:tc>
                <a:tc>
                  <a:txBody>
                    <a:bodyPr/>
                    <a:lstStyle/>
                    <a:p>
                      <a:r>
                        <a:rPr sz="1019" b="0">
                          <a:solidFill>
                            <a:srgbClr val="000000"/>
                          </a:solidFill>
                        </a:rPr>
                        <a:t>change</a:t>
                      </a:r>
                    </a:p>
                  </a:txBody>
                  <a:tcPr/>
                </a:tc>
                <a:tc>
                  <a:txBody>
                    <a:bodyPr/>
                    <a:lstStyle/>
                    <a:p>
                      <a:r>
                        <a:rPr sz="1019" b="0">
                          <a:solidFill>
                            <a:srgbClr val="000000"/>
                          </a:solidFill>
                        </a:rPr>
                        <a:t>direct effect</a:t>
                      </a:r>
                    </a:p>
                  </a:txBody>
                  <a:tcPr/>
                </a:tc>
              </a:tr>
              <a:tr h="304800">
                <a:tc>
                  <a:txBody>
                    <a:bodyPr/>
                    <a:lstStyle/>
                    <a:p>
                      <a:r>
                        <a:rPr sz="1019" b="0">
                          <a:solidFill>
                            <a:srgbClr val="000000"/>
                          </a:solidFill>
                        </a:rPr>
                        <a:t>arm</a:t>
                      </a:r>
                    </a:p>
                  </a:txBody>
                  <a:tcPr/>
                </a:tc>
                <a:tc>
                  <a:txBody>
                    <a:bodyPr/>
                    <a:lstStyle/>
                    <a:p>
                      <a:r>
                        <a:rPr sz="1019" b="0">
                          <a:solidFill>
                            <a:srgbClr val="000000"/>
                          </a:solidFill>
                        </a:rPr>
                        <a:t>→</a:t>
                      </a:r>
                    </a:p>
                  </a:txBody>
                  <a:tcPr/>
                </a:tc>
                <a:tc>
                  <a:txBody>
                    <a:bodyPr/>
                    <a:lstStyle/>
                    <a:p>
                      <a:r>
                        <a:rPr sz="1019" b="0">
                          <a:solidFill>
                            <a:srgbClr val="000000"/>
                          </a:solidFill>
                        </a:rPr>
                        <a:t>adherence</a:t>
                      </a:r>
                    </a:p>
                  </a:txBody>
                  <a:tcPr/>
                </a:tc>
                <a:tc>
                  <a:txBody>
                    <a:bodyPr/>
                    <a:lstStyle/>
                    <a:p>
                      <a:r>
                        <a:rPr sz="1019" b="0">
                          <a:solidFill>
                            <a:srgbClr val="000000"/>
                          </a:solidFill>
                        </a:rPr>
                        <a:t>direct effect</a:t>
                      </a:r>
                    </a:p>
                  </a:txBody>
                  <a:tcPr/>
                </a:tc>
              </a:tr>
              <a:tr h="304800">
                <a:tc>
                  <a:txBody>
                    <a:bodyPr/>
                    <a:lstStyle/>
                    <a:p>
                      <a:r>
                        <a:rPr sz="1019" b="0">
                          <a:solidFill>
                            <a:srgbClr val="000000"/>
                          </a:solidFill>
                        </a:rPr>
                        <a:t>arm</a:t>
                      </a:r>
                    </a:p>
                  </a:txBody>
                  <a:tcPr/>
                </a:tc>
                <a:tc>
                  <a:txBody>
                    <a:bodyPr/>
                    <a:lstStyle/>
                    <a:p>
                      <a:r>
                        <a:rPr sz="1019" b="0">
                          <a:solidFill>
                            <a:srgbClr val="000000"/>
                          </a:solidFill>
                        </a:rPr>
                        <a:t>→</a:t>
                      </a:r>
                    </a:p>
                  </a:txBody>
                  <a:tcPr/>
                </a:tc>
                <a:tc>
                  <a:txBody>
                    <a:bodyPr/>
                    <a:lstStyle/>
                    <a:p>
                      <a:r>
                        <a:rPr sz="1019" b="0">
                          <a:solidFill>
                            <a:srgbClr val="000000"/>
                          </a:solidFill>
                        </a:rPr>
                        <a:t>change</a:t>
                      </a:r>
                    </a:p>
                  </a:txBody>
                  <a:tcPr/>
                </a:tc>
                <a:tc>
                  <a:txBody>
                    <a:bodyPr/>
                    <a:lstStyle/>
                    <a:p>
                      <a:r>
                        <a:rPr sz="1019" b="0">
                          <a:solidFill>
                            <a:srgbClr val="000000"/>
                          </a:solidFill>
                        </a:rPr>
                        <a:t>direct effect</a:t>
                      </a:r>
                    </a:p>
                  </a:txBody>
                  <a:tcPr/>
                </a:tc>
              </a:tr>
              <a:tr h="304800">
                <a:tc>
                  <a:txBody>
                    <a:bodyPr/>
                    <a:lstStyle/>
                    <a:p>
                      <a:r>
                        <a:rPr sz="1019" b="0">
                          <a:solidFill>
                            <a:srgbClr val="000000"/>
                          </a:solidFill>
                        </a:rPr>
                        <a:t>baseline</a:t>
                      </a:r>
                    </a:p>
                  </a:txBody>
                  <a:tcPr/>
                </a:tc>
                <a:tc>
                  <a:txBody>
                    <a:bodyPr/>
                    <a:lstStyle/>
                    <a:p>
                      <a:r>
                        <a:rPr sz="1019" b="0">
                          <a:solidFill>
                            <a:srgbClr val="000000"/>
                          </a:solidFill>
                        </a:rPr>
                        <a:t>→</a:t>
                      </a:r>
                    </a:p>
                  </a:txBody>
                  <a:tcPr/>
                </a:tc>
                <a:tc>
                  <a:txBody>
                    <a:bodyPr/>
                    <a:lstStyle/>
                    <a:p>
                      <a:r>
                        <a:rPr sz="1019" b="0">
                          <a:solidFill>
                            <a:srgbClr val="000000"/>
                          </a:solidFill>
                        </a:rPr>
                        <a:t>change</a:t>
                      </a:r>
                    </a:p>
                  </a:txBody>
                  <a:tcPr/>
                </a:tc>
                <a:tc>
                  <a:txBody>
                    <a:bodyPr/>
                    <a:lstStyle/>
                    <a:p>
                      <a:r>
                        <a:rPr sz="1019" b="0">
                          <a:solidFill>
                            <a:srgbClr val="000000"/>
                          </a:solidFill>
                        </a:rPr>
                        <a:t>direct effect</a:t>
                      </a:r>
                    </a:p>
                  </a:txBody>
                  <a:tcPr/>
                </a:tc>
              </a:tr>
            </a:tbl>
          </a:graphicData>
        </a:graphic>
      </p:graphicFrame>
      <p:sp>
        <p:nvSpPr>
          <p:cNvPr id="7" name="TextBox 6"/>
          <p:cNvSpPr txBox="1"/>
          <p:nvPr/>
        </p:nvSpPr>
        <p:spPr>
          <a:xfrm>
            <a:off x="914400" y="3937000"/>
            <a:ext cx="10363200" cy="508000"/>
          </a:xfrm>
          <a:prstGeom prst="rect">
            <a:avLst/>
          </a:prstGeom>
          <a:noFill/>
        </p:spPr>
        <p:txBody>
          <a:bodyPr wrap="square">
            <a:spAutoFit/>
          </a:bodyPr>
          <a:lstStyle/>
          <a:p>
            <a:r>
              <a:rPr sz="1200" b="1">
                <a:solidFill>
                  <a:srgbClr val="000000"/>
                </a:solidFill>
              </a:rPr>
              <a:t>Assumptions this analysis rests 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3200" cy="431800"/>
          </a:xfrm>
          <a:prstGeom prst="rect">
            <a:avLst/>
          </a:prstGeom>
          <a:noFill/>
        </p:spPr>
        <p:txBody>
          <a:bodyPr wrap="square">
            <a:spAutoFit/>
          </a:bodyPr>
          <a:lstStyle/>
          <a:p>
            <a:r>
              <a:rPr sz="1200" b="1">
                <a:solidFill>
                  <a:srgbClr val="000000"/>
                </a:solidFill>
              </a:rPr>
              <a:t>Methods (cont.)</a:t>
            </a:r>
          </a:p>
        </p:txBody>
      </p:sp>
      <p:graphicFrame>
        <p:nvGraphicFramePr>
          <p:cNvPr id="3" name="Table 2"/>
          <p:cNvGraphicFramePr>
            <a:graphicFrameLocks noGrp="1"/>
          </p:cNvGraphicFramePr>
          <p:nvPr/>
        </p:nvGraphicFramePr>
        <p:xfrm>
          <a:off x="914400" y="965200"/>
          <a:ext cx="10363200" cy="914400"/>
        </p:xfrm>
        <a:graphic>
          <a:graphicData uri="http://schemas.openxmlformats.org/drawingml/2006/table">
            <a:tbl>
              <a:tblPr firstRow="1" bandRow="1">
                <a:tableStyleId>{5C22544A-7EE6-4342-B048-85BDC9FD1C3A}</a:tableStyleId>
              </a:tblPr>
              <a:tblGrid>
                <a:gridCol w="2590800"/>
                <a:gridCol w="2590800"/>
                <a:gridCol w="2590800"/>
                <a:gridCol w="2590800"/>
              </a:tblGrid>
              <a:tr h="304800">
                <a:tc>
                  <a:txBody>
                    <a:bodyPr/>
                    <a:lstStyle/>
                    <a:p>
                      <a:r>
                        <a:rPr sz="1019" b="1">
                          <a:solidFill>
                            <a:srgbClr val="000000"/>
                          </a:solidFill>
                        </a:rPr>
                        <a:t>Assumption</a:t>
                      </a:r>
                    </a:p>
                  </a:txBody>
                  <a:tcPr/>
                </a:tc>
                <a:tc>
                  <a:txBody>
                    <a:bodyPr/>
                    <a:lstStyle/>
                    <a:p>
                      <a:r>
                        <a:rPr sz="1019" b="1">
                          <a:solidFill>
                            <a:srgbClr val="000000"/>
                          </a:solidFill>
                        </a:rPr>
                        <a:t>Statement</a:t>
                      </a:r>
                    </a:p>
                  </a:txBody>
                  <a:tcPr/>
                </a:tc>
                <a:tc>
                  <a:txBody>
                    <a:bodyPr/>
                    <a:lstStyle/>
                    <a:p>
                      <a:r>
                        <a:rPr sz="1019" b="1">
                          <a:solidFill>
                            <a:srgbClr val="000000"/>
                          </a:solidFill>
                        </a:rPr>
                        <a:t>Status</a:t>
                      </a:r>
                    </a:p>
                  </a:txBody>
                  <a:tcPr/>
                </a:tc>
                <a:tc>
                  <a:txBody>
                    <a:bodyPr/>
                    <a:lstStyle/>
                    <a:p>
                      <a:r>
                        <a:rPr sz="1019" b="1">
                          <a:solidFill>
                            <a:srgbClr val="000000"/>
                          </a:solidFill>
                        </a:rPr>
                        <a:t>Challenged by</a:t>
                      </a:r>
                    </a:p>
                  </a:txBody>
                  <a:tcPr/>
                </a:tc>
              </a:tr>
              <a:tr h="304800">
                <a:tc>
                  <a:txBody>
                    <a:bodyPr/>
                    <a:lstStyle/>
                    <a:p>
                      <a:r>
                        <a:rPr sz="1019" b="0">
                          <a:solidFill>
                            <a:srgbClr val="000000"/>
                          </a:solidFill>
                        </a:rPr>
                        <a:t>dropout is ignorable given baseline</a:t>
                      </a:r>
                    </a:p>
                  </a:txBody>
                  <a:tcPr/>
                </a:tc>
                <a:tc>
                  <a:txBody>
                    <a:bodyPr/>
                    <a:lstStyle/>
                    <a:p>
                      <a:r>
                        <a:rPr sz="1019" b="0">
                          <a:solidFill>
                            <a:srgbClr val="000000"/>
                          </a:solidFill>
                        </a:rPr>
                        <a:t>units who left the study differ from those who stayed only through what was measured before randomization</a:t>
                      </a:r>
                    </a:p>
                  </a:txBody>
                  <a:tcPr/>
                </a:tc>
                <a:tc>
                  <a:txBody>
                    <a:bodyPr/>
                    <a:lstStyle/>
                    <a:p>
                      <a:r>
                        <a:rPr sz="1019" b="0">
                          <a:solidFill>
                            <a:srgbClr val="000000"/>
                          </a:solidFill>
                        </a:rPr>
                        <a:t>is assumed and has not been checked</a:t>
                      </a:r>
                    </a:p>
                  </a:txBody>
                  <a:tcPr/>
                </a:tc>
                <a:tc>
                  <a:txBody>
                    <a:bodyPr/>
                    <a:lstStyle/>
                    <a:p>
                      <a:r>
                        <a:rPr sz="1019" b="0">
                          <a:solidFill>
                            <a:srgbClr val="000000"/>
                          </a:solidFill>
                        </a:rPr>
                        <a:t>a tipping-point analysis over plausible departures from ignorability</a:t>
                      </a:r>
                    </a:p>
                  </a:txBody>
                  <a:tcPr/>
                </a:tc>
              </a:tr>
              <a:tr h="304800">
                <a:tc>
                  <a:txBody>
                    <a:bodyPr/>
                    <a:lstStyle/>
                    <a:p>
                      <a:r>
                        <a:rPr sz="1019" b="0">
                          <a:solidFill>
                            <a:srgbClr val="000000"/>
                          </a:solidFill>
                        </a:rPr>
                        <a:t>the pooled contrast answers the question</a:t>
                      </a:r>
                    </a:p>
                  </a:txBody>
                  <a:tcPr/>
                </a:tc>
                <a:tc>
                  <a:txBody>
                    <a:bodyPr/>
                    <a:lstStyle/>
                    <a:p>
                      <a:r>
                        <a:rPr sz="1019" b="0">
                          <a:solidFill>
                            <a:srgbClr val="000000"/>
                          </a:solidFill>
                        </a:rPr>
                        <a:t>a single number over all age bands describes the effect the decision is about</a:t>
                      </a:r>
                    </a:p>
                  </a:txBody>
                  <a:tcPr/>
                </a:tc>
                <a:tc>
                  <a:txBody>
                    <a:bodyPr/>
                    <a:lstStyle/>
                    <a:p>
                      <a:r>
                        <a:rPr sz="1019" b="0">
                          <a:solidFill>
                            <a:srgbClr val="000000"/>
                          </a:solidFill>
                        </a:rPr>
                        <a:t>is known to fail</a:t>
                      </a:r>
                    </a:p>
                  </a:txBody>
                  <a:tcPr/>
                </a:tc>
                <a:tc>
                  <a:txBody>
                    <a:bodyPr/>
                    <a:lstStyle/>
                    <a:p>
                      <a:r>
                        <a:rPr sz="1019" b="0">
                          <a:solidFill>
                            <a:srgbClr val="000000"/>
                          </a:solidFill>
                        </a:rPr>
                        <a:t>heterogeneity across the pre-specified strata</a:t>
                      </a:r>
                    </a:p>
                  </a:txBody>
                  <a:tcPr/>
                </a:tc>
              </a:tr>
            </a:tbl>
          </a:graphicData>
        </a:graphic>
      </p:graphicFrame>
      <p:sp>
        <p:nvSpPr>
          <p:cNvPr id="4" name="TextBox 3"/>
          <p:cNvSpPr txBox="1"/>
          <p:nvPr/>
        </p:nvSpPr>
        <p:spPr>
          <a:xfrm>
            <a:off x="914400" y="2032000"/>
            <a:ext cx="10363200" cy="3911600"/>
          </a:xfrm>
          <a:prstGeom prst="rect">
            <a:avLst/>
          </a:prstGeom>
          <a:noFill/>
        </p:spPr>
        <p:txBody>
          <a:bodyPr wrap="square">
            <a:spAutoFit/>
          </a:bodyPr>
          <a:lstStyle/>
          <a:p>
            <a:r>
              <a:rPr sz="1019" b="1">
                <a:solidFill>
                  <a:srgbClr val="000000"/>
                </a:solidFill>
              </a:rPr>
              <a:t>assumption  </a:t>
            </a:r>
            <a:r>
              <a:rPr sz="1080" b="0">
                <a:solidFill>
                  <a:srgbClr val="000000"/>
                </a:solidFill>
              </a:rPr>
              <a:t>Adherence was not adjusted for: it lies on the path from arm to outcome, and conditioning on it would break the randomization.</a:t>
            </a:r>
          </a:p>
          <a:p>
            <a:r>
              <a:rPr sz="1019" b="1">
                <a:solidFill>
                  <a:srgbClr val="000000"/>
                </a:solidFill>
              </a:rPr>
              <a:t>assumption  </a:t>
            </a:r>
            <a:r>
              <a:rPr sz="1080" b="0">
                <a:solidFill>
                  <a:srgbClr val="000000"/>
                </a:solidFill>
              </a:rPr>
              <a:t>The pooled 40 mg contrast is reported alongside the per-band contrasts, never instead of them.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3200" cy="431800"/>
          </a:xfrm>
          <a:prstGeom prst="rect">
            <a:avLst/>
          </a:prstGeom>
          <a:noFill/>
        </p:spPr>
        <p:txBody>
          <a:bodyPr wrap="square">
            <a:spAutoFit/>
          </a:bodyPr>
          <a:lstStyle/>
          <a:p>
            <a:r>
              <a:rPr sz="1200" b="1">
                <a:solidFill>
                  <a:srgbClr val="000000"/>
                </a:solidFill>
              </a:rPr>
              <a:t>Results</a:t>
            </a:r>
          </a:p>
        </p:txBody>
      </p:sp>
      <p:sp>
        <p:nvSpPr>
          <p:cNvPr id="3" name="TextBox 2"/>
          <p:cNvSpPr txBox="1"/>
          <p:nvPr/>
        </p:nvSpPr>
        <p:spPr>
          <a:xfrm>
            <a:off x="914400" y="965200"/>
            <a:ext cx="2489200" cy="889000"/>
          </a:xfrm>
          <a:prstGeom prst="rect">
            <a:avLst/>
          </a:prstGeom>
          <a:noFill/>
        </p:spPr>
        <p:txBody>
          <a:bodyPr wrap="square">
            <a:spAutoFit/>
          </a:bodyPr>
          <a:lstStyle/>
          <a:p>
            <a:r>
              <a:rPr sz="1019" b="0">
                <a:solidFill>
                  <a:srgbClr val="000000"/>
                </a:solidFill>
              </a:rPr>
              <a:t>40 MG VS CONTROL, POOLED</a:t>
            </a:r>
          </a:p>
          <a:p>
            <a:r>
              <a:rPr sz="960" b="1">
                <a:solidFill>
                  <a:srgbClr val="000000"/>
                </a:solidFill>
              </a:rPr>
              <a:t>-1.53 mmHg</a:t>
            </a:r>
          </a:p>
          <a:p>
            <a:r>
              <a:rPr sz="1019" b="0">
                <a:solidFill>
                  <a:srgbClr val="000000"/>
                </a:solidFill>
              </a:rPr>
              <a:t>[-3.0, -0.1] (90% WALD)</a:t>
            </a:r>
          </a:p>
        </p:txBody>
      </p:sp>
      <p:sp>
        <p:nvSpPr>
          <p:cNvPr id="4" name="TextBox 3"/>
          <p:cNvSpPr txBox="1"/>
          <p:nvPr/>
        </p:nvSpPr>
        <p:spPr>
          <a:xfrm>
            <a:off x="3505200" y="965200"/>
            <a:ext cx="2489200" cy="889000"/>
          </a:xfrm>
          <a:prstGeom prst="rect">
            <a:avLst/>
          </a:prstGeom>
          <a:noFill/>
        </p:spPr>
        <p:txBody>
          <a:bodyPr wrap="square">
            <a:spAutoFit/>
          </a:bodyPr>
          <a:lstStyle/>
          <a:p>
            <a:r>
              <a:rPr sz="1019" b="0">
                <a:solidFill>
                  <a:srgbClr val="000000"/>
                </a:solidFill>
              </a:rPr>
              <a:t>20 MG VS CONTROL, POOLED</a:t>
            </a:r>
          </a:p>
          <a:p>
            <a:r>
              <a:rPr sz="960" b="1">
                <a:solidFill>
                  <a:srgbClr val="000000"/>
                </a:solidFill>
              </a:rPr>
              <a:t>-4.80 mmHg</a:t>
            </a:r>
          </a:p>
          <a:p>
            <a:r>
              <a:rPr sz="1019" b="0">
                <a:solidFill>
                  <a:srgbClr val="000000"/>
                </a:solidFill>
              </a:rPr>
              <a:t>[-6.2, -3.4] (90% WALD)</a:t>
            </a:r>
          </a:p>
        </p:txBody>
      </p:sp>
      <p:sp>
        <p:nvSpPr>
          <p:cNvPr id="5" name="TextBox 4"/>
          <p:cNvSpPr txBox="1"/>
          <p:nvPr/>
        </p:nvSpPr>
        <p:spPr>
          <a:xfrm>
            <a:off x="6096000" y="965200"/>
            <a:ext cx="2489200" cy="889000"/>
          </a:xfrm>
          <a:prstGeom prst="rect">
            <a:avLst/>
          </a:prstGeom>
          <a:noFill/>
        </p:spPr>
        <p:txBody>
          <a:bodyPr wrap="square">
            <a:spAutoFit/>
          </a:bodyPr>
          <a:lstStyle/>
          <a:p>
            <a:r>
              <a:rPr sz="1019" b="0">
                <a:solidFill>
                  <a:srgbClr val="000000"/>
                </a:solidFill>
              </a:rPr>
              <a:t>10 MG VS CONTROL, POOLED</a:t>
            </a:r>
          </a:p>
          <a:p>
            <a:r>
              <a:rPr sz="960" b="1">
                <a:solidFill>
                  <a:srgbClr val="000000"/>
                </a:solidFill>
              </a:rPr>
              <a:t>-5.27 mmHg</a:t>
            </a:r>
          </a:p>
          <a:p>
            <a:r>
              <a:rPr sz="1019" b="0">
                <a:solidFill>
                  <a:srgbClr val="000000"/>
                </a:solidFill>
              </a:rPr>
              <a:t>[-6.6, -3.9] (90% WALD)</a:t>
            </a:r>
          </a:p>
        </p:txBody>
      </p:sp>
      <p:sp>
        <p:nvSpPr>
          <p:cNvPr id="6" name="TextBox 5"/>
          <p:cNvSpPr txBox="1"/>
          <p:nvPr/>
        </p:nvSpPr>
        <p:spPr>
          <a:xfrm>
            <a:off x="8686800" y="965200"/>
            <a:ext cx="2489200" cy="889000"/>
          </a:xfrm>
          <a:prstGeom prst="rect">
            <a:avLst/>
          </a:prstGeom>
          <a:noFill/>
        </p:spPr>
        <p:txBody>
          <a:bodyPr wrap="square">
            <a:spAutoFit/>
          </a:bodyPr>
          <a:lstStyle/>
          <a:p>
            <a:r>
              <a:rPr sz="1019" b="0">
                <a:solidFill>
                  <a:srgbClr val="000000"/>
                </a:solidFill>
              </a:rPr>
              <a:t>40 MG VS CONTROL, AGE 51+</a:t>
            </a:r>
          </a:p>
          <a:p>
            <a:r>
              <a:rPr sz="960" b="1">
                <a:solidFill>
                  <a:srgbClr val="000000"/>
                </a:solidFill>
              </a:rPr>
              <a:t>6.20 mmHg</a:t>
            </a:r>
          </a:p>
          <a:p>
            <a:r>
              <a:rPr sz="1019" b="0">
                <a:solidFill>
                  <a:srgbClr val="000000"/>
                </a:solidFill>
              </a:rPr>
              <a:t>[4.0, 8.4] (90% WALD)</a:t>
            </a:r>
          </a:p>
        </p:txBody>
      </p:sp>
      <p:sp>
        <p:nvSpPr>
          <p:cNvPr id="7" name="TextBox 6"/>
          <p:cNvSpPr txBox="1"/>
          <p:nvPr/>
        </p:nvSpPr>
        <p:spPr>
          <a:xfrm>
            <a:off x="914400" y="2006600"/>
            <a:ext cx="10363200" cy="508000"/>
          </a:xfrm>
          <a:prstGeom prst="rect">
            <a:avLst/>
          </a:prstGeom>
          <a:noFill/>
        </p:spPr>
        <p:txBody>
          <a:bodyPr wrap="square">
            <a:spAutoFit/>
          </a:bodyPr>
          <a:lstStyle/>
          <a:p>
            <a:r>
              <a:rPr sz="1200" b="0">
                <a:solidFill>
                  <a:srgbClr val="000000"/>
                </a:solidFill>
              </a:rPr>
              <a:t>The comparison of active doses against control addresses the question and decision threshold specified in the introduction under the identification strategy from the methods. For 10 mg versus control, the pooled estimate is -5.27 mmHg (90% WALD -6.63 to -3.91 mmHg). For 20 mg versus control, the pooled estimate is -4.80 mmHg (90% WALD -6.17 to -3.44 mmHg). For 40 mg versus control, the pooled estimate is -1.53 mmHg (90% WALD -2.97 to -0.10 mmHg). These estimated quantities appear alongside their intervals and thresholds in Table 2. When evaluated within age categories, the estimate for 40 mg versus control in the age 25-35 group is -5.26 mmHg (90% WALD -8.17 to -2.36 mmHg). For 40 mg versus control in the age 51+ group, the estimate is 6.20 mmHg (90% WALD 3.98 to 8.42 mmHg). These estimated quantities and their intervals are displayed in Figure 2 relative to the decision threshold.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3200" cy="431800"/>
          </a:xfrm>
          <a:prstGeom prst="rect">
            <a:avLst/>
          </a:prstGeom>
          <a:noFill/>
        </p:spPr>
        <p:txBody>
          <a:bodyPr wrap="square">
            <a:spAutoFit/>
          </a:bodyPr>
          <a:lstStyle/>
          <a:p>
            <a:r>
              <a:rPr sz="1200" b="1">
                <a:solidFill>
                  <a:srgbClr val="000000"/>
                </a:solidFill>
              </a:rPr>
              <a:t>Results (cont.)</a:t>
            </a:r>
          </a:p>
        </p:txBody>
      </p:sp>
      <p:sp>
        <p:nvSpPr>
          <p:cNvPr id="3" name="TextBox 2"/>
          <p:cNvSpPr txBox="1"/>
          <p:nvPr/>
        </p:nvSpPr>
        <p:spPr>
          <a:xfrm>
            <a:off x="914400" y="965200"/>
            <a:ext cx="10261600" cy="889000"/>
          </a:xfrm>
          <a:prstGeom prst="rect">
            <a:avLst/>
          </a:prstGeom>
          <a:noFill/>
        </p:spPr>
        <p:txBody>
          <a:bodyPr wrap="square">
            <a:spAutoFit/>
          </a:bodyPr>
          <a:lstStyle/>
          <a:p>
            <a:r>
              <a:rPr sz="1019" b="0">
                <a:solidFill>
                  <a:srgbClr val="000000"/>
                </a:solidFill>
              </a:rPr>
              <a:t>40 MG VS CONTROL, AGE 25-35</a:t>
            </a:r>
          </a:p>
          <a:p>
            <a:r>
              <a:rPr sz="960" b="1">
                <a:solidFill>
                  <a:srgbClr val="000000"/>
                </a:solidFill>
              </a:rPr>
              <a:t>-5.26 mmHg</a:t>
            </a:r>
          </a:p>
          <a:p>
            <a:r>
              <a:rPr sz="1019" b="0">
                <a:solidFill>
                  <a:srgbClr val="000000"/>
                </a:solidFill>
              </a:rPr>
              <a:t>[-8.2, -2.4] (90% WALD)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3200" cy="431800"/>
          </a:xfrm>
          <a:prstGeom prst="rect">
            <a:avLst/>
          </a:prstGeom>
          <a:noFill/>
        </p:spPr>
        <p:txBody>
          <a:bodyPr wrap="square">
            <a:spAutoFit/>
          </a:bodyPr>
          <a:lstStyle/>
          <a:p>
            <a:r>
              <a:rPr sz="1200" b="1">
                <a:solidFill>
                  <a:srgbClr val="000000"/>
                </a:solidFill>
              </a:rPr>
              <a:t>Model checking</a:t>
            </a:r>
          </a:p>
        </p:txBody>
      </p:sp>
      <p:sp>
        <p:nvSpPr>
          <p:cNvPr id="3" name="TextBox 2"/>
          <p:cNvSpPr txBox="1"/>
          <p:nvPr/>
        </p:nvSpPr>
        <p:spPr>
          <a:xfrm>
            <a:off x="914400" y="965200"/>
            <a:ext cx="2489200" cy="889000"/>
          </a:xfrm>
          <a:prstGeom prst="rect">
            <a:avLst/>
          </a:prstGeom>
          <a:noFill/>
        </p:spPr>
        <p:txBody>
          <a:bodyPr wrap="square">
            <a:spAutoFit/>
          </a:bodyPr>
          <a:lstStyle/>
          <a:p>
            <a:r>
              <a:rPr sz="1019" b="0">
                <a:solidFill>
                  <a:srgbClr val="000000"/>
                </a:solidFill>
              </a:rPr>
              <a:t>UNITS STILL ON STUDY AT THE FINAL WEEK</a:t>
            </a:r>
          </a:p>
          <a:p>
            <a:r>
              <a:rPr sz="960" b="1">
                <a:solidFill>
                  <a:srgbClr val="000000"/>
                </a:solidFill>
              </a:rPr>
              <a:t>0.797</a:t>
            </a:r>
          </a:p>
        </p:txBody>
      </p:sp>
      <p:sp>
        <p:nvSpPr>
          <p:cNvPr id="4" name="TextBox 3"/>
          <p:cNvSpPr txBox="1"/>
          <p:nvPr/>
        </p:nvSpPr>
        <p:spPr>
          <a:xfrm>
            <a:off x="3505200" y="965200"/>
            <a:ext cx="2489200" cy="889000"/>
          </a:xfrm>
          <a:prstGeom prst="rect">
            <a:avLst/>
          </a:prstGeom>
          <a:noFill/>
        </p:spPr>
        <p:txBody>
          <a:bodyPr wrap="square">
            <a:spAutoFit/>
          </a:bodyPr>
          <a:lstStyle/>
          <a:p>
            <a:r>
              <a:rPr sz="1019" b="0">
                <a:solidFill>
                  <a:srgbClr val="000000"/>
                </a:solidFill>
              </a:rPr>
              <a:t>UNITS CONTRIBUTING TO THE PRIMARY ENDPOINT</a:t>
            </a:r>
          </a:p>
          <a:p>
            <a:r>
              <a:rPr sz="960" b="1">
                <a:solidFill>
                  <a:srgbClr val="000000"/>
                </a:solidFill>
              </a:rPr>
              <a:t>372</a:t>
            </a:r>
          </a:p>
        </p:txBody>
      </p:sp>
      <p:sp>
        <p:nvSpPr>
          <p:cNvPr id="5" name="TextBox 4"/>
          <p:cNvSpPr txBox="1"/>
          <p:nvPr/>
        </p:nvSpPr>
        <p:spPr>
          <a:xfrm>
            <a:off x="6096000" y="965200"/>
            <a:ext cx="2489200" cy="889000"/>
          </a:xfrm>
          <a:prstGeom prst="rect">
            <a:avLst/>
          </a:prstGeom>
          <a:noFill/>
        </p:spPr>
        <p:txBody>
          <a:bodyPr wrap="square">
            <a:spAutoFit/>
          </a:bodyPr>
          <a:lstStyle/>
          <a:p>
            <a:r>
              <a:rPr sz="1019" b="0">
                <a:solidFill>
                  <a:srgbClr val="000000"/>
                </a:solidFill>
              </a:rPr>
              <a:t>UNITS RANDOMIZED IN BAND AGE 25 35</a:t>
            </a:r>
          </a:p>
          <a:p>
            <a:r>
              <a:rPr sz="960" b="1">
                <a:solidFill>
                  <a:srgbClr val="000000"/>
                </a:solidFill>
              </a:rPr>
              <a:t>100</a:t>
            </a:r>
          </a:p>
        </p:txBody>
      </p:sp>
      <p:sp>
        <p:nvSpPr>
          <p:cNvPr id="6" name="TextBox 5"/>
          <p:cNvSpPr txBox="1"/>
          <p:nvPr/>
        </p:nvSpPr>
        <p:spPr>
          <a:xfrm>
            <a:off x="8686800" y="965200"/>
            <a:ext cx="2489200" cy="889000"/>
          </a:xfrm>
          <a:prstGeom prst="rect">
            <a:avLst/>
          </a:prstGeom>
          <a:noFill/>
        </p:spPr>
        <p:txBody>
          <a:bodyPr wrap="square">
            <a:spAutoFit/>
          </a:bodyPr>
          <a:lstStyle/>
          <a:p>
            <a:r>
              <a:rPr sz="1019" b="0">
                <a:solidFill>
                  <a:srgbClr val="000000"/>
                </a:solidFill>
              </a:rPr>
              <a:t>UNITS RANDOMIZED IN BAND AGE 36 50</a:t>
            </a:r>
          </a:p>
          <a:p>
            <a:r>
              <a:rPr sz="960" b="1">
                <a:solidFill>
                  <a:srgbClr val="000000"/>
                </a:solidFill>
              </a:rPr>
              <a:t>160</a:t>
            </a:r>
          </a:p>
        </p:txBody>
      </p:sp>
      <p:sp>
        <p:nvSpPr>
          <p:cNvPr id="7" name="TextBox 6"/>
          <p:cNvSpPr txBox="1"/>
          <p:nvPr/>
        </p:nvSpPr>
        <p:spPr>
          <a:xfrm>
            <a:off x="914400" y="2006600"/>
            <a:ext cx="10363200" cy="508000"/>
          </a:xfrm>
          <a:prstGeom prst="rect">
            <a:avLst/>
          </a:prstGeom>
          <a:noFill/>
        </p:spPr>
        <p:txBody>
          <a:bodyPr wrap="square">
            <a:spAutoFit/>
          </a:bodyPr>
          <a:lstStyle/>
          <a:p>
            <a:r>
              <a:rPr sz="1200" b="0">
                <a:solidFill>
                  <a:srgbClr val="000000"/>
                </a:solidFill>
              </a:rPr>
              <a:t>Diagnostic checks assess the behavior of the sample and model fit rather than the estimated effect. A check of this kind can lower confidence in an estimate and can never establish one. The recorded diagnostics for HYPER-3 are reported in Table 3. The fraction of units still on study at the final week was 0.797. The study includes 372 units contributing to the primary endpoint. Across age categories, there were 100 units randomized in band age 25 35. There were 160 units randomized in band age 36 50. The study recorded 140 units randomized in band age 51 plus. These metrics examine observed retention and sample partitions, whereas the broader assumptions specified in the methods remain unexamined by these diagnostic counts.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3200" cy="431800"/>
          </a:xfrm>
          <a:prstGeom prst="rect">
            <a:avLst/>
          </a:prstGeom>
          <a:noFill/>
        </p:spPr>
        <p:txBody>
          <a:bodyPr wrap="square">
            <a:spAutoFit/>
          </a:bodyPr>
          <a:lstStyle/>
          <a:p>
            <a:r>
              <a:rPr sz="1200" b="1">
                <a:solidFill>
                  <a:srgbClr val="000000"/>
                </a:solidFill>
              </a:rPr>
              <a:t>Model checking (cont.)</a:t>
            </a:r>
          </a:p>
        </p:txBody>
      </p:sp>
      <p:sp>
        <p:nvSpPr>
          <p:cNvPr id="3" name="TextBox 2"/>
          <p:cNvSpPr txBox="1"/>
          <p:nvPr/>
        </p:nvSpPr>
        <p:spPr>
          <a:xfrm>
            <a:off x="914400" y="965200"/>
            <a:ext cx="10261600" cy="889000"/>
          </a:xfrm>
          <a:prstGeom prst="rect">
            <a:avLst/>
          </a:prstGeom>
          <a:noFill/>
        </p:spPr>
        <p:txBody>
          <a:bodyPr wrap="square">
            <a:spAutoFit/>
          </a:bodyPr>
          <a:lstStyle/>
          <a:p>
            <a:r>
              <a:rPr sz="1019" b="0">
                <a:solidFill>
                  <a:srgbClr val="000000"/>
                </a:solidFill>
              </a:rPr>
              <a:t>UNITS RANDOMIZED IN BAND AGE 51 PLUS</a:t>
            </a:r>
          </a:p>
          <a:p>
            <a:r>
              <a:rPr sz="960" b="1">
                <a:solidFill>
                  <a:srgbClr val="000000"/>
                </a:solidFill>
              </a:rPr>
              <a:t>140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3200" cy="431800"/>
          </a:xfrm>
          <a:prstGeom prst="rect">
            <a:avLst/>
          </a:prstGeom>
          <a:noFill/>
        </p:spPr>
        <p:txBody>
          <a:bodyPr wrap="square">
            <a:spAutoFit/>
          </a:bodyPr>
          <a:lstStyle/>
          <a:p>
            <a:r>
              <a:rPr sz="1200" b="1">
                <a:solidFill>
                  <a:srgbClr val="000000"/>
                </a:solidFill>
              </a:rPr>
              <a:t>Discussion</a:t>
            </a:r>
          </a:p>
        </p:txBody>
      </p:sp>
      <p:sp>
        <p:nvSpPr>
          <p:cNvPr id="3" name="TextBox 2"/>
          <p:cNvSpPr txBox="1"/>
          <p:nvPr/>
        </p:nvSpPr>
        <p:spPr>
          <a:xfrm>
            <a:off x="914400" y="965200"/>
            <a:ext cx="10363200" cy="508000"/>
          </a:xfrm>
          <a:prstGeom prst="rect">
            <a:avLst/>
          </a:prstGeom>
          <a:noFill/>
        </p:spPr>
        <p:txBody>
          <a:bodyPr wrap="square">
            <a:spAutoFit/>
          </a:bodyPr>
          <a:lstStyle/>
          <a:p>
            <a:r>
              <a:rPr sz="1200" b="0">
                <a:solidFill>
                  <a:srgbClr val="000000"/>
                </a:solidFill>
              </a:rPr>
              <a:t>For 40 mg vs control in the age 51+ group, the estimate settled above the threshold on the unfavourable side, marking the primary divergence in these data. This result contrasts with the younger cohort, where 40 mg vs control for ages 25-35 settled below the threshold on the favourable side. The pooled comparisons mask this age variation: 40 mg vs control, 20 mg vs control, and 10 mg vs control each settled below the threshold on the favourable side when pooled. That divergence at 40 mg indicates that the favourable pooled finding does not extend to older participants. Because the analysis relies on the backdoor identification route established in the methods, these findings license reading the estimates as effects of the treatments rather than simple associations. They do not license inferences beyond what that identification structure supports. All interpretations remain conditional on 2 unresolved assumptions. The limitations section details what each of those assumptions claims. What was found is that while younger cohorts and lower pooled doses yield favourable outcomes, the highest dose produces an unfavourable outcome in older participants, raising the question of how phase III dose selection should manage age-specific risks.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3200" cy="431800"/>
          </a:xfrm>
          <a:prstGeom prst="rect">
            <a:avLst/>
          </a:prstGeom>
          <a:noFill/>
        </p:spPr>
        <p:txBody>
          <a:bodyPr wrap="square">
            <a:spAutoFit/>
          </a:bodyPr>
          <a:lstStyle/>
          <a:p>
            <a:r>
              <a:rPr sz="1200" b="1">
                <a:solidFill>
                  <a:srgbClr val="000000"/>
                </a:solidFill>
              </a:rPr>
              <a:t>Conclusions</a:t>
            </a:r>
          </a:p>
        </p:txBody>
      </p:sp>
      <p:sp>
        <p:nvSpPr>
          <p:cNvPr id="3" name="TextBox 2"/>
          <p:cNvSpPr txBox="1"/>
          <p:nvPr/>
        </p:nvSpPr>
        <p:spPr>
          <a:xfrm>
            <a:off x="914400" y="965200"/>
            <a:ext cx="10363200" cy="508000"/>
          </a:xfrm>
          <a:prstGeom prst="rect">
            <a:avLst/>
          </a:prstGeom>
          <a:noFill/>
        </p:spPr>
        <p:txBody>
          <a:bodyPr wrap="square">
            <a:spAutoFit/>
          </a:bodyPr>
          <a:lstStyle/>
          <a:p>
            <a:r>
              <a:rPr sz="1200" b="0">
                <a:solidFill>
                  <a:srgbClr val="000000"/>
                </a:solidFill>
              </a:rPr>
              <a:t>No single daily dose can be recommended for phase III across all groups, as the 40 mg dose harms older participants. For participants aged 51 and older, the 40 mg versus control contrast settled on the unfavourable side of the decision threshold at 6.20 mmHg (90% WALD 3.98 to 8.42 mmHg). Conversely, the pooled comparisons for 10 mg, 20 mg, and 40 mg versus control each settled on the favourable side of the threshold. The subgroup contrast for 40 mg versus control among participants aged 25 to 35 likewise settled on the favourable side. Because the subgroup results diverge across age brackets, a pooled figure averages benefit with harm. The effect is identified following the structure established in the methods. This answer is conditional on 2 unresolved assumptions stated in the limitations section. Specifically, the conclusions hold provided that dropout is ignorable given baseline and that the pooled contrast answers the question.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3200" cy="431800"/>
          </a:xfrm>
          <a:prstGeom prst="rect">
            <a:avLst/>
          </a:prstGeom>
          <a:noFill/>
        </p:spPr>
        <p:txBody>
          <a:bodyPr wrap="square">
            <a:spAutoFit/>
          </a:bodyPr>
          <a:lstStyle/>
          <a:p>
            <a:r>
              <a:rPr sz="1200" b="1">
                <a:solidFill>
                  <a:srgbClr val="000000"/>
                </a:solidFill>
              </a:rPr>
              <a:t>Limitations</a:t>
            </a:r>
          </a:p>
        </p:txBody>
      </p:sp>
      <p:sp>
        <p:nvSpPr>
          <p:cNvPr id="3" name="TextBox 2"/>
          <p:cNvSpPr txBox="1"/>
          <p:nvPr/>
        </p:nvSpPr>
        <p:spPr>
          <a:xfrm>
            <a:off x="914400" y="965200"/>
            <a:ext cx="10363200" cy="508000"/>
          </a:xfrm>
          <a:prstGeom prst="rect">
            <a:avLst/>
          </a:prstGeom>
          <a:noFill/>
        </p:spPr>
        <p:txBody>
          <a:bodyPr wrap="square">
            <a:spAutoFit/>
          </a:bodyPr>
          <a:lstStyle/>
          <a:p>
            <a:r>
              <a:rPr sz="1200" b="0">
                <a:solidFill>
                  <a:srgbClr val="000000"/>
                </a:solidFill>
              </a:rPr>
              <a:t>The analysis relies on standing assumptions, beginning with one that is violated. The assumption that the pooled contrast answers the question claims that a single number over all age bands describes the effect the decision is about. This assumption licenses using an aggregate contrast to address the decision problem set out in the introduction. That claim is challenged by heterogeneity across the pre-specified strata. In addition, the assumption that dropout is ignorable given baseline remains unverified. This assumption claims that units who left the study differ from those who stayed only through what was measured before randomization. It licenses the identified effect despite subject attrition under the design described in the methods. This condition is challenged by a tipping-point analysis over plausible departures from ignorability.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3200" cy="431800"/>
          </a:xfrm>
          <a:prstGeom prst="rect">
            <a:avLst/>
          </a:prstGeom>
          <a:noFill/>
        </p:spPr>
        <p:txBody>
          <a:bodyPr wrap="square">
            <a:spAutoFit/>
          </a:bodyPr>
          <a:lstStyle/>
          <a:p>
            <a:r>
              <a:rPr sz="1200" b="1">
                <a:solidFill>
                  <a:srgbClr val="000000"/>
                </a:solidFill>
              </a:rPr>
              <a:t>Provenance</a:t>
            </a:r>
          </a:p>
        </p:txBody>
      </p:sp>
      <p:sp>
        <p:nvSpPr>
          <p:cNvPr id="3" name="TextBox 2"/>
          <p:cNvSpPr txBox="1"/>
          <p:nvPr/>
        </p:nvSpPr>
        <p:spPr>
          <a:xfrm>
            <a:off x="914400" y="965200"/>
            <a:ext cx="10363200" cy="508000"/>
          </a:xfrm>
          <a:prstGeom prst="rect">
            <a:avLst/>
          </a:prstGeom>
          <a:noFill/>
        </p:spPr>
        <p:txBody>
          <a:bodyPr wrap="square">
            <a:spAutoFit/>
          </a:bodyPr>
          <a:lstStyle/>
          <a:p>
            <a:r>
              <a:rPr sz="1200" b="0">
                <a:solidFill>
                  <a:srgbClr val="000000"/>
                </a:solidFill>
              </a:rPr>
              <a:t>Every number in this document resolves to a quantity in the evidence record below. Prose was checked against that record: any numeral not traceable to it, and any claim the record does not itself make, is reported rather than published.</a:t>
            </a:r>
          </a:p>
        </p:txBody>
      </p:sp>
      <p:graphicFrame>
        <p:nvGraphicFramePr>
          <p:cNvPr id="4" name="Table 3"/>
          <p:cNvGraphicFramePr>
            <a:graphicFrameLocks noGrp="1"/>
          </p:cNvGraphicFramePr>
          <p:nvPr/>
        </p:nvGraphicFramePr>
        <p:xfrm>
          <a:off x="914400" y="1371600"/>
          <a:ext cx="10363200" cy="3352800"/>
        </p:xfrm>
        <a:graphic>
          <a:graphicData uri="http://schemas.openxmlformats.org/drawingml/2006/table">
            <a:tbl>
              <a:tblPr firstRow="1" bandRow="1">
                <a:tableStyleId>{5C22544A-7EE6-4342-B048-85BDC9FD1C3A}</a:tableStyleId>
              </a:tblPr>
              <a:tblGrid>
                <a:gridCol w="2590800"/>
                <a:gridCol w="2590800"/>
                <a:gridCol w="2590800"/>
                <a:gridCol w="2590800"/>
              </a:tblGrid>
              <a:tr h="304800">
                <a:tc>
                  <a:txBody>
                    <a:bodyPr/>
                    <a:lstStyle/>
                    <a:p>
                      <a:r>
                        <a:rPr sz="1019" b="1">
                          <a:solidFill>
                            <a:srgbClr val="000000"/>
                          </a:solidFill>
                        </a:rPr>
                        <a:t>Quantity</a:t>
                      </a:r>
                    </a:p>
                  </a:txBody>
                  <a:tcPr/>
                </a:tc>
                <a:tc>
                  <a:txBody>
                    <a:bodyPr/>
                    <a:lstStyle/>
                    <a:p>
                      <a:r>
                        <a:rPr sz="1019" b="1">
                          <a:solidFill>
                            <a:srgbClr val="000000"/>
                          </a:solidFill>
                        </a:rPr>
                        <a:t>Key</a:t>
                      </a:r>
                    </a:p>
                  </a:txBody>
                  <a:tcPr/>
                </a:tc>
                <a:tc>
                  <a:txBody>
                    <a:bodyPr/>
                    <a:lstStyle/>
                    <a:p>
                      <a:r>
                        <a:rPr sz="1019" b="1">
                          <a:solidFill>
                            <a:srgbClr val="000000"/>
                          </a:solidFill>
                        </a:rPr>
                        <a:t>Value</a:t>
                      </a:r>
                    </a:p>
                  </a:txBody>
                  <a:tcPr/>
                </a:tc>
                <a:tc>
                  <a:txBody>
                    <a:bodyPr/>
                    <a:lstStyle/>
                    <a:p>
                      <a:r>
                        <a:rPr sz="1019" b="1">
                          <a:solidFill>
                            <a:srgbClr val="000000"/>
                          </a:solidFill>
                        </a:rPr>
                        <a:t>Produced by</a:t>
                      </a:r>
                    </a:p>
                  </a:txBody>
                  <a:tcPr/>
                </a:tc>
              </a:tr>
              <a:tr h="304800">
                <a:tc>
                  <a:txBody>
                    <a:bodyPr/>
                    <a:lstStyle/>
                    <a:p>
                      <a:r>
                        <a:rPr sz="1019" b="0">
                          <a:solidFill>
                            <a:srgbClr val="000000"/>
                          </a:solidFill>
                        </a:rPr>
                        <a:t>40 mg vs control, pooled</a:t>
                      </a:r>
                    </a:p>
                  </a:txBody>
                  <a:tcPr/>
                </a:tc>
                <a:tc>
                  <a:txBody>
                    <a:bodyPr/>
                    <a:lstStyle/>
                    <a:p>
                      <a:r>
                        <a:rPr sz="1019" b="0">
                          <a:solidFill>
                            <a:srgbClr val="000000"/>
                          </a:solidFill>
                        </a:rPr>
                        <a:t>pooled_40</a:t>
                      </a:r>
                    </a:p>
                  </a:txBody>
                  <a:tcPr/>
                </a:tc>
                <a:tc>
                  <a:txBody>
                    <a:bodyPr/>
                    <a:lstStyle/>
                    <a:p>
                      <a:r>
                        <a:rPr sz="1019" b="0">
                          <a:solidFill>
                            <a:srgbClr val="000000"/>
                          </a:solidFill>
                        </a:rPr>
                        <a:t>-1.53 mmHg (90% WALD -2.97 to -0.10 mmHg)</a:t>
                      </a:r>
                    </a:p>
                  </a:txBody>
                  <a:tcPr/>
                </a:tc>
                <a:tc>
                  <a:txBody>
                    <a:bodyPr/>
                    <a:lstStyle/>
                    <a:p>
                      <a:r>
                        <a:rPr sz="1019" b="0">
                          <a:solidFill>
                            <a:srgbClr val="000000"/>
                          </a:solidFill>
                        </a:rPr>
                        <a:t>identify.ols (ANCOVA)</a:t>
                      </a:r>
                    </a:p>
                  </a:txBody>
                  <a:tcPr/>
                </a:tc>
              </a:tr>
              <a:tr h="304800">
                <a:tc>
                  <a:txBody>
                    <a:bodyPr/>
                    <a:lstStyle/>
                    <a:p>
                      <a:r>
                        <a:rPr sz="1019" b="0">
                          <a:solidFill>
                            <a:srgbClr val="000000"/>
                          </a:solidFill>
                        </a:rPr>
                        <a:t>20 mg vs control, pooled</a:t>
                      </a:r>
                    </a:p>
                  </a:txBody>
                  <a:tcPr/>
                </a:tc>
                <a:tc>
                  <a:txBody>
                    <a:bodyPr/>
                    <a:lstStyle/>
                    <a:p>
                      <a:r>
                        <a:rPr sz="1019" b="0">
                          <a:solidFill>
                            <a:srgbClr val="000000"/>
                          </a:solidFill>
                        </a:rPr>
                        <a:t>pooled_20</a:t>
                      </a:r>
                    </a:p>
                  </a:txBody>
                  <a:tcPr/>
                </a:tc>
                <a:tc>
                  <a:txBody>
                    <a:bodyPr/>
                    <a:lstStyle/>
                    <a:p>
                      <a:r>
                        <a:rPr sz="1019" b="0">
                          <a:solidFill>
                            <a:srgbClr val="000000"/>
                          </a:solidFill>
                        </a:rPr>
                        <a:t>-4.80 mmHg (90% WALD -6.17 to -3.44 mmHg)</a:t>
                      </a:r>
                    </a:p>
                  </a:txBody>
                  <a:tcPr/>
                </a:tc>
                <a:tc>
                  <a:txBody>
                    <a:bodyPr/>
                    <a:lstStyle/>
                    <a:p>
                      <a:r>
                        <a:rPr sz="1019" b="0">
                          <a:solidFill>
                            <a:srgbClr val="000000"/>
                          </a:solidFill>
                        </a:rPr>
                        <a:t>identify.ols (ANCOVA)</a:t>
                      </a:r>
                    </a:p>
                  </a:txBody>
                  <a:tcPr/>
                </a:tc>
              </a:tr>
              <a:tr h="304800">
                <a:tc>
                  <a:txBody>
                    <a:bodyPr/>
                    <a:lstStyle/>
                    <a:p>
                      <a:r>
                        <a:rPr sz="1019" b="0">
                          <a:solidFill>
                            <a:srgbClr val="000000"/>
                          </a:solidFill>
                        </a:rPr>
                        <a:t>10 mg vs control, pooled</a:t>
                      </a:r>
                    </a:p>
                  </a:txBody>
                  <a:tcPr/>
                </a:tc>
                <a:tc>
                  <a:txBody>
                    <a:bodyPr/>
                    <a:lstStyle/>
                    <a:p>
                      <a:r>
                        <a:rPr sz="1019" b="0">
                          <a:solidFill>
                            <a:srgbClr val="000000"/>
                          </a:solidFill>
                        </a:rPr>
                        <a:t>pooled_10</a:t>
                      </a:r>
                    </a:p>
                  </a:txBody>
                  <a:tcPr/>
                </a:tc>
                <a:tc>
                  <a:txBody>
                    <a:bodyPr/>
                    <a:lstStyle/>
                    <a:p>
                      <a:r>
                        <a:rPr sz="1019" b="0">
                          <a:solidFill>
                            <a:srgbClr val="000000"/>
                          </a:solidFill>
                        </a:rPr>
                        <a:t>-5.27 mmHg (90% WALD -6.63 to -3.91 mmHg)</a:t>
                      </a:r>
                    </a:p>
                  </a:txBody>
                  <a:tcPr/>
                </a:tc>
                <a:tc>
                  <a:txBody>
                    <a:bodyPr/>
                    <a:lstStyle/>
                    <a:p>
                      <a:r>
                        <a:rPr sz="1019" b="0">
                          <a:solidFill>
                            <a:srgbClr val="000000"/>
                          </a:solidFill>
                        </a:rPr>
                        <a:t>identify.ols (ANCOVA)</a:t>
                      </a:r>
                    </a:p>
                  </a:txBody>
                  <a:tcPr/>
                </a:tc>
              </a:tr>
              <a:tr h="304800">
                <a:tc>
                  <a:txBody>
                    <a:bodyPr/>
                    <a:lstStyle/>
                    <a:p>
                      <a:r>
                        <a:rPr sz="1019" b="0">
                          <a:solidFill>
                            <a:srgbClr val="000000"/>
                          </a:solidFill>
                        </a:rPr>
                        <a:t>40 mg vs control, age 51+</a:t>
                      </a:r>
                    </a:p>
                  </a:txBody>
                  <a:tcPr/>
                </a:tc>
                <a:tc>
                  <a:txBody>
                    <a:bodyPr/>
                    <a:lstStyle/>
                    <a:p>
                      <a:r>
                        <a:rPr sz="1019" b="0">
                          <a:solidFill>
                            <a:srgbClr val="000000"/>
                          </a:solidFill>
                        </a:rPr>
                        <a:t>oldest_40</a:t>
                      </a:r>
                    </a:p>
                  </a:txBody>
                  <a:tcPr/>
                </a:tc>
                <a:tc>
                  <a:txBody>
                    <a:bodyPr/>
                    <a:lstStyle/>
                    <a:p>
                      <a:r>
                        <a:rPr sz="1019" b="0">
                          <a:solidFill>
                            <a:srgbClr val="000000"/>
                          </a:solidFill>
                        </a:rPr>
                        <a:t>6.20 mmHg (90% WALD 3.98 to 8.42 mmHg)</a:t>
                      </a:r>
                    </a:p>
                  </a:txBody>
                  <a:tcPr/>
                </a:tc>
                <a:tc>
                  <a:txBody>
                    <a:bodyPr/>
                    <a:lstStyle/>
                    <a:p>
                      <a:r>
                        <a:rPr sz="1019" b="0">
                          <a:solidFill>
                            <a:srgbClr val="000000"/>
                          </a:solidFill>
                        </a:rPr>
                        <a:t>identify.ols (ANCOVA)</a:t>
                      </a:r>
                    </a:p>
                  </a:txBody>
                  <a:tcPr/>
                </a:tc>
              </a:tr>
              <a:tr h="304800">
                <a:tc>
                  <a:txBody>
                    <a:bodyPr/>
                    <a:lstStyle/>
                    <a:p>
                      <a:r>
                        <a:rPr sz="1019" b="0">
                          <a:solidFill>
                            <a:srgbClr val="000000"/>
                          </a:solidFill>
                        </a:rPr>
                        <a:t>40 mg vs control, age 25-35</a:t>
                      </a:r>
                    </a:p>
                  </a:txBody>
                  <a:tcPr/>
                </a:tc>
                <a:tc>
                  <a:txBody>
                    <a:bodyPr/>
                    <a:lstStyle/>
                    <a:p>
                      <a:r>
                        <a:rPr sz="1019" b="0">
                          <a:solidFill>
                            <a:srgbClr val="000000"/>
                          </a:solidFill>
                        </a:rPr>
                        <a:t>youngest_40</a:t>
                      </a:r>
                    </a:p>
                  </a:txBody>
                  <a:tcPr/>
                </a:tc>
                <a:tc>
                  <a:txBody>
                    <a:bodyPr/>
                    <a:lstStyle/>
                    <a:p>
                      <a:r>
                        <a:rPr sz="1019" b="0">
                          <a:solidFill>
                            <a:srgbClr val="000000"/>
                          </a:solidFill>
                        </a:rPr>
                        <a:t>-5.26 mmHg (90% WALD -8.17 to -2.36 mmHg)</a:t>
                      </a:r>
                    </a:p>
                  </a:txBody>
                  <a:tcPr/>
                </a:tc>
                <a:tc>
                  <a:txBody>
                    <a:bodyPr/>
                    <a:lstStyle/>
                    <a:p>
                      <a:r>
                        <a:rPr sz="1019" b="0">
                          <a:solidFill>
                            <a:srgbClr val="000000"/>
                          </a:solidFill>
                        </a:rPr>
                        <a:t>identify.ols (ANCOVA)</a:t>
                      </a:r>
                    </a:p>
                  </a:txBody>
                  <a:tcPr/>
                </a:tc>
              </a:tr>
              <a:tr h="304800">
                <a:tc>
                  <a:txBody>
                    <a:bodyPr/>
                    <a:lstStyle/>
                    <a:p>
                      <a:r>
                        <a:rPr sz="1019" b="0">
                          <a:solidFill>
                            <a:srgbClr val="000000"/>
                          </a:solidFill>
                        </a:rPr>
                        <a:t>Units still on study at the final week</a:t>
                      </a:r>
                    </a:p>
                  </a:txBody>
                  <a:tcPr/>
                </a:tc>
                <a:tc>
                  <a:txBody>
                    <a:bodyPr/>
                    <a:lstStyle/>
                    <a:p>
                      <a:r>
                        <a:rPr sz="1019" b="0">
                          <a:solidFill>
                            <a:srgbClr val="000000"/>
                          </a:solidFill>
                        </a:rPr>
                        <a:t>retention</a:t>
                      </a:r>
                    </a:p>
                  </a:txBody>
                  <a:tcPr/>
                </a:tc>
                <a:tc>
                  <a:txBody>
                    <a:bodyPr/>
                    <a:lstStyle/>
                    <a:p>
                      <a:r>
                        <a:rPr sz="1019" b="0">
                          <a:solidFill>
                            <a:srgbClr val="000000"/>
                          </a:solidFill>
                        </a:rPr>
                        <a:t>0.797</a:t>
                      </a:r>
                    </a:p>
                  </a:txBody>
                  <a:tcPr/>
                </a:tc>
                <a:tc>
                  <a:txBody>
                    <a:bodyPr/>
                    <a:lstStyle/>
                    <a:p>
                      <a:r>
                        <a:rPr sz="1019" b="0">
                          <a:solidFill>
                            <a:srgbClr val="000000"/>
                          </a:solidFill>
                        </a:rPr>
                        <a:t>—</a:t>
                      </a:r>
                    </a:p>
                  </a:txBody>
                  <a:tcPr/>
                </a:tc>
              </a:tr>
              <a:tr h="304800">
                <a:tc>
                  <a:txBody>
                    <a:bodyPr/>
                    <a:lstStyle/>
                    <a:p>
                      <a:r>
                        <a:rPr sz="1019" b="0">
                          <a:solidFill>
                            <a:srgbClr val="000000"/>
                          </a:solidFill>
                        </a:rPr>
                        <a:t>Units contributing to the primary endpoint</a:t>
                      </a:r>
                    </a:p>
                  </a:txBody>
                  <a:tcPr/>
                </a:tc>
                <a:tc>
                  <a:txBody>
                    <a:bodyPr/>
                    <a:lstStyle/>
                    <a:p>
                      <a:r>
                        <a:rPr sz="1019" b="0">
                          <a:solidFill>
                            <a:srgbClr val="000000"/>
                          </a:solidFill>
                        </a:rPr>
                        <a:t>analysed</a:t>
                      </a:r>
                    </a:p>
                  </a:txBody>
                  <a:tcPr/>
                </a:tc>
                <a:tc>
                  <a:txBody>
                    <a:bodyPr/>
                    <a:lstStyle/>
                    <a:p>
                      <a:r>
                        <a:rPr sz="1019" b="0">
                          <a:solidFill>
                            <a:srgbClr val="000000"/>
                          </a:solidFill>
                        </a:rPr>
                        <a:t>372</a:t>
                      </a:r>
                    </a:p>
                  </a:txBody>
                  <a:tcPr/>
                </a:tc>
                <a:tc>
                  <a:txBody>
                    <a:bodyPr/>
                    <a:lstStyle/>
                    <a:p>
                      <a:r>
                        <a:rPr sz="1019" b="0">
                          <a:solidFill>
                            <a:srgbClr val="000000"/>
                          </a:solidFill>
                        </a:rPr>
                        <a:t>—</a:t>
                      </a:r>
                    </a:p>
                  </a:txBody>
                  <a:tcPr/>
                </a:tc>
              </a:tr>
              <a:tr h="304800">
                <a:tc>
                  <a:txBody>
                    <a:bodyPr/>
                    <a:lstStyle/>
                    <a:p>
                      <a:r>
                        <a:rPr sz="1019" b="0">
                          <a:solidFill>
                            <a:srgbClr val="000000"/>
                          </a:solidFill>
                        </a:rPr>
                        <a:t>Units randomized in band age 25 35</a:t>
                      </a:r>
                    </a:p>
                  </a:txBody>
                  <a:tcPr/>
                </a:tc>
                <a:tc>
                  <a:txBody>
                    <a:bodyPr/>
                    <a:lstStyle/>
                    <a:p>
                      <a:r>
                        <a:rPr sz="1019" b="0">
                          <a:solidFill>
                            <a:srgbClr val="000000"/>
                          </a:solidFill>
                        </a:rPr>
                        <a:t>n_age_25_35</a:t>
                      </a:r>
                    </a:p>
                  </a:txBody>
                  <a:tcPr/>
                </a:tc>
                <a:tc>
                  <a:txBody>
                    <a:bodyPr/>
                    <a:lstStyle/>
                    <a:p>
                      <a:r>
                        <a:rPr sz="1019" b="0">
                          <a:solidFill>
                            <a:srgbClr val="000000"/>
                          </a:solidFill>
                        </a:rPr>
                        <a:t>100</a:t>
                      </a:r>
                    </a:p>
                  </a:txBody>
                  <a:tcPr/>
                </a:tc>
                <a:tc>
                  <a:txBody>
                    <a:bodyPr/>
                    <a:lstStyle/>
                    <a:p>
                      <a:r>
                        <a:rPr sz="1019" b="0">
                          <a:solidFill>
                            <a:srgbClr val="000000"/>
                          </a:solidFill>
                        </a:rPr>
                        <a:t>—</a:t>
                      </a:r>
                    </a:p>
                  </a:txBody>
                  <a:tcPr/>
                </a:tc>
              </a:tr>
              <a:tr h="304800">
                <a:tc>
                  <a:txBody>
                    <a:bodyPr/>
                    <a:lstStyle/>
                    <a:p>
                      <a:r>
                        <a:rPr sz="1019" b="0">
                          <a:solidFill>
                            <a:srgbClr val="000000"/>
                          </a:solidFill>
                        </a:rPr>
                        <a:t>Units randomized in band age 36 50</a:t>
                      </a:r>
                    </a:p>
                  </a:txBody>
                  <a:tcPr/>
                </a:tc>
                <a:tc>
                  <a:txBody>
                    <a:bodyPr/>
                    <a:lstStyle/>
                    <a:p>
                      <a:r>
                        <a:rPr sz="1019" b="0">
                          <a:solidFill>
                            <a:srgbClr val="000000"/>
                          </a:solidFill>
                        </a:rPr>
                        <a:t>n_age_36_50</a:t>
                      </a:r>
                    </a:p>
                  </a:txBody>
                  <a:tcPr/>
                </a:tc>
                <a:tc>
                  <a:txBody>
                    <a:bodyPr/>
                    <a:lstStyle/>
                    <a:p>
                      <a:r>
                        <a:rPr sz="1019" b="0">
                          <a:solidFill>
                            <a:srgbClr val="000000"/>
                          </a:solidFill>
                        </a:rPr>
                        <a:t>160</a:t>
                      </a:r>
                    </a:p>
                  </a:txBody>
                  <a:tcPr/>
                </a:tc>
                <a:tc>
                  <a:txBody>
                    <a:bodyPr/>
                    <a:lstStyle/>
                    <a:p>
                      <a:r>
                        <a:rPr sz="1019" b="0">
                          <a:solidFill>
                            <a:srgbClr val="000000"/>
                          </a:solidFill>
                        </a:rPr>
                        <a:t>—</a:t>
                      </a:r>
                    </a:p>
                  </a:txBody>
                  <a:tcPr/>
                </a:tc>
              </a:tr>
              <a:tr h="304800">
                <a:tc>
                  <a:txBody>
                    <a:bodyPr/>
                    <a:lstStyle/>
                    <a:p>
                      <a:r>
                        <a:rPr sz="1019" b="0">
                          <a:solidFill>
                            <a:srgbClr val="000000"/>
                          </a:solidFill>
                        </a:rPr>
                        <a:t>Units randomized in band age 51 plus</a:t>
                      </a:r>
                    </a:p>
                  </a:txBody>
                  <a:tcPr/>
                </a:tc>
                <a:tc>
                  <a:txBody>
                    <a:bodyPr/>
                    <a:lstStyle/>
                    <a:p>
                      <a:r>
                        <a:rPr sz="1019" b="0">
                          <a:solidFill>
                            <a:srgbClr val="000000"/>
                          </a:solidFill>
                        </a:rPr>
                        <a:t>n_age_51_plus</a:t>
                      </a:r>
                    </a:p>
                  </a:txBody>
                  <a:tcPr/>
                </a:tc>
                <a:tc>
                  <a:txBody>
                    <a:bodyPr/>
                    <a:lstStyle/>
                    <a:p>
                      <a:r>
                        <a:rPr sz="1019" b="0">
                          <a:solidFill>
                            <a:srgbClr val="000000"/>
                          </a:solidFill>
                        </a:rPr>
                        <a:t>140</a:t>
                      </a:r>
                    </a:p>
                  </a:txBody>
                  <a:tcPr/>
                </a:tc>
                <a:tc>
                  <a:txBody>
                    <a:bodyPr/>
                    <a:lstStyle/>
                    <a:p>
                      <a:r>
                        <a:rPr sz="1019" b="0">
                          <a:solidFill>
                            <a:srgbClr val="000000"/>
                          </a:solidFill>
                        </a:rPr>
                        <a:t>—</a:t>
                      </a:r>
                    </a:p>
                  </a:txBody>
                  <a:tcPr/>
                </a:tc>
              </a:tr>
            </a:tbl>
          </a:graphicData>
        </a:graphic>
      </p:graphicFrame>
      <p:graphicFrame>
        <p:nvGraphicFramePr>
          <p:cNvPr id="5" name="Table 4"/>
          <p:cNvGraphicFramePr>
            <a:graphicFrameLocks noGrp="1"/>
          </p:cNvGraphicFramePr>
          <p:nvPr/>
        </p:nvGraphicFramePr>
        <p:xfrm>
          <a:off x="914400" y="4876800"/>
          <a:ext cx="10363200" cy="1066800"/>
        </p:xfrm>
        <a:graphic>
          <a:graphicData uri="http://schemas.openxmlformats.org/drawingml/2006/table">
            <a:tbl>
              <a:tblPr firstRow="1" bandRow="1">
                <a:tableStyleId>{5C22544A-7EE6-4342-B048-85BDC9FD1C3A}</a:tableStyleId>
              </a:tblPr>
              <a:tblGrid>
                <a:gridCol w="5181600"/>
                <a:gridCol w="5181600"/>
              </a:tblGrid>
              <a:tr h="71120">
                <a:tc>
                  <a:txBody>
                    <a:bodyPr/>
                    <a:lstStyle/>
                    <a:p>
                      <a:r>
                        <a:rPr sz="1019" b="1">
                          <a:solidFill>
                            <a:srgbClr val="000000"/>
                          </a:solidFill>
                        </a:rPr>
                        <a:t>Field</a:t>
                      </a:r>
                    </a:p>
                  </a:txBody>
                  <a:tcPr/>
                </a:tc>
                <a:tc>
                  <a:txBody>
                    <a:bodyPr/>
                    <a:lstStyle/>
                    <a:p>
                      <a:r>
                        <a:rPr sz="1019" b="1">
                          <a:solidFill>
                            <a:srgbClr val="000000"/>
                          </a:solidFill>
                        </a:rPr>
                        <a:t>Value</a:t>
                      </a:r>
                    </a:p>
                  </a:txBody>
                  <a:tcPr/>
                </a:tc>
              </a:tr>
              <a:tr h="71120">
                <a:tc>
                  <a:txBody>
                    <a:bodyPr/>
                    <a:lstStyle/>
                    <a:p>
                      <a:r>
                        <a:rPr sz="1019" b="0">
                          <a:solidFill>
                            <a:srgbClr val="000000"/>
                          </a:solidFill>
                        </a:rPr>
                        <a:t>endpoint</a:t>
                      </a:r>
                    </a:p>
                  </a:txBody>
                  <a:tcPr/>
                </a:tc>
                <a:tc>
                  <a:txBody>
                    <a:bodyPr/>
                    <a:lstStyle/>
                    <a:p>
                      <a:r>
                        <a:rPr sz="1019" b="0">
                          <a:solidFill>
                            <a:srgbClr val="000000"/>
                          </a:solidFill>
                        </a:rPr>
                        <a:t>mean change, weeks 9-12</a:t>
                      </a:r>
                    </a:p>
                  </a:txBody>
                  <a:tcPr/>
                </a:tc>
              </a:tr>
              <a:tr h="71120">
                <a:tc>
                  <a:txBody>
                    <a:bodyPr/>
                    <a:lstStyle/>
                    <a:p>
                      <a:r>
                        <a:rPr sz="1019" b="0">
                          <a:solidFill>
                            <a:srgbClr val="000000"/>
                          </a:solidFill>
                        </a:rPr>
                        <a:t>interval_mass</a:t>
                      </a:r>
                    </a:p>
                  </a:txBody>
                  <a:tcPr/>
                </a:tc>
                <a:tc>
                  <a:txBody>
                    <a:bodyPr/>
                    <a:lstStyle/>
                    <a:p>
                      <a:r>
                        <a:rPr sz="1019" b="0">
                          <a:solidFill>
                            <a:srgbClr val="000000"/>
                          </a:solidFill>
                        </a:rPr>
                        <a:t>90%</a:t>
                      </a:r>
                    </a:p>
                  </a:txBody>
                  <a:tcPr/>
                </a:tc>
              </a:tr>
              <a:tr h="71120">
                <a:tc>
                  <a:txBody>
                    <a:bodyPr/>
                    <a:lstStyle/>
                    <a:p>
                      <a:r>
                        <a:rPr sz="1019" b="0">
                          <a:solidFill>
                            <a:srgbClr val="000000"/>
                          </a:solidFill>
                        </a:rPr>
                        <a:t>seed</a:t>
                      </a:r>
                    </a:p>
                  </a:txBody>
                  <a:tcPr/>
                </a:tc>
                <a:tc>
                  <a:txBody>
                    <a:bodyPr/>
                    <a:lstStyle/>
                    <a:p>
                      <a:r>
                        <a:rPr sz="1019" b="0">
                          <a:solidFill>
                            <a:srgbClr val="000000"/>
                          </a:solidFill>
                        </a:rPr>
                        <a:t>20260821</a:t>
                      </a:r>
                    </a:p>
                  </a:txBody>
                  <a:tcPr/>
                </a:tc>
              </a:tr>
              <a:tr h="71120">
                <a:tc>
                  <a:txBody>
                    <a:bodyPr/>
                    <a:lstStyle/>
                    <a:p>
                      <a:r>
                        <a:rPr sz="1019" b="0">
                          <a:solidFill>
                            <a:srgbClr val="000000"/>
                          </a:solidFill>
                        </a:rPr>
                        <a:t>world</a:t>
                      </a:r>
                    </a:p>
                  </a:txBody>
                  <a:tcPr/>
                </a:tc>
                <a:tc>
                  <a:txBody>
                    <a:bodyPr/>
                    <a:lstStyle/>
                    <a:p>
                      <a:r>
                        <a:rPr sz="1019" b="0">
                          <a:solidFill>
                            <a:srgbClr val="000000"/>
                          </a:solidFill>
                        </a:rPr>
                        <a:t>nbs/case-studies/hypertension/hyper3.py</a:t>
                      </a:r>
                    </a:p>
                  </a:txBody>
                  <a:tcPr/>
                </a:tc>
              </a:tr>
              <a:tr h="71120">
                <a:tc>
                  <a:txBody>
                    <a:bodyPr/>
                    <a:lstStyle/>
                    <a:p>
                      <a:r>
                        <a:rPr sz="1019" b="0">
                          <a:solidFill>
                            <a:srgbClr val="000000"/>
                          </a:solidFill>
                        </a:rPr>
                        <a:t>evidence hash</a:t>
                      </a:r>
                    </a:p>
                  </a:txBody>
                  <a:tcPr/>
                </a:tc>
                <a:tc>
                  <a:txBody>
                    <a:bodyPr/>
                    <a:lstStyle/>
                    <a:p>
                      <a:r>
                        <a:rPr sz="1019" b="0">
                          <a:solidFill>
                            <a:srgbClr val="000000"/>
                          </a:solidFill>
                        </a:rPr>
                        <a:t>f6c953a837c79459cb14b031868abf7f0b1adb6e235b32abca19246ffd9d5ecc</a:t>
                      </a:r>
                    </a:p>
                  </a:txBody>
                  <a:tcPr/>
                </a:tc>
              </a:tr>
              <a:tr h="71120">
                <a:tc>
                  <a:txBody>
                    <a:bodyPr/>
                    <a:lstStyle/>
                    <a:p>
                      <a:r>
                        <a:rPr sz="1019" b="0">
                          <a:solidFill>
                            <a:srgbClr val="000000"/>
                          </a:solidFill>
                        </a:rPr>
                        <a:t>narration: abstract</a:t>
                      </a:r>
                    </a:p>
                  </a:txBody>
                  <a:tcPr/>
                </a:tc>
                <a:tc>
                  <a:txBody>
                    <a:bodyPr/>
                    <a:lstStyle/>
                    <a:p>
                      <a:r>
                        <a:rPr sz="1019" b="0">
                          <a:solidFill>
                            <a:srgbClr val="000000"/>
                          </a:solidFill>
                        </a:rPr>
                        <a:t>gemini-3.5-flash-lite — verified</a:t>
                      </a:r>
                    </a:p>
                  </a:txBody>
                  <a:tcPr/>
                </a:tc>
              </a:tr>
              <a:tr h="71120">
                <a:tc>
                  <a:txBody>
                    <a:bodyPr/>
                    <a:lstStyle/>
                    <a:p>
                      <a:r>
                        <a:rPr sz="1019" b="0">
                          <a:solidFill>
                            <a:srgbClr val="000000"/>
                          </a:solidFill>
                        </a:rPr>
                        <a:t>narration: title_page</a:t>
                      </a:r>
                    </a:p>
                  </a:txBody>
                  <a:tcPr/>
                </a:tc>
                <a:tc>
                  <a:txBody>
                    <a:bodyPr/>
                    <a:lstStyle/>
                    <a:p>
                      <a:r>
                        <a:rPr sz="1019" b="0">
                          <a:solidFill>
                            <a:srgbClr val="000000"/>
                          </a:solidFill>
                        </a:rPr>
                        <a:t>gemini-3.7-flash — verified</a:t>
                      </a:r>
                    </a:p>
                  </a:txBody>
                  <a:tcPr/>
                </a:tc>
              </a:tr>
              <a:tr h="71120">
                <a:tc>
                  <a:txBody>
                    <a:bodyPr/>
                    <a:lstStyle/>
                    <a:p>
                      <a:r>
                        <a:rPr sz="1019" b="0">
                          <a:solidFill>
                            <a:srgbClr val="000000"/>
                          </a:solidFill>
                        </a:rPr>
                        <a:t>narration: introduction</a:t>
                      </a:r>
                    </a:p>
                  </a:txBody>
                  <a:tcPr/>
                </a:tc>
                <a:tc>
                  <a:txBody>
                    <a:bodyPr/>
                    <a:lstStyle/>
                    <a:p>
                      <a:r>
                        <a:rPr sz="1019" b="0">
                          <a:solidFill>
                            <a:srgbClr val="000000"/>
                          </a:solidFill>
                        </a:rPr>
                        <a:t>gemini-3.7-flash — verified</a:t>
                      </a:r>
                    </a:p>
                  </a:txBody>
                  <a:tcPr/>
                </a:tc>
              </a:tr>
              <a:tr h="71120">
                <a:tc>
                  <a:txBody>
                    <a:bodyPr/>
                    <a:lstStyle/>
                    <a:p>
                      <a:r>
                        <a:rPr sz="1019" b="0">
                          <a:solidFill>
                            <a:srgbClr val="000000"/>
                          </a:solidFill>
                        </a:rPr>
                        <a:t>narration: methods</a:t>
                      </a:r>
                    </a:p>
                  </a:txBody>
                  <a:tcPr/>
                </a:tc>
                <a:tc>
                  <a:txBody>
                    <a:bodyPr/>
                    <a:lstStyle/>
                    <a:p>
                      <a:r>
                        <a:rPr sz="1019" b="0">
                          <a:solidFill>
                            <a:srgbClr val="000000"/>
                          </a:solidFill>
                        </a:rPr>
                        <a:t>gemini-3.7-flash — verified</a:t>
                      </a:r>
                    </a:p>
                  </a:txBody>
                  <a:tcPr/>
                </a:tc>
              </a:tr>
              <a:tr h="71120">
                <a:tc>
                  <a:txBody>
                    <a:bodyPr/>
                    <a:lstStyle/>
                    <a:p>
                      <a:r>
                        <a:rPr sz="1019" b="0">
                          <a:solidFill>
                            <a:srgbClr val="000000"/>
                          </a:solidFill>
                        </a:rPr>
                        <a:t>narration: results</a:t>
                      </a:r>
                    </a:p>
                  </a:txBody>
                  <a:tcPr/>
                </a:tc>
                <a:tc>
                  <a:txBody>
                    <a:bodyPr/>
                    <a:lstStyle/>
                    <a:p>
                      <a:r>
                        <a:rPr sz="1019" b="0">
                          <a:solidFill>
                            <a:srgbClr val="000000"/>
                          </a:solidFill>
                        </a:rPr>
                        <a:t>gemini-3.7-flash — verified</a:t>
                      </a:r>
                    </a:p>
                  </a:txBody>
                  <a:tcPr/>
                </a:tc>
              </a:tr>
              <a:tr h="71120">
                <a:tc>
                  <a:txBody>
                    <a:bodyPr/>
                    <a:lstStyle/>
                    <a:p>
                      <a:r>
                        <a:rPr sz="1019" b="0">
                          <a:solidFill>
                            <a:srgbClr val="000000"/>
                          </a:solidFill>
                        </a:rPr>
                        <a:t>narration: diagnostics</a:t>
                      </a:r>
                    </a:p>
                  </a:txBody>
                  <a:tcPr/>
                </a:tc>
                <a:tc>
                  <a:txBody>
                    <a:bodyPr/>
                    <a:lstStyle/>
                    <a:p>
                      <a:r>
                        <a:rPr sz="1019" b="0">
                          <a:solidFill>
                            <a:srgbClr val="000000"/>
                          </a:solidFill>
                        </a:rPr>
                        <a:t>gemini-3.7-flash — verified</a:t>
                      </a:r>
                    </a:p>
                  </a:txBody>
                  <a:tcPr/>
                </a:tc>
              </a:tr>
              <a:tr h="71120">
                <a:tc>
                  <a:txBody>
                    <a:bodyPr/>
                    <a:lstStyle/>
                    <a:p>
                      <a:r>
                        <a:rPr sz="1019" b="0">
                          <a:solidFill>
                            <a:srgbClr val="000000"/>
                          </a:solidFill>
                        </a:rPr>
                        <a:t>narration: discussion</a:t>
                      </a:r>
                    </a:p>
                  </a:txBody>
                  <a:tcPr/>
                </a:tc>
                <a:tc>
                  <a:txBody>
                    <a:bodyPr/>
                    <a:lstStyle/>
                    <a:p>
                      <a:r>
                        <a:rPr sz="1019" b="0">
                          <a:solidFill>
                            <a:srgbClr val="000000"/>
                          </a:solidFill>
                        </a:rPr>
                        <a:t>gemini-3.7-flash — verified</a:t>
                      </a:r>
                    </a:p>
                  </a:txBody>
                  <a:tcPr/>
                </a:tc>
              </a:tr>
              <a:tr h="71120">
                <a:tc>
                  <a:txBody>
                    <a:bodyPr/>
                    <a:lstStyle/>
                    <a:p>
                      <a:r>
                        <a:rPr sz="1019" b="0">
                          <a:solidFill>
                            <a:srgbClr val="000000"/>
                          </a:solidFill>
                        </a:rPr>
                        <a:t>narration: conclusions</a:t>
                      </a:r>
                    </a:p>
                  </a:txBody>
                  <a:tcPr/>
                </a:tc>
                <a:tc>
                  <a:txBody>
                    <a:bodyPr/>
                    <a:lstStyle/>
                    <a:p>
                      <a:r>
                        <a:rPr sz="1019" b="0">
                          <a:solidFill>
                            <a:srgbClr val="000000"/>
                          </a:solidFill>
                        </a:rPr>
                        <a:t>gemini-3.7-flash — verified</a:t>
                      </a:r>
                    </a:p>
                  </a:txBody>
                  <a:tcPr/>
                </a:tc>
              </a:tr>
              <a:tr h="71120">
                <a:tc>
                  <a:txBody>
                    <a:bodyPr/>
                    <a:lstStyle/>
                    <a:p>
                      <a:r>
                        <a:rPr sz="1019" b="0">
                          <a:solidFill>
                            <a:srgbClr val="000000"/>
                          </a:solidFill>
                        </a:rPr>
                        <a:t>narration: limitations</a:t>
                      </a:r>
                    </a:p>
                  </a:txBody>
                  <a:tcPr/>
                </a:tc>
                <a:tc>
                  <a:txBody>
                    <a:bodyPr/>
                    <a:lstStyle/>
                    <a:p>
                      <a:r>
                        <a:rPr sz="1019" b="0">
                          <a:solidFill>
                            <a:srgbClr val="000000"/>
                          </a:solidFill>
                        </a:rPr>
                        <a:t>gemini-3.7-flash — verified</a:t>
                      </a:r>
                    </a:p>
                  </a:txBody>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3200" cy="431800"/>
          </a:xfrm>
          <a:prstGeom prst="rect">
            <a:avLst/>
          </a:prstGeom>
          <a:noFill/>
        </p:spPr>
        <p:txBody>
          <a:bodyPr wrap="square">
            <a:spAutoFit/>
          </a:bodyPr>
          <a:lstStyle/>
          <a:p>
            <a:r>
              <a:rPr sz="1200" b="1">
                <a:solidFill>
                  <a:srgbClr val="000000"/>
                </a:solidFill>
              </a:rPr>
              <a:t>Tables</a:t>
            </a:r>
          </a:p>
        </p:txBody>
      </p:sp>
      <p:sp>
        <p:nvSpPr>
          <p:cNvPr id="3" name="TextBox 2"/>
          <p:cNvSpPr txBox="1"/>
          <p:nvPr/>
        </p:nvSpPr>
        <p:spPr>
          <a:xfrm>
            <a:off x="914400" y="965200"/>
            <a:ext cx="10363200" cy="508000"/>
          </a:xfrm>
          <a:prstGeom prst="rect">
            <a:avLst/>
          </a:prstGeom>
          <a:noFill/>
        </p:spPr>
        <p:txBody>
          <a:bodyPr wrap="square">
            <a:spAutoFit/>
          </a:bodyPr>
          <a:lstStyle/>
          <a:p>
            <a:r>
              <a:rPr sz="1200" b="1">
                <a:solidFill>
                  <a:srgbClr val="000000"/>
                </a:solidFill>
              </a:rPr>
              <a:t>*Table 1*. The design, as recorded parameters.</a:t>
            </a:r>
          </a:p>
        </p:txBody>
      </p:sp>
      <p:graphicFrame>
        <p:nvGraphicFramePr>
          <p:cNvPr id="4" name="Table 3"/>
          <p:cNvGraphicFramePr>
            <a:graphicFrameLocks noGrp="1"/>
          </p:cNvGraphicFramePr>
          <p:nvPr/>
        </p:nvGraphicFramePr>
        <p:xfrm>
          <a:off x="914400" y="1219200"/>
          <a:ext cx="10363200" cy="4724400"/>
        </p:xfrm>
        <a:graphic>
          <a:graphicData uri="http://schemas.openxmlformats.org/drawingml/2006/table">
            <a:tbl>
              <a:tblPr firstRow="1" bandRow="1">
                <a:tableStyleId>{5C22544A-7EE6-4342-B048-85BDC9FD1C3A}</a:tableStyleId>
              </a:tblPr>
              <a:tblGrid>
                <a:gridCol w="3454400"/>
                <a:gridCol w="3454400"/>
                <a:gridCol w="3454400"/>
              </a:tblGrid>
              <a:tr h="236220">
                <a:tc>
                  <a:txBody>
                    <a:bodyPr/>
                    <a:lstStyle/>
                    <a:p>
                      <a:r>
                        <a:rPr sz="1019" b="1">
                          <a:solidFill>
                            <a:srgbClr val="000000"/>
                          </a:solidFill>
                        </a:rPr>
                        <a:t>Step</a:t>
                      </a:r>
                    </a:p>
                  </a:txBody>
                  <a:tcPr/>
                </a:tc>
                <a:tc>
                  <a:txBody>
                    <a:bodyPr/>
                    <a:lstStyle/>
                    <a:p>
                      <a:r>
                        <a:rPr sz="1019" b="1">
                          <a:solidFill>
                            <a:srgbClr val="000000"/>
                          </a:solidFill>
                        </a:rPr>
                        <a:t>Parameter</a:t>
                      </a:r>
                    </a:p>
                  </a:txBody>
                  <a:tcPr/>
                </a:tc>
                <a:tc>
                  <a:txBody>
                    <a:bodyPr/>
                    <a:lstStyle/>
                    <a:p>
                      <a:r>
                        <a:rPr sz="1019" b="1">
                          <a:solidFill>
                            <a:srgbClr val="000000"/>
                          </a:solidFill>
                        </a:rPr>
                        <a:t>Value</a:t>
                      </a:r>
                    </a:p>
                  </a:txBody>
                  <a:tcPr/>
                </a:tc>
              </a:tr>
              <a:tr h="236220">
                <a:tc>
                  <a:txBody>
                    <a:bodyPr/>
                    <a:lstStyle/>
                    <a:p>
                      <a:r>
                        <a:rPr sz="1019" b="0">
                          <a:solidFill>
                            <a:srgbClr val="000000"/>
                          </a:solidFill>
                        </a:rPr>
                        <a:t>Identification</a:t>
                      </a:r>
                    </a:p>
                  </a:txBody>
                  <a:tcPr/>
                </a:tc>
                <a:tc>
                  <a:txBody>
                    <a:bodyPr/>
                    <a:lstStyle/>
                    <a:p>
                      <a:r>
                        <a:rPr sz="1019" b="0">
                          <a:solidFill>
                            <a:srgbClr val="000000"/>
                          </a:solidFill>
                        </a:rPr>
                        <a:t>graph</a:t>
                      </a:r>
                    </a:p>
                  </a:txBody>
                  <a:tcPr/>
                </a:tc>
                <a:tc>
                  <a:txBody>
                    <a:bodyPr/>
                    <a:lstStyle/>
                    <a:p>
                      <a:r>
                        <a:rPr sz="1019" b="0">
                          <a:solidFill>
                            <a:srgbClr val="000000"/>
                          </a:solidFill>
                        </a:rPr>
                        <a:t>adherence -&gt; change, age -&gt; change, arm -&gt; adherence, arm -&gt; change, baseline -&gt; change</a:t>
                      </a:r>
                    </a:p>
                  </a:txBody>
                  <a:tcPr/>
                </a:tc>
              </a:tr>
              <a:tr h="236220">
                <a:tc>
                  <a:txBody>
                    <a:bodyPr/>
                    <a:lstStyle/>
                    <a:p>
                      <a:r>
                        <a:rPr sz="1019" b="0">
                          <a:solidFill>
                            <a:srgbClr val="000000"/>
                          </a:solidFill>
                        </a:rPr>
                        <a:t>Identification</a:t>
                      </a:r>
                    </a:p>
                  </a:txBody>
                  <a:tcPr/>
                </a:tc>
                <a:tc>
                  <a:txBody>
                    <a:bodyPr/>
                    <a:lstStyle/>
                    <a:p>
                      <a:r>
                        <a:rPr sz="1019" b="0">
                          <a:solidFill>
                            <a:srgbClr val="000000"/>
                          </a:solidFill>
                        </a:rPr>
                        <a:t>graph hash</a:t>
                      </a:r>
                    </a:p>
                  </a:txBody>
                  <a:tcPr/>
                </a:tc>
                <a:tc>
                  <a:txBody>
                    <a:bodyPr/>
                    <a:lstStyle/>
                    <a:p>
                      <a:r>
                        <a:rPr sz="1019" b="0">
                          <a:solidFill>
                            <a:srgbClr val="000000"/>
                          </a:solidFill>
                        </a:rPr>
                        <a:t>d02f82660e65</a:t>
                      </a:r>
                    </a:p>
                  </a:txBody>
                  <a:tcPr/>
                </a:tc>
              </a:tr>
              <a:tr h="236220">
                <a:tc>
                  <a:txBody>
                    <a:bodyPr/>
                    <a:lstStyle/>
                    <a:p>
                      <a:r>
                        <a:rPr sz="1019" b="0">
                          <a:solidFill>
                            <a:srgbClr val="000000"/>
                          </a:solidFill>
                        </a:rPr>
                        <a:t>Identification</a:t>
                      </a:r>
                    </a:p>
                  </a:txBody>
                  <a:tcPr/>
                </a:tc>
                <a:tc>
                  <a:txBody>
                    <a:bodyPr/>
                    <a:lstStyle/>
                    <a:p>
                      <a:r>
                        <a:rPr sz="1019" b="0">
                          <a:solidFill>
                            <a:srgbClr val="000000"/>
                          </a:solidFill>
                        </a:rPr>
                        <a:t>route</a:t>
                      </a:r>
                    </a:p>
                  </a:txBody>
                  <a:tcPr/>
                </a:tc>
                <a:tc>
                  <a:txBody>
                    <a:bodyPr/>
                    <a:lstStyle/>
                    <a:p>
                      <a:r>
                        <a:rPr sz="1019" b="0">
                          <a:solidFill>
                            <a:srgbClr val="000000"/>
                          </a:solidFill>
                        </a:rPr>
                        <a:t>backdoor</a:t>
                      </a:r>
                    </a:p>
                  </a:txBody>
                  <a:tcPr/>
                </a:tc>
              </a:tr>
              <a:tr h="236220">
                <a:tc>
                  <a:txBody>
                    <a:bodyPr/>
                    <a:lstStyle/>
                    <a:p>
                      <a:r>
                        <a:rPr sz="1019" b="0">
                          <a:solidFill>
                            <a:srgbClr val="000000"/>
                          </a:solidFill>
                        </a:rPr>
                        <a:t>Identification</a:t>
                      </a:r>
                    </a:p>
                  </a:txBody>
                  <a:tcPr/>
                </a:tc>
                <a:tc>
                  <a:txBody>
                    <a:bodyPr/>
                    <a:lstStyle/>
                    <a:p>
                      <a:r>
                        <a:rPr sz="1019" b="0">
                          <a:solidFill>
                            <a:srgbClr val="000000"/>
                          </a:solidFill>
                        </a:rPr>
                        <a:t>status</a:t>
                      </a:r>
                    </a:p>
                  </a:txBody>
                  <a:tcPr/>
                </a:tc>
                <a:tc>
                  <a:txBody>
                    <a:bodyPr/>
                    <a:lstStyle/>
                    <a:p>
                      <a:r>
                        <a:rPr sz="1019" b="0">
                          <a:solidFill>
                            <a:srgbClr val="000000"/>
                          </a:solidFill>
                        </a:rPr>
                        <a:t>identified</a:t>
                      </a:r>
                    </a:p>
                  </a:txBody>
                  <a:tcPr/>
                </a:tc>
              </a:tr>
              <a:tr h="236220">
                <a:tc>
                  <a:txBody>
                    <a:bodyPr/>
                    <a:lstStyle/>
                    <a:p>
                      <a:r>
                        <a:rPr sz="1019" b="0">
                          <a:solidFill>
                            <a:srgbClr val="000000"/>
                          </a:solidFill>
                        </a:rPr>
                        <a:t>Protocol</a:t>
                      </a:r>
                    </a:p>
                  </a:txBody>
                  <a:tcPr/>
                </a:tc>
                <a:tc>
                  <a:txBody>
                    <a:bodyPr/>
                    <a:lstStyle/>
                    <a:p>
                      <a:r>
                        <a:rPr sz="1019" b="0">
                          <a:solidFill>
                            <a:srgbClr val="000000"/>
                          </a:solidFill>
                        </a:rPr>
                        <a:t>allocation</a:t>
                      </a:r>
                    </a:p>
                  </a:txBody>
                  <a:tcPr/>
                </a:tc>
                <a:tc>
                  <a:txBody>
                    <a:bodyPr/>
                    <a:lstStyle/>
                    <a:p>
                      <a:r>
                        <a:rPr sz="1019" b="0">
                          <a:solidFill>
                            <a:srgbClr val="000000"/>
                          </a:solidFill>
                        </a:rPr>
                        <a:t>2:1:1:1</a:t>
                      </a:r>
                    </a:p>
                  </a:txBody>
                  <a:tcPr/>
                </a:tc>
              </a:tr>
              <a:tr h="236220">
                <a:tc>
                  <a:txBody>
                    <a:bodyPr/>
                    <a:lstStyle/>
                    <a:p>
                      <a:r>
                        <a:rPr sz="1019" b="0">
                          <a:solidFill>
                            <a:srgbClr val="000000"/>
                          </a:solidFill>
                        </a:rPr>
                        <a:t>Protocol</a:t>
                      </a:r>
                    </a:p>
                  </a:txBody>
                  <a:tcPr/>
                </a:tc>
                <a:tc>
                  <a:txBody>
                    <a:bodyPr/>
                    <a:lstStyle/>
                    <a:p>
                      <a:r>
                        <a:rPr sz="1019" b="0">
                          <a:solidFill>
                            <a:srgbClr val="000000"/>
                          </a:solidFill>
                        </a:rPr>
                        <a:t>arms</a:t>
                      </a:r>
                    </a:p>
                  </a:txBody>
                  <a:tcPr/>
                </a:tc>
                <a:tc>
                  <a:txBody>
                    <a:bodyPr/>
                    <a:lstStyle/>
                    <a:p>
                      <a:r>
                        <a:rPr sz="1019" b="0">
                          <a:solidFill>
                            <a:srgbClr val="000000"/>
                          </a:solidFill>
                        </a:rPr>
                        <a:t>standard_of_care, dose_10, dose_20, dose_40</a:t>
                      </a:r>
                    </a:p>
                  </a:txBody>
                  <a:tcPr/>
                </a:tc>
              </a:tr>
              <a:tr h="236220">
                <a:tc>
                  <a:txBody>
                    <a:bodyPr/>
                    <a:lstStyle/>
                    <a:p>
                      <a:r>
                        <a:rPr sz="1019" b="0">
                          <a:solidFill>
                            <a:srgbClr val="000000"/>
                          </a:solidFill>
                        </a:rPr>
                        <a:t>Protocol</a:t>
                      </a:r>
                    </a:p>
                  </a:txBody>
                  <a:tcPr/>
                </a:tc>
                <a:tc>
                  <a:txBody>
                    <a:bodyPr/>
                    <a:lstStyle/>
                    <a:p>
                      <a:r>
                        <a:rPr sz="1019" b="0">
                          <a:solidFill>
                            <a:srgbClr val="000000"/>
                          </a:solidFill>
                        </a:rPr>
                        <a:t>enrollment weeks</a:t>
                      </a:r>
                    </a:p>
                  </a:txBody>
                  <a:tcPr/>
                </a:tc>
                <a:tc>
                  <a:txBody>
                    <a:bodyPr/>
                    <a:lstStyle/>
                    <a:p>
                      <a:r>
                        <a:rPr sz="1019" b="0">
                          <a:solidFill>
                            <a:srgbClr val="000000"/>
                          </a:solidFill>
                        </a:rPr>
                        <a:t>16</a:t>
                      </a:r>
                    </a:p>
                  </a:txBody>
                  <a:tcPr/>
                </a:tc>
              </a:tr>
              <a:tr h="236220">
                <a:tc>
                  <a:txBody>
                    <a:bodyPr/>
                    <a:lstStyle/>
                    <a:p>
                      <a:r>
                        <a:rPr sz="1019" b="0">
                          <a:solidFill>
                            <a:srgbClr val="000000"/>
                          </a:solidFill>
                        </a:rPr>
                        <a:t>Protocol</a:t>
                      </a:r>
                    </a:p>
                  </a:txBody>
                  <a:tcPr/>
                </a:tc>
                <a:tc>
                  <a:txBody>
                    <a:bodyPr/>
                    <a:lstStyle/>
                    <a:p>
                      <a:r>
                        <a:rPr sz="1019" b="0">
                          <a:solidFill>
                            <a:srgbClr val="000000"/>
                          </a:solidFill>
                        </a:rPr>
                        <a:t>follow-up weeks</a:t>
                      </a:r>
                    </a:p>
                  </a:txBody>
                  <a:tcPr/>
                </a:tc>
                <a:tc>
                  <a:txBody>
                    <a:bodyPr/>
                    <a:lstStyle/>
                    <a:p>
                      <a:r>
                        <a:rPr sz="1019" b="0">
                          <a:solidFill>
                            <a:srgbClr val="000000"/>
                          </a:solidFill>
                        </a:rPr>
                        <a:t>24</a:t>
                      </a:r>
                    </a:p>
                  </a:txBody>
                  <a:tcPr/>
                </a:tc>
              </a:tr>
              <a:tr h="236220">
                <a:tc>
                  <a:txBody>
                    <a:bodyPr/>
                    <a:lstStyle/>
                    <a:p>
                      <a:r>
                        <a:rPr sz="1019" b="0">
                          <a:solidFill>
                            <a:srgbClr val="000000"/>
                          </a:solidFill>
                        </a:rPr>
                        <a:t>Protocol</a:t>
                      </a:r>
                    </a:p>
                  </a:txBody>
                  <a:tcPr/>
                </a:tc>
                <a:tc>
                  <a:txBody>
                    <a:bodyPr/>
                    <a:lstStyle/>
                    <a:p>
                      <a:r>
                        <a:rPr sz="1019" b="0">
                          <a:solidFill>
                            <a:srgbClr val="000000"/>
                          </a:solidFill>
                        </a:rPr>
                        <a:t>primary endpoint week</a:t>
                      </a:r>
                    </a:p>
                  </a:txBody>
                  <a:tcPr/>
                </a:tc>
                <a:tc>
                  <a:txBody>
                    <a:bodyPr/>
                    <a:lstStyle/>
                    <a:p>
                      <a:r>
                        <a:rPr sz="1019" b="0">
                          <a:solidFill>
                            <a:srgbClr val="000000"/>
                          </a:solidFill>
                        </a:rPr>
                        <a:t>12</a:t>
                      </a:r>
                    </a:p>
                  </a:txBody>
                  <a:tcPr/>
                </a:tc>
              </a:tr>
              <a:tr h="236220">
                <a:tc>
                  <a:txBody>
                    <a:bodyPr/>
                    <a:lstStyle/>
                    <a:p>
                      <a:r>
                        <a:rPr sz="1019" b="0">
                          <a:solidFill>
                            <a:srgbClr val="000000"/>
                          </a:solidFill>
                        </a:rPr>
                        <a:t>Protocol</a:t>
                      </a:r>
                    </a:p>
                  </a:txBody>
                  <a:tcPr/>
                </a:tc>
                <a:tc>
                  <a:txBody>
                    <a:bodyPr/>
                    <a:lstStyle/>
                    <a:p>
                      <a:r>
                        <a:rPr sz="1019" b="0">
                          <a:solidFill>
                            <a:srgbClr val="000000"/>
                          </a:solidFill>
                        </a:rPr>
                        <a:t>strata</a:t>
                      </a:r>
                    </a:p>
                  </a:txBody>
                  <a:tcPr/>
                </a:tc>
                <a:tc>
                  <a:txBody>
                    <a:bodyPr/>
                    <a:lstStyle/>
                    <a:p>
                      <a:r>
                        <a:rPr sz="1019" b="0">
                          <a:solidFill>
                            <a:srgbClr val="000000"/>
                          </a:solidFill>
                        </a:rPr>
                        <a:t>age_25_35, age_36_50, age_51_plus</a:t>
                      </a:r>
                    </a:p>
                  </a:txBody>
                  <a:tcPr/>
                </a:tc>
              </a:tr>
              <a:tr h="236220">
                <a:tc>
                  <a:txBody>
                    <a:bodyPr/>
                    <a:lstStyle/>
                    <a:p>
                      <a:r>
                        <a:rPr sz="1019" b="0">
                          <a:solidFill>
                            <a:srgbClr val="000000"/>
                          </a:solidFill>
                        </a:rPr>
                        <a:t>Protocol</a:t>
                      </a:r>
                    </a:p>
                  </a:txBody>
                  <a:tcPr/>
                </a:tc>
                <a:tc>
                  <a:txBody>
                    <a:bodyPr/>
                    <a:lstStyle/>
                    <a:p>
                      <a:r>
                        <a:rPr sz="1019" b="0">
                          <a:solidFill>
                            <a:srgbClr val="000000"/>
                          </a:solidFill>
                        </a:rPr>
                        <a:t>units randomized</a:t>
                      </a:r>
                    </a:p>
                  </a:txBody>
                  <a:tcPr/>
                </a:tc>
                <a:tc>
                  <a:txBody>
                    <a:bodyPr/>
                    <a:lstStyle/>
                    <a:p>
                      <a:r>
                        <a:rPr sz="1019" b="0">
                          <a:solidFill>
                            <a:srgbClr val="000000"/>
                          </a:solidFill>
                        </a:rPr>
                        <a:t>400</a:t>
                      </a:r>
                    </a:p>
                  </a:txBody>
                  <a:tcPr/>
                </a:tc>
              </a:tr>
              <a:tr h="236220">
                <a:tc>
                  <a:txBody>
                    <a:bodyPr/>
                    <a:lstStyle/>
                    <a:p>
                      <a:r>
                        <a:rPr sz="1019" b="0">
                          <a:solidFill>
                            <a:srgbClr val="000000"/>
                          </a:solidFill>
                        </a:rPr>
                        <a:t>Measurement</a:t>
                      </a:r>
                    </a:p>
                  </a:txBody>
                  <a:tcPr/>
                </a:tc>
                <a:tc>
                  <a:txBody>
                    <a:bodyPr/>
                    <a:lstStyle/>
                    <a:p>
                      <a:r>
                        <a:rPr sz="1019" b="0">
                          <a:solidFill>
                            <a:srgbClr val="000000"/>
                          </a:solidFill>
                        </a:rPr>
                        <a:t>minimum visits in window</a:t>
                      </a:r>
                    </a:p>
                  </a:txBody>
                  <a:tcPr/>
                </a:tc>
                <a:tc>
                  <a:txBody>
                    <a:bodyPr/>
                    <a:lstStyle/>
                    <a:p>
                      <a:r>
                        <a:rPr sz="1019" b="0">
                          <a:solidFill>
                            <a:srgbClr val="000000"/>
                          </a:solidFill>
                        </a:rPr>
                        <a:t>3</a:t>
                      </a:r>
                    </a:p>
                  </a:txBody>
                  <a:tcPr/>
                </a:tc>
              </a:tr>
              <a:tr h="236220">
                <a:tc>
                  <a:txBody>
                    <a:bodyPr/>
                    <a:lstStyle/>
                    <a:p>
                      <a:r>
                        <a:rPr sz="1019" b="0">
                          <a:solidFill>
                            <a:srgbClr val="000000"/>
                          </a:solidFill>
                        </a:rPr>
                        <a:t>Measurement</a:t>
                      </a:r>
                    </a:p>
                  </a:txBody>
                  <a:tcPr/>
                </a:tc>
                <a:tc>
                  <a:txBody>
                    <a:bodyPr/>
                    <a:lstStyle/>
                    <a:p>
                      <a:r>
                        <a:rPr sz="1019" b="0">
                          <a:solidFill>
                            <a:srgbClr val="000000"/>
                          </a:solidFill>
                        </a:rPr>
                        <a:t>retention at final week</a:t>
                      </a:r>
                    </a:p>
                  </a:txBody>
                  <a:tcPr/>
                </a:tc>
                <a:tc>
                  <a:txBody>
                    <a:bodyPr/>
                    <a:lstStyle/>
                    <a:p>
                      <a:r>
                        <a:rPr sz="1019" b="0">
                          <a:solidFill>
                            <a:srgbClr val="000000"/>
                          </a:solidFill>
                        </a:rPr>
                        <a:t>79.8%</a:t>
                      </a:r>
                    </a:p>
                  </a:txBody>
                  <a:tcPr/>
                </a:tc>
              </a:tr>
              <a:tr h="236220">
                <a:tc>
                  <a:txBody>
                    <a:bodyPr/>
                    <a:lstStyle/>
                    <a:p>
                      <a:r>
                        <a:rPr sz="1019" b="0">
                          <a:solidFill>
                            <a:srgbClr val="000000"/>
                          </a:solidFill>
                        </a:rPr>
                        <a:t>Analysis</a:t>
                      </a:r>
                    </a:p>
                  </a:txBody>
                  <a:tcPr/>
                </a:tc>
                <a:tc>
                  <a:txBody>
                    <a:bodyPr/>
                    <a:lstStyle/>
                    <a:p>
                      <a:r>
                        <a:rPr sz="1019" b="0">
                          <a:solidFill>
                            <a:srgbClr val="000000"/>
                          </a:solidFill>
                        </a:rPr>
                        <a:t>estimator</a:t>
                      </a:r>
                    </a:p>
                  </a:txBody>
                  <a:tcPr/>
                </a:tc>
                <a:tc>
                  <a:txBody>
                    <a:bodyPr/>
                    <a:lstStyle/>
                    <a:p>
                      <a:r>
                        <a:rPr sz="1019" b="0">
                          <a:solidFill>
                            <a:srgbClr val="000000"/>
                          </a:solidFill>
                        </a:rPr>
                        <a:t>ANCOVA (OLS on change, baseline-adjusted)</a:t>
                      </a:r>
                    </a:p>
                  </a:txBody>
                  <a:tcPr/>
                </a:tc>
              </a:tr>
              <a:tr h="236220">
                <a:tc>
                  <a:txBody>
                    <a:bodyPr/>
                    <a:lstStyle/>
                    <a:p>
                      <a:r>
                        <a:rPr sz="1019" b="0">
                          <a:solidFill>
                            <a:srgbClr val="000000"/>
                          </a:solidFill>
                        </a:rPr>
                        <a:t>Analysis</a:t>
                      </a:r>
                    </a:p>
                  </a:txBody>
                  <a:tcPr/>
                </a:tc>
                <a:tc>
                  <a:txBody>
                    <a:bodyPr/>
                    <a:lstStyle/>
                    <a:p>
                      <a:r>
                        <a:rPr sz="1019" b="0">
                          <a:solidFill>
                            <a:srgbClr val="000000"/>
                          </a:solidFill>
                        </a:rPr>
                        <a:t>interval mass</a:t>
                      </a:r>
                    </a:p>
                  </a:txBody>
                  <a:tcPr/>
                </a:tc>
                <a:tc>
                  <a:txBody>
                    <a:bodyPr/>
                    <a:lstStyle/>
                    <a:p>
                      <a:r>
                        <a:rPr sz="1019" b="0">
                          <a:solidFill>
                            <a:srgbClr val="000000"/>
                          </a:solidFill>
                        </a:rPr>
                        <a:t>90%</a:t>
                      </a:r>
                    </a:p>
                  </a:txBody>
                  <a:tcPr/>
                </a:tc>
              </a:tr>
              <a:tr h="236220">
                <a:tc>
                  <a:txBody>
                    <a:bodyPr/>
                    <a:lstStyle/>
                    <a:p>
                      <a:r>
                        <a:rPr sz="1019" b="0">
                          <a:solidFill>
                            <a:srgbClr val="000000"/>
                          </a:solidFill>
                        </a:rPr>
                        <a:t>Analysis</a:t>
                      </a:r>
                    </a:p>
                  </a:txBody>
                  <a:tcPr/>
                </a:tc>
                <a:tc>
                  <a:txBody>
                    <a:bodyPr/>
                    <a:lstStyle/>
                    <a:p>
                      <a:r>
                        <a:rPr sz="1019" b="0">
                          <a:solidFill>
                            <a:srgbClr val="000000"/>
                          </a:solidFill>
                        </a:rPr>
                        <a:t>pooled covariates</a:t>
                      </a:r>
                    </a:p>
                  </a:txBody>
                  <a:tcPr/>
                </a:tc>
                <a:tc>
                  <a:txBody>
                    <a:bodyPr/>
                    <a:lstStyle/>
                    <a:p>
                      <a:r>
                        <a:rPr sz="1019" b="0">
                          <a:solidFill>
                            <a:srgbClr val="000000"/>
                          </a:solidFill>
                        </a:rPr>
                        <a:t>baseline_centred, is_age_36_50, is_age_51_plus</a:t>
                      </a:r>
                    </a:p>
                  </a:txBody>
                  <a:tcPr/>
                </a:tc>
              </a:tr>
              <a:tr h="236220">
                <a:tc>
                  <a:txBody>
                    <a:bodyPr/>
                    <a:lstStyle/>
                    <a:p>
                      <a:r>
                        <a:rPr sz="1019" b="0">
                          <a:solidFill>
                            <a:srgbClr val="000000"/>
                          </a:solidFill>
                        </a:rPr>
                        <a:t>Analysis</a:t>
                      </a:r>
                    </a:p>
                  </a:txBody>
                  <a:tcPr/>
                </a:tc>
                <a:tc>
                  <a:txBody>
                    <a:bodyPr/>
                    <a:lstStyle/>
                    <a:p>
                      <a:r>
                        <a:rPr sz="1019" b="0">
                          <a:solidFill>
                            <a:srgbClr val="000000"/>
                          </a:solidFill>
                        </a:rPr>
                        <a:t>within-stratum covariates</a:t>
                      </a:r>
                    </a:p>
                  </a:txBody>
                  <a:tcPr/>
                </a:tc>
                <a:tc>
                  <a:txBody>
                    <a:bodyPr/>
                    <a:lstStyle/>
                    <a:p>
                      <a:r>
                        <a:rPr sz="1019" b="0">
                          <a:solidFill>
                            <a:srgbClr val="000000"/>
                          </a:solidFill>
                        </a:rPr>
                        <a:t>baseline_centred</a:t>
                      </a:r>
                    </a:p>
                  </a:txBody>
                  <a:tcPr/>
                </a:tc>
              </a:tr>
              <a:tr h="236220">
                <a:tc>
                  <a:txBody>
                    <a:bodyPr/>
                    <a:lstStyle/>
                    <a:p>
                      <a:r>
                        <a:rPr sz="1019" b="0">
                          <a:solidFill>
                            <a:srgbClr val="000000"/>
                          </a:solidFill>
                        </a:rPr>
                        <a:t>Safety monitoring</a:t>
                      </a:r>
                    </a:p>
                  </a:txBody>
                  <a:tcPr/>
                </a:tc>
                <a:tc>
                  <a:txBody>
                    <a:bodyPr/>
                    <a:lstStyle/>
                    <a:p>
                      <a:r>
                        <a:rPr sz="1019" b="0">
                          <a:solidFill>
                            <a:srgbClr val="000000"/>
                          </a:solidFill>
                        </a:rPr>
                        <a:t>clinical margin (mmHg)</a:t>
                      </a:r>
                    </a:p>
                  </a:txBody>
                  <a:tcPr/>
                </a:tc>
                <a:tc>
                  <a:txBody>
                    <a:bodyPr/>
                    <a:lstStyle/>
                    <a:p>
                      <a:r>
                        <a:rPr sz="1019" b="0">
                          <a:solidFill>
                            <a:srgbClr val="000000"/>
                          </a:solidFill>
                        </a:rPr>
                        <a:t>2</a:t>
                      </a:r>
                    </a:p>
                  </a:txBody>
                  <a:tcPr/>
                </a:tc>
              </a:tr>
              <a:tr h="236220">
                <a:tc>
                  <a:txBody>
                    <a:bodyPr/>
                    <a:lstStyle/>
                    <a:p>
                      <a:r>
                        <a:rPr sz="1019" b="0">
                          <a:solidFill>
                            <a:srgbClr val="000000"/>
                          </a:solidFill>
                        </a:rPr>
                        <a:t>Safety monitoring</a:t>
                      </a:r>
                    </a:p>
                  </a:txBody>
                  <a:tcPr/>
                </a:tc>
                <a:tc>
                  <a:txBody>
                    <a:bodyPr/>
                    <a:lstStyle/>
                    <a:p>
                      <a:r>
                        <a:rPr sz="1019" b="0">
                          <a:solidFill>
                            <a:srgbClr val="000000"/>
                          </a:solidFill>
                        </a:rPr>
                        <a:t>monitored contrasts</a:t>
                      </a:r>
                    </a:p>
                  </a:txBody>
                  <a:tcPr/>
                </a:tc>
                <a:tc>
                  <a:txBody>
                    <a:bodyPr/>
                    <a:lstStyle/>
                    <a:p>
                      <a:r>
                        <a:rPr sz="1019" b="0">
                          <a:solidFill>
                            <a:srgbClr val="000000"/>
                          </a:solidFill>
                        </a:rPr>
                        <a:t>12</a:t>
                      </a:r>
                    </a:p>
                  </a:txBody>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3200" cy="431800"/>
          </a:xfrm>
          <a:prstGeom prst="rect">
            <a:avLst/>
          </a:prstGeom>
          <a:noFill/>
        </p:spPr>
        <p:txBody>
          <a:bodyPr wrap="square">
            <a:spAutoFit/>
          </a:bodyPr>
          <a:lstStyle/>
          <a:p>
            <a:r>
              <a:rPr sz="1200" b="1">
                <a:solidFill>
                  <a:srgbClr val="000000"/>
                </a:solidFill>
              </a:rPr>
              <a:t>Tables (cont.)</a:t>
            </a:r>
          </a:p>
        </p:txBody>
      </p:sp>
      <p:sp>
        <p:nvSpPr>
          <p:cNvPr id="3" name="TextBox 2"/>
          <p:cNvSpPr txBox="1"/>
          <p:nvPr/>
        </p:nvSpPr>
        <p:spPr>
          <a:xfrm>
            <a:off x="914400" y="965200"/>
            <a:ext cx="10363200" cy="508000"/>
          </a:xfrm>
          <a:prstGeom prst="rect">
            <a:avLst/>
          </a:prstGeom>
          <a:noFill/>
        </p:spPr>
        <p:txBody>
          <a:bodyPr wrap="square">
            <a:spAutoFit/>
          </a:bodyPr>
          <a:lstStyle/>
          <a:p>
            <a:r>
              <a:rPr sz="1200" b="1">
                <a:solidFill>
                  <a:srgbClr val="000000"/>
                </a:solidFill>
              </a:rPr>
              <a:t>*Table 2*. Estimated quantities with their intervals and thresholds.</a:t>
            </a:r>
          </a:p>
        </p:txBody>
      </p:sp>
      <p:graphicFrame>
        <p:nvGraphicFramePr>
          <p:cNvPr id="4" name="Table 3"/>
          <p:cNvGraphicFramePr>
            <a:graphicFrameLocks noGrp="1"/>
          </p:cNvGraphicFramePr>
          <p:nvPr/>
        </p:nvGraphicFramePr>
        <p:xfrm>
          <a:off x="914400" y="1219200"/>
          <a:ext cx="10363200" cy="1828800"/>
        </p:xfrm>
        <a:graphic>
          <a:graphicData uri="http://schemas.openxmlformats.org/drawingml/2006/table">
            <a:tbl>
              <a:tblPr firstRow="1" bandRow="1">
                <a:tableStyleId>{5C22544A-7EE6-4342-B048-85BDC9FD1C3A}</a:tableStyleId>
              </a:tblPr>
              <a:tblGrid>
                <a:gridCol w="1727200"/>
                <a:gridCol w="1727200"/>
                <a:gridCol w="1727200"/>
                <a:gridCol w="1727200"/>
                <a:gridCol w="1727200"/>
                <a:gridCol w="1727200"/>
              </a:tblGrid>
              <a:tr h="304800">
                <a:tc>
                  <a:txBody>
                    <a:bodyPr/>
                    <a:lstStyle/>
                    <a:p>
                      <a:r>
                        <a:rPr sz="1019" b="1">
                          <a:solidFill>
                            <a:srgbClr val="000000"/>
                          </a:solidFill>
                        </a:rPr>
                        <a:t>Quantity</a:t>
                      </a:r>
                    </a:p>
                  </a:txBody>
                  <a:tcPr/>
                </a:tc>
                <a:tc>
                  <a:txBody>
                    <a:bodyPr/>
                    <a:lstStyle/>
                    <a:p>
                      <a:r>
                        <a:rPr sz="1019" b="1">
                          <a:solidFill>
                            <a:srgbClr val="000000"/>
                          </a:solidFill>
                        </a:rPr>
                        <a:t>Estimate</a:t>
                      </a:r>
                    </a:p>
                  </a:txBody>
                  <a:tcPr/>
                </a:tc>
                <a:tc>
                  <a:txBody>
                    <a:bodyPr/>
                    <a:lstStyle/>
                    <a:p>
                      <a:r>
                        <a:rPr sz="1019" b="1">
                          <a:solidFill>
                            <a:srgbClr val="000000"/>
                          </a:solidFill>
                        </a:rPr>
                        <a:t>Unit</a:t>
                      </a:r>
                    </a:p>
                  </a:txBody>
                  <a:tcPr/>
                </a:tc>
                <a:tc>
                  <a:txBody>
                    <a:bodyPr/>
                    <a:lstStyle/>
                    <a:p>
                      <a:r>
                        <a:rPr sz="1019" b="1">
                          <a:solidFill>
                            <a:srgbClr val="000000"/>
                          </a:solidFill>
                        </a:rPr>
                        <a:t>Interval</a:t>
                      </a:r>
                    </a:p>
                  </a:txBody>
                  <a:tcPr/>
                </a:tc>
                <a:tc>
                  <a:txBody>
                    <a:bodyPr/>
                    <a:lstStyle/>
                    <a:p>
                      <a:r>
                        <a:rPr sz="1019" b="1">
                          <a:solidFill>
                            <a:srgbClr val="000000"/>
                          </a:solidFill>
                        </a:rPr>
                        <a:t>Threshold</a:t>
                      </a:r>
                    </a:p>
                  </a:txBody>
                  <a:tcPr/>
                </a:tc>
                <a:tc>
                  <a:txBody>
                    <a:bodyPr/>
                    <a:lstStyle/>
                    <a:p>
                      <a:r>
                        <a:rPr sz="1019" b="1">
                          <a:solidFill>
                            <a:srgbClr val="000000"/>
                          </a:solidFill>
                        </a:rPr>
                        <a:t>Relative to threshold</a:t>
                      </a:r>
                    </a:p>
                  </a:txBody>
                  <a:tcPr/>
                </a:tc>
              </a:tr>
              <a:tr h="304800">
                <a:tc>
                  <a:txBody>
                    <a:bodyPr/>
                    <a:lstStyle/>
                    <a:p>
                      <a:r>
                        <a:rPr sz="1019" b="0">
                          <a:solidFill>
                            <a:srgbClr val="000000"/>
                          </a:solidFill>
                        </a:rPr>
                        <a:t>40 mg vs control, pooled</a:t>
                      </a:r>
                    </a:p>
                  </a:txBody>
                  <a:tcPr/>
                </a:tc>
                <a:tc>
                  <a:txBody>
                    <a:bodyPr/>
                    <a:lstStyle/>
                    <a:p>
                      <a:r>
                        <a:rPr sz="1019" b="0">
                          <a:solidFill>
                            <a:srgbClr val="000000"/>
                          </a:solidFill>
                        </a:rPr>
                        <a:t>-1.53</a:t>
                      </a:r>
                    </a:p>
                  </a:txBody>
                  <a:tcPr/>
                </a:tc>
                <a:tc>
                  <a:txBody>
                    <a:bodyPr/>
                    <a:lstStyle/>
                    <a:p>
                      <a:r>
                        <a:rPr sz="1019" b="0">
                          <a:solidFill>
                            <a:srgbClr val="000000"/>
                          </a:solidFill>
                        </a:rPr>
                        <a:t>mmHg</a:t>
                      </a:r>
                    </a:p>
                  </a:txBody>
                  <a:tcPr/>
                </a:tc>
                <a:tc>
                  <a:txBody>
                    <a:bodyPr/>
                    <a:lstStyle/>
                    <a:p>
                      <a:r>
                        <a:rPr sz="1019" b="0">
                          <a:solidFill>
                            <a:srgbClr val="000000"/>
                          </a:solidFill>
                        </a:rPr>
                        <a:t>-2.97 to -0.10 (90% WALD)</a:t>
                      </a:r>
                    </a:p>
                  </a:txBody>
                  <a:tcPr/>
                </a:tc>
                <a:tc>
                  <a:txBody>
                    <a:bodyPr/>
                    <a:lstStyle/>
                    <a:p>
                      <a:r>
                        <a:rPr sz="1019" b="0">
                          <a:solidFill>
                            <a:srgbClr val="000000"/>
                          </a:solidFill>
                        </a:rPr>
                        <a:t>0.00</a:t>
                      </a:r>
                    </a:p>
                  </a:txBody>
                  <a:tcPr/>
                </a:tc>
                <a:tc>
                  <a:txBody>
                    <a:bodyPr/>
                    <a:lstStyle/>
                    <a:p>
                      <a:r>
                        <a:rPr sz="1019" b="0">
                          <a:solidFill>
                            <a:srgbClr val="000000"/>
                          </a:solidFill>
                        </a:rPr>
                        <a:t>below threshold</a:t>
                      </a:r>
                    </a:p>
                  </a:txBody>
                  <a:tcPr/>
                </a:tc>
              </a:tr>
              <a:tr h="304800">
                <a:tc>
                  <a:txBody>
                    <a:bodyPr/>
                    <a:lstStyle/>
                    <a:p>
                      <a:r>
                        <a:rPr sz="1019" b="0">
                          <a:solidFill>
                            <a:srgbClr val="000000"/>
                          </a:solidFill>
                        </a:rPr>
                        <a:t>20 mg vs control, pooled</a:t>
                      </a:r>
                    </a:p>
                  </a:txBody>
                  <a:tcPr/>
                </a:tc>
                <a:tc>
                  <a:txBody>
                    <a:bodyPr/>
                    <a:lstStyle/>
                    <a:p>
                      <a:r>
                        <a:rPr sz="1019" b="0">
                          <a:solidFill>
                            <a:srgbClr val="000000"/>
                          </a:solidFill>
                        </a:rPr>
                        <a:t>-4.80</a:t>
                      </a:r>
                    </a:p>
                  </a:txBody>
                  <a:tcPr/>
                </a:tc>
                <a:tc>
                  <a:txBody>
                    <a:bodyPr/>
                    <a:lstStyle/>
                    <a:p>
                      <a:r>
                        <a:rPr sz="1019" b="0">
                          <a:solidFill>
                            <a:srgbClr val="000000"/>
                          </a:solidFill>
                        </a:rPr>
                        <a:t>mmHg</a:t>
                      </a:r>
                    </a:p>
                  </a:txBody>
                  <a:tcPr/>
                </a:tc>
                <a:tc>
                  <a:txBody>
                    <a:bodyPr/>
                    <a:lstStyle/>
                    <a:p>
                      <a:r>
                        <a:rPr sz="1019" b="0">
                          <a:solidFill>
                            <a:srgbClr val="000000"/>
                          </a:solidFill>
                        </a:rPr>
                        <a:t>-6.17 to -3.44 (90% WALD)</a:t>
                      </a:r>
                    </a:p>
                  </a:txBody>
                  <a:tcPr/>
                </a:tc>
                <a:tc>
                  <a:txBody>
                    <a:bodyPr/>
                    <a:lstStyle/>
                    <a:p>
                      <a:r>
                        <a:rPr sz="1019" b="0">
                          <a:solidFill>
                            <a:srgbClr val="000000"/>
                          </a:solidFill>
                        </a:rPr>
                        <a:t>0.00</a:t>
                      </a:r>
                    </a:p>
                  </a:txBody>
                  <a:tcPr/>
                </a:tc>
                <a:tc>
                  <a:txBody>
                    <a:bodyPr/>
                    <a:lstStyle/>
                    <a:p>
                      <a:r>
                        <a:rPr sz="1019" b="0">
                          <a:solidFill>
                            <a:srgbClr val="000000"/>
                          </a:solidFill>
                        </a:rPr>
                        <a:t>below threshold</a:t>
                      </a:r>
                    </a:p>
                  </a:txBody>
                  <a:tcPr/>
                </a:tc>
              </a:tr>
              <a:tr h="304800">
                <a:tc>
                  <a:txBody>
                    <a:bodyPr/>
                    <a:lstStyle/>
                    <a:p>
                      <a:r>
                        <a:rPr sz="1019" b="0">
                          <a:solidFill>
                            <a:srgbClr val="000000"/>
                          </a:solidFill>
                        </a:rPr>
                        <a:t>10 mg vs control, pooled</a:t>
                      </a:r>
                    </a:p>
                  </a:txBody>
                  <a:tcPr/>
                </a:tc>
                <a:tc>
                  <a:txBody>
                    <a:bodyPr/>
                    <a:lstStyle/>
                    <a:p>
                      <a:r>
                        <a:rPr sz="1019" b="0">
                          <a:solidFill>
                            <a:srgbClr val="000000"/>
                          </a:solidFill>
                        </a:rPr>
                        <a:t>-5.27</a:t>
                      </a:r>
                    </a:p>
                  </a:txBody>
                  <a:tcPr/>
                </a:tc>
                <a:tc>
                  <a:txBody>
                    <a:bodyPr/>
                    <a:lstStyle/>
                    <a:p>
                      <a:r>
                        <a:rPr sz="1019" b="0">
                          <a:solidFill>
                            <a:srgbClr val="000000"/>
                          </a:solidFill>
                        </a:rPr>
                        <a:t>mmHg</a:t>
                      </a:r>
                    </a:p>
                  </a:txBody>
                  <a:tcPr/>
                </a:tc>
                <a:tc>
                  <a:txBody>
                    <a:bodyPr/>
                    <a:lstStyle/>
                    <a:p>
                      <a:r>
                        <a:rPr sz="1019" b="0">
                          <a:solidFill>
                            <a:srgbClr val="000000"/>
                          </a:solidFill>
                        </a:rPr>
                        <a:t>-6.63 to -3.91 (90% WALD)</a:t>
                      </a:r>
                    </a:p>
                  </a:txBody>
                  <a:tcPr/>
                </a:tc>
                <a:tc>
                  <a:txBody>
                    <a:bodyPr/>
                    <a:lstStyle/>
                    <a:p>
                      <a:r>
                        <a:rPr sz="1019" b="0">
                          <a:solidFill>
                            <a:srgbClr val="000000"/>
                          </a:solidFill>
                        </a:rPr>
                        <a:t>0.00</a:t>
                      </a:r>
                    </a:p>
                  </a:txBody>
                  <a:tcPr/>
                </a:tc>
                <a:tc>
                  <a:txBody>
                    <a:bodyPr/>
                    <a:lstStyle/>
                    <a:p>
                      <a:r>
                        <a:rPr sz="1019" b="0">
                          <a:solidFill>
                            <a:srgbClr val="000000"/>
                          </a:solidFill>
                        </a:rPr>
                        <a:t>below threshold</a:t>
                      </a:r>
                    </a:p>
                  </a:txBody>
                  <a:tcPr/>
                </a:tc>
              </a:tr>
              <a:tr h="304800">
                <a:tc>
                  <a:txBody>
                    <a:bodyPr/>
                    <a:lstStyle/>
                    <a:p>
                      <a:r>
                        <a:rPr sz="1019" b="0">
                          <a:solidFill>
                            <a:srgbClr val="000000"/>
                          </a:solidFill>
                        </a:rPr>
                        <a:t>40 mg vs control, age 51+</a:t>
                      </a:r>
                    </a:p>
                  </a:txBody>
                  <a:tcPr/>
                </a:tc>
                <a:tc>
                  <a:txBody>
                    <a:bodyPr/>
                    <a:lstStyle/>
                    <a:p>
                      <a:r>
                        <a:rPr sz="1019" b="0">
                          <a:solidFill>
                            <a:srgbClr val="000000"/>
                          </a:solidFill>
                        </a:rPr>
                        <a:t>6.20</a:t>
                      </a:r>
                    </a:p>
                  </a:txBody>
                  <a:tcPr/>
                </a:tc>
                <a:tc>
                  <a:txBody>
                    <a:bodyPr/>
                    <a:lstStyle/>
                    <a:p>
                      <a:r>
                        <a:rPr sz="1019" b="0">
                          <a:solidFill>
                            <a:srgbClr val="000000"/>
                          </a:solidFill>
                        </a:rPr>
                        <a:t>mmHg</a:t>
                      </a:r>
                    </a:p>
                  </a:txBody>
                  <a:tcPr/>
                </a:tc>
                <a:tc>
                  <a:txBody>
                    <a:bodyPr/>
                    <a:lstStyle/>
                    <a:p>
                      <a:r>
                        <a:rPr sz="1019" b="0">
                          <a:solidFill>
                            <a:srgbClr val="000000"/>
                          </a:solidFill>
                        </a:rPr>
                        <a:t>3.98 to 8.42 (90% WALD)</a:t>
                      </a:r>
                    </a:p>
                  </a:txBody>
                  <a:tcPr/>
                </a:tc>
                <a:tc>
                  <a:txBody>
                    <a:bodyPr/>
                    <a:lstStyle/>
                    <a:p>
                      <a:r>
                        <a:rPr sz="1019" b="0">
                          <a:solidFill>
                            <a:srgbClr val="000000"/>
                          </a:solidFill>
                        </a:rPr>
                        <a:t>0.00</a:t>
                      </a:r>
                    </a:p>
                  </a:txBody>
                  <a:tcPr/>
                </a:tc>
                <a:tc>
                  <a:txBody>
                    <a:bodyPr/>
                    <a:lstStyle/>
                    <a:p>
                      <a:r>
                        <a:rPr sz="1019" b="0">
                          <a:solidFill>
                            <a:srgbClr val="000000"/>
                          </a:solidFill>
                        </a:rPr>
                        <a:t>above threshold</a:t>
                      </a:r>
                    </a:p>
                  </a:txBody>
                  <a:tcPr/>
                </a:tc>
              </a:tr>
              <a:tr h="304800">
                <a:tc>
                  <a:txBody>
                    <a:bodyPr/>
                    <a:lstStyle/>
                    <a:p>
                      <a:r>
                        <a:rPr sz="1019" b="0">
                          <a:solidFill>
                            <a:srgbClr val="000000"/>
                          </a:solidFill>
                        </a:rPr>
                        <a:t>40 mg vs control, age 25-35</a:t>
                      </a:r>
                    </a:p>
                  </a:txBody>
                  <a:tcPr/>
                </a:tc>
                <a:tc>
                  <a:txBody>
                    <a:bodyPr/>
                    <a:lstStyle/>
                    <a:p>
                      <a:r>
                        <a:rPr sz="1019" b="0">
                          <a:solidFill>
                            <a:srgbClr val="000000"/>
                          </a:solidFill>
                        </a:rPr>
                        <a:t>-5.26</a:t>
                      </a:r>
                    </a:p>
                  </a:txBody>
                  <a:tcPr/>
                </a:tc>
                <a:tc>
                  <a:txBody>
                    <a:bodyPr/>
                    <a:lstStyle/>
                    <a:p>
                      <a:r>
                        <a:rPr sz="1019" b="0">
                          <a:solidFill>
                            <a:srgbClr val="000000"/>
                          </a:solidFill>
                        </a:rPr>
                        <a:t>mmHg</a:t>
                      </a:r>
                    </a:p>
                  </a:txBody>
                  <a:tcPr/>
                </a:tc>
                <a:tc>
                  <a:txBody>
                    <a:bodyPr/>
                    <a:lstStyle/>
                    <a:p>
                      <a:r>
                        <a:rPr sz="1019" b="0">
                          <a:solidFill>
                            <a:srgbClr val="000000"/>
                          </a:solidFill>
                        </a:rPr>
                        <a:t>-8.17 to -2.36 (90% WALD)</a:t>
                      </a:r>
                    </a:p>
                  </a:txBody>
                  <a:tcPr/>
                </a:tc>
                <a:tc>
                  <a:txBody>
                    <a:bodyPr/>
                    <a:lstStyle/>
                    <a:p>
                      <a:r>
                        <a:rPr sz="1019" b="0">
                          <a:solidFill>
                            <a:srgbClr val="000000"/>
                          </a:solidFill>
                        </a:rPr>
                        <a:t>0.00</a:t>
                      </a:r>
                    </a:p>
                  </a:txBody>
                  <a:tcPr/>
                </a:tc>
                <a:tc>
                  <a:txBody>
                    <a:bodyPr/>
                    <a:lstStyle/>
                    <a:p>
                      <a:r>
                        <a:rPr sz="1019" b="0">
                          <a:solidFill>
                            <a:srgbClr val="000000"/>
                          </a:solidFill>
                        </a:rPr>
                        <a:t>below threshold</a:t>
                      </a:r>
                    </a:p>
                  </a:txBody>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3200" cy="431800"/>
          </a:xfrm>
          <a:prstGeom prst="rect">
            <a:avLst/>
          </a:prstGeom>
          <a:noFill/>
        </p:spPr>
        <p:txBody>
          <a:bodyPr wrap="square">
            <a:spAutoFit/>
          </a:bodyPr>
          <a:lstStyle/>
          <a:p>
            <a:r>
              <a:rPr sz="1200" b="1">
                <a:solidFill>
                  <a:srgbClr val="000000"/>
                </a:solidFill>
              </a:rPr>
              <a:t>Tables (cont.)</a:t>
            </a:r>
          </a:p>
        </p:txBody>
      </p:sp>
      <p:sp>
        <p:nvSpPr>
          <p:cNvPr id="3" name="TextBox 2"/>
          <p:cNvSpPr txBox="1"/>
          <p:nvPr/>
        </p:nvSpPr>
        <p:spPr>
          <a:xfrm>
            <a:off x="914400" y="965200"/>
            <a:ext cx="10363200" cy="508000"/>
          </a:xfrm>
          <a:prstGeom prst="rect">
            <a:avLst/>
          </a:prstGeom>
          <a:noFill/>
        </p:spPr>
        <p:txBody>
          <a:bodyPr wrap="square">
            <a:spAutoFit/>
          </a:bodyPr>
          <a:lstStyle/>
          <a:p>
            <a:r>
              <a:rPr sz="1200" b="1">
                <a:solidFill>
                  <a:srgbClr val="000000"/>
                </a:solidFill>
              </a:rPr>
              <a:t>*Table 3*. Recorded diagnostics.</a:t>
            </a:r>
          </a:p>
        </p:txBody>
      </p:sp>
      <p:graphicFrame>
        <p:nvGraphicFramePr>
          <p:cNvPr id="4" name="Table 3"/>
          <p:cNvGraphicFramePr>
            <a:graphicFrameLocks noGrp="1"/>
          </p:cNvGraphicFramePr>
          <p:nvPr/>
        </p:nvGraphicFramePr>
        <p:xfrm>
          <a:off x="914400" y="1219200"/>
          <a:ext cx="10363200" cy="1828800"/>
        </p:xfrm>
        <a:graphic>
          <a:graphicData uri="http://schemas.openxmlformats.org/drawingml/2006/table">
            <a:tbl>
              <a:tblPr firstRow="1" bandRow="1">
                <a:tableStyleId>{5C22544A-7EE6-4342-B048-85BDC9FD1C3A}</a:tableStyleId>
              </a:tblPr>
              <a:tblGrid>
                <a:gridCol w="2590800"/>
                <a:gridCol w="2590800"/>
                <a:gridCol w="2590800"/>
                <a:gridCol w="2590800"/>
              </a:tblGrid>
              <a:tr h="304800">
                <a:tc>
                  <a:txBody>
                    <a:bodyPr/>
                    <a:lstStyle/>
                    <a:p>
                      <a:r>
                        <a:rPr sz="1019" b="1">
                          <a:solidFill>
                            <a:srgbClr val="000000"/>
                          </a:solidFill>
                        </a:rPr>
                        <a:t>Check</a:t>
                      </a:r>
                    </a:p>
                  </a:txBody>
                  <a:tcPr/>
                </a:tc>
                <a:tc>
                  <a:txBody>
                    <a:bodyPr/>
                    <a:lstStyle/>
                    <a:p>
                      <a:r>
                        <a:rPr sz="1019" b="1">
                          <a:solidFill>
                            <a:srgbClr val="000000"/>
                          </a:solidFill>
                        </a:rPr>
                        <a:t>Value</a:t>
                      </a:r>
                    </a:p>
                  </a:txBody>
                  <a:tcPr/>
                </a:tc>
                <a:tc>
                  <a:txBody>
                    <a:bodyPr/>
                    <a:lstStyle/>
                    <a:p>
                      <a:r>
                        <a:rPr sz="1019" b="1">
                          <a:solidFill>
                            <a:srgbClr val="000000"/>
                          </a:solidFill>
                        </a:rPr>
                        <a:t>Unit</a:t>
                      </a:r>
                    </a:p>
                  </a:txBody>
                  <a:tcPr/>
                </a:tc>
                <a:tc>
                  <a:txBody>
                    <a:bodyPr/>
                    <a:lstStyle/>
                    <a:p>
                      <a:r>
                        <a:rPr sz="1019" b="1">
                          <a:solidFill>
                            <a:srgbClr val="000000"/>
                          </a:solidFill>
                        </a:rPr>
                        <a:t>Interval</a:t>
                      </a:r>
                    </a:p>
                  </a:txBody>
                  <a:tcPr/>
                </a:tc>
              </a:tr>
              <a:tr h="304800">
                <a:tc>
                  <a:txBody>
                    <a:bodyPr/>
                    <a:lstStyle/>
                    <a:p>
                      <a:r>
                        <a:rPr sz="1019" b="0">
                          <a:solidFill>
                            <a:srgbClr val="000000"/>
                          </a:solidFill>
                        </a:rPr>
                        <a:t>Units still on study at the final week</a:t>
                      </a:r>
                    </a:p>
                  </a:txBody>
                  <a:tcPr/>
                </a:tc>
                <a:tc>
                  <a:txBody>
                    <a:bodyPr/>
                    <a:lstStyle/>
                    <a:p>
                      <a:r>
                        <a:rPr sz="1019" b="0">
                          <a:solidFill>
                            <a:srgbClr val="000000"/>
                          </a:solidFill>
                        </a:rPr>
                        <a:t>0.797</a:t>
                      </a:r>
                    </a:p>
                  </a:txBody>
                  <a:tcPr/>
                </a:tc>
                <a:tc>
                  <a:txBody>
                    <a:bodyPr/>
                    <a:lstStyle/>
                    <a:p>
                      <a:r>
                        <a:rPr sz="1019" b="0">
                          <a:solidFill>
                            <a:srgbClr val="000000"/>
                          </a:solidFill>
                        </a:rPr>
                        <a:t>—</a:t>
                      </a:r>
                    </a:p>
                  </a:txBody>
                  <a:tcPr/>
                </a:tc>
                <a:tc>
                  <a:txBody>
                    <a:bodyPr/>
                    <a:lstStyle/>
                    <a:p>
                      <a:r>
                        <a:rPr sz="1019" b="0">
                          <a:solidFill>
                            <a:srgbClr val="000000"/>
                          </a:solidFill>
                        </a:rPr>
                        <a:t>—</a:t>
                      </a:r>
                    </a:p>
                  </a:txBody>
                  <a:tcPr/>
                </a:tc>
              </a:tr>
              <a:tr h="304800">
                <a:tc>
                  <a:txBody>
                    <a:bodyPr/>
                    <a:lstStyle/>
                    <a:p>
                      <a:r>
                        <a:rPr sz="1019" b="0">
                          <a:solidFill>
                            <a:srgbClr val="000000"/>
                          </a:solidFill>
                        </a:rPr>
                        <a:t>Units contributing to the primary endpoint</a:t>
                      </a:r>
                    </a:p>
                  </a:txBody>
                  <a:tcPr/>
                </a:tc>
                <a:tc>
                  <a:txBody>
                    <a:bodyPr/>
                    <a:lstStyle/>
                    <a:p>
                      <a:r>
                        <a:rPr sz="1019" b="0">
                          <a:solidFill>
                            <a:srgbClr val="000000"/>
                          </a:solidFill>
                        </a:rPr>
                        <a:t>372</a:t>
                      </a:r>
                    </a:p>
                  </a:txBody>
                  <a:tcPr/>
                </a:tc>
                <a:tc>
                  <a:txBody>
                    <a:bodyPr/>
                    <a:lstStyle/>
                    <a:p>
                      <a:r>
                        <a:rPr sz="1019" b="0">
                          <a:solidFill>
                            <a:srgbClr val="000000"/>
                          </a:solidFill>
                        </a:rPr>
                        <a:t>—</a:t>
                      </a:r>
                    </a:p>
                  </a:txBody>
                  <a:tcPr/>
                </a:tc>
                <a:tc>
                  <a:txBody>
                    <a:bodyPr/>
                    <a:lstStyle/>
                    <a:p>
                      <a:r>
                        <a:rPr sz="1019" b="0">
                          <a:solidFill>
                            <a:srgbClr val="000000"/>
                          </a:solidFill>
                        </a:rPr>
                        <a:t>—</a:t>
                      </a:r>
                    </a:p>
                  </a:txBody>
                  <a:tcPr/>
                </a:tc>
              </a:tr>
              <a:tr h="304800">
                <a:tc>
                  <a:txBody>
                    <a:bodyPr/>
                    <a:lstStyle/>
                    <a:p>
                      <a:r>
                        <a:rPr sz="1019" b="0">
                          <a:solidFill>
                            <a:srgbClr val="000000"/>
                          </a:solidFill>
                        </a:rPr>
                        <a:t>Units randomized in band age 25 35</a:t>
                      </a:r>
                    </a:p>
                  </a:txBody>
                  <a:tcPr/>
                </a:tc>
                <a:tc>
                  <a:txBody>
                    <a:bodyPr/>
                    <a:lstStyle/>
                    <a:p>
                      <a:r>
                        <a:rPr sz="1019" b="0">
                          <a:solidFill>
                            <a:srgbClr val="000000"/>
                          </a:solidFill>
                        </a:rPr>
                        <a:t>100</a:t>
                      </a:r>
                    </a:p>
                  </a:txBody>
                  <a:tcPr/>
                </a:tc>
                <a:tc>
                  <a:txBody>
                    <a:bodyPr/>
                    <a:lstStyle/>
                    <a:p>
                      <a:r>
                        <a:rPr sz="1019" b="0">
                          <a:solidFill>
                            <a:srgbClr val="000000"/>
                          </a:solidFill>
                        </a:rPr>
                        <a:t>—</a:t>
                      </a:r>
                    </a:p>
                  </a:txBody>
                  <a:tcPr/>
                </a:tc>
                <a:tc>
                  <a:txBody>
                    <a:bodyPr/>
                    <a:lstStyle/>
                    <a:p>
                      <a:r>
                        <a:rPr sz="1019" b="0">
                          <a:solidFill>
                            <a:srgbClr val="000000"/>
                          </a:solidFill>
                        </a:rPr>
                        <a:t>—</a:t>
                      </a:r>
                    </a:p>
                  </a:txBody>
                  <a:tcPr/>
                </a:tc>
              </a:tr>
              <a:tr h="304800">
                <a:tc>
                  <a:txBody>
                    <a:bodyPr/>
                    <a:lstStyle/>
                    <a:p>
                      <a:r>
                        <a:rPr sz="1019" b="0">
                          <a:solidFill>
                            <a:srgbClr val="000000"/>
                          </a:solidFill>
                        </a:rPr>
                        <a:t>Units randomized in band age 36 50</a:t>
                      </a:r>
                    </a:p>
                  </a:txBody>
                  <a:tcPr/>
                </a:tc>
                <a:tc>
                  <a:txBody>
                    <a:bodyPr/>
                    <a:lstStyle/>
                    <a:p>
                      <a:r>
                        <a:rPr sz="1019" b="0">
                          <a:solidFill>
                            <a:srgbClr val="000000"/>
                          </a:solidFill>
                        </a:rPr>
                        <a:t>160</a:t>
                      </a:r>
                    </a:p>
                  </a:txBody>
                  <a:tcPr/>
                </a:tc>
                <a:tc>
                  <a:txBody>
                    <a:bodyPr/>
                    <a:lstStyle/>
                    <a:p>
                      <a:r>
                        <a:rPr sz="1019" b="0">
                          <a:solidFill>
                            <a:srgbClr val="000000"/>
                          </a:solidFill>
                        </a:rPr>
                        <a:t>—</a:t>
                      </a:r>
                    </a:p>
                  </a:txBody>
                  <a:tcPr/>
                </a:tc>
                <a:tc>
                  <a:txBody>
                    <a:bodyPr/>
                    <a:lstStyle/>
                    <a:p>
                      <a:r>
                        <a:rPr sz="1019" b="0">
                          <a:solidFill>
                            <a:srgbClr val="000000"/>
                          </a:solidFill>
                        </a:rPr>
                        <a:t>—</a:t>
                      </a:r>
                    </a:p>
                  </a:txBody>
                  <a:tcPr/>
                </a:tc>
              </a:tr>
              <a:tr h="304800">
                <a:tc>
                  <a:txBody>
                    <a:bodyPr/>
                    <a:lstStyle/>
                    <a:p>
                      <a:r>
                        <a:rPr sz="1019" b="0">
                          <a:solidFill>
                            <a:srgbClr val="000000"/>
                          </a:solidFill>
                        </a:rPr>
                        <a:t>Units randomized in band age 51 plus</a:t>
                      </a:r>
                    </a:p>
                  </a:txBody>
                  <a:tcPr/>
                </a:tc>
                <a:tc>
                  <a:txBody>
                    <a:bodyPr/>
                    <a:lstStyle/>
                    <a:p>
                      <a:r>
                        <a:rPr sz="1019" b="0">
                          <a:solidFill>
                            <a:srgbClr val="000000"/>
                          </a:solidFill>
                        </a:rPr>
                        <a:t>140</a:t>
                      </a:r>
                    </a:p>
                  </a:txBody>
                  <a:tcPr/>
                </a:tc>
                <a:tc>
                  <a:txBody>
                    <a:bodyPr/>
                    <a:lstStyle/>
                    <a:p>
                      <a:r>
                        <a:rPr sz="1019" b="0">
                          <a:solidFill>
                            <a:srgbClr val="000000"/>
                          </a:solidFill>
                        </a:rPr>
                        <a:t>—</a:t>
                      </a:r>
                    </a:p>
                  </a:txBody>
                  <a:tcPr/>
                </a:tc>
                <a:tc>
                  <a:txBody>
                    <a:bodyPr/>
                    <a:lstStyle/>
                    <a:p>
                      <a:r>
                        <a:rPr sz="1019" b="0">
                          <a:solidFill>
                            <a:srgbClr val="000000"/>
                          </a:solidFill>
                        </a:rPr>
                        <a:t>—</a:t>
                      </a:r>
                    </a:p>
                  </a:txBody>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3200" cy="431800"/>
          </a:xfrm>
          <a:prstGeom prst="rect">
            <a:avLst/>
          </a:prstGeom>
          <a:noFill/>
        </p:spPr>
        <p:txBody>
          <a:bodyPr wrap="square">
            <a:spAutoFit/>
          </a:bodyPr>
          <a:lstStyle/>
          <a:p>
            <a:r>
              <a:rPr sz="1200" b="1">
                <a:solidFill>
                  <a:srgbClr val="000000"/>
                </a:solidFill>
              </a:rPr>
              <a:t>Figures</a:t>
            </a:r>
          </a:p>
        </p:txBody>
      </p:sp>
      <p:pic>
        <p:nvPicPr>
          <p:cNvPr id="3" name="Picture 2" descr="image.png"/>
          <p:cNvPicPr>
            <a:picLocks noChangeAspect="1"/>
          </p:cNvPicPr>
          <p:nvPr/>
        </p:nvPicPr>
        <p:blipFill>
          <a:blip r:embed="rId2"/>
          <a:stretch>
            <a:fillRect/>
          </a:stretch>
        </p:blipFill>
        <p:spPr>
          <a:xfrm>
            <a:off x="914400" y="965200"/>
            <a:ext cx="8852023" cy="4978400"/>
          </a:xfrm>
          <a:prstGeom prst="rect">
            <a:avLst/>
          </a:prstGeom>
        </p:spPr>
      </p:pic>
      <p:sp>
        <p:nvSpPr>
          <p:cNvPr id="4" name="TextBox 3"/>
          <p:cNvSpPr txBox="1"/>
          <p:nvPr/>
        </p:nvSpPr>
        <p:spPr>
          <a:xfrm>
            <a:off x="914400" y="6035040"/>
            <a:ext cx="10363200" cy="254000"/>
          </a:xfrm>
          <a:prstGeom prst="rect">
            <a:avLst/>
          </a:prstGeom>
          <a:noFill/>
        </p:spPr>
        <p:txBody>
          <a:bodyPr wrap="square">
            <a:spAutoFit/>
          </a:bodyPr>
          <a:lstStyle/>
          <a:p>
            <a:r>
              <a:rPr sz="1019" b="0">
                <a:solidFill>
                  <a:srgbClr val="000000"/>
                </a:solidFill>
              </a:rPr>
              <a:t>*Figure 1*. The identification graph. A hollow node was not measured and a dashed edge is an unmeasured common cause.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3200" cy="431800"/>
          </a:xfrm>
          <a:prstGeom prst="rect">
            <a:avLst/>
          </a:prstGeom>
          <a:noFill/>
        </p:spPr>
        <p:txBody>
          <a:bodyPr wrap="square">
            <a:spAutoFit/>
          </a:bodyPr>
          <a:lstStyle/>
          <a:p>
            <a:r>
              <a:rPr sz="1200" b="1">
                <a:solidFill>
                  <a:srgbClr val="000000"/>
                </a:solidFill>
              </a:rPr>
              <a:t>Figures (cont.)</a:t>
            </a:r>
          </a:p>
        </p:txBody>
      </p:sp>
      <p:pic>
        <p:nvPicPr>
          <p:cNvPr id="3" name="Picture 2" descr="image.png"/>
          <p:cNvPicPr>
            <a:picLocks noChangeAspect="1"/>
          </p:cNvPicPr>
          <p:nvPr/>
        </p:nvPicPr>
        <p:blipFill>
          <a:blip r:embed="rId2"/>
          <a:stretch>
            <a:fillRect/>
          </a:stretch>
        </p:blipFill>
        <p:spPr>
          <a:xfrm>
            <a:off x="914400" y="965200"/>
            <a:ext cx="8852023" cy="4978400"/>
          </a:xfrm>
          <a:prstGeom prst="rect">
            <a:avLst/>
          </a:prstGeom>
        </p:spPr>
      </p:pic>
      <p:sp>
        <p:nvSpPr>
          <p:cNvPr id="4" name="TextBox 3"/>
          <p:cNvSpPr txBox="1"/>
          <p:nvPr/>
        </p:nvSpPr>
        <p:spPr>
          <a:xfrm>
            <a:off x="914400" y="6035040"/>
            <a:ext cx="10363200" cy="254000"/>
          </a:xfrm>
          <a:prstGeom prst="rect">
            <a:avLst/>
          </a:prstGeom>
          <a:noFill/>
        </p:spPr>
        <p:txBody>
          <a:bodyPr wrap="square">
            <a:spAutoFit/>
          </a:bodyPr>
          <a:lstStyle/>
          <a:p>
            <a:r>
              <a:rPr sz="1019" b="0">
                <a:solidFill>
                  <a:srgbClr val="000000"/>
                </a:solidFill>
              </a:rPr>
              <a:t>*Figure 2*. Estimated quantities with their intervals. The dashed rule marks the decision threshold; a row whose interval crosses it is unsettled rather than null.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