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31720"/>
            <a:ext cx="10363200" cy="2057400"/>
          </a:xfrm>
          <a:prstGeom prst="rect">
            <a:avLst/>
          </a:prstGeom>
          <a:noFill/>
        </p:spPr>
        <p:txBody>
          <a:bodyPr wrap="square">
            <a:spAutoFit/>
          </a:bodyPr>
          <a:lstStyle/>
          <a:p>
            <a:r>
              <a:rPr sz="1200" b="1">
                <a:solidFill>
                  <a:srgbClr val="000000"/>
                </a:solidFill>
              </a:rPr>
              <a:t>HYPER-3</a:t>
            </a:r>
          </a:p>
          <a:p>
            <a:r>
              <a:rPr sz="1560" b="0">
                <a:solidFill>
                  <a:srgbClr val="000000"/>
                </a:solidFill>
              </a:rPr>
              <a:t>Matthew Reda · axiom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Author Note</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This report was generated from a recorded analysis. Every quantity in it resolves to that record, and the provenance section names what produced each one.</a:t>
            </a:r>
          </a:p>
        </p:txBody>
      </p:sp>
      <p:sp>
        <p:nvSpPr>
          <p:cNvPr id="4" name="TextBox 3"/>
          <p:cNvSpPr txBox="1"/>
          <p:nvPr/>
        </p:nvSpPr>
        <p:spPr>
          <a:xfrm>
            <a:off x="914400" y="1295400"/>
            <a:ext cx="10363200" cy="508000"/>
          </a:xfrm>
          <a:prstGeom prst="rect">
            <a:avLst/>
          </a:prstGeom>
          <a:noFill/>
        </p:spPr>
        <p:txBody>
          <a:bodyPr wrap="square">
            <a:spAutoFit/>
          </a:bodyPr>
          <a:lstStyle/>
          <a:p>
            <a:r>
              <a:rPr sz="1200" b="0">
                <a:solidFill>
                  <a:srgbClr val="000000"/>
                </a:solidFill>
              </a:rPr>
              <a:t>Correspondence concerning this report: axiom.</a:t>
            </a:r>
          </a:p>
        </p:txBody>
      </p:sp>
      <p:sp>
        <p:nvSpPr>
          <p:cNvPr id="5" name="TextBox 4"/>
          <p:cNvSpPr txBox="1"/>
          <p:nvPr/>
        </p:nvSpPr>
        <p:spPr>
          <a:xfrm>
            <a:off x="914400" y="1549400"/>
            <a:ext cx="10363200" cy="508000"/>
          </a:xfrm>
          <a:prstGeom prst="rect">
            <a:avLst/>
          </a:prstGeom>
          <a:noFill/>
        </p:spPr>
        <p:txBody>
          <a:bodyPr wrap="square">
            <a:spAutoFit/>
          </a:bodyPr>
          <a:lstStyle/>
          <a:p>
            <a:r>
              <a:rPr sz="1200" b="0">
                <a:solidFill>
                  <a:srgbClr val="000000"/>
                </a:solidFill>
              </a:rPr>
              <a:t>Running head: HYPER-3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Abstract</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The trial investigates which of three daily doses should go into phase III and whether any of them harms the people taking it. The effect of arm on change is identified via the backdoor route. Four hundred adults with elevated or stage-1 hypertension were randomized to standard of care or to one of three daily doses, stratified by age band. Seated systolic pressure was measured weekly, averaging readings inside weeks 5 to 8 for safety and weeks 9 to 12 for the primary endpoint. Each dose was compared with control by ANCOVA on the change from baseline, adjusting for baseline pressure and for age band when pooled. The pooled 40 mg versus control contrast is -1.53 mmHg with a 90% WALD interval of -2.97 to -0.10 mmHg. The 20 mg versus control pooled contrast is -4.80 mmHg with a 90% WALD interval of -6.17 to -3.44 mmHg. The 10 mg versus control pooled contrast is -5.27 mmHg with a 90% WALD interval of -6.63 to -3.91 mmHg. For age 51 and older, the 40 mg versus control contrast is 6.20 mmHg with a 90% WALD interval of 3.98 to 8.42 mmHg. For ages 25 to 35, the 40 mg versus control contrast is -5.26 mmHg with a 90% WALD interval of -8.17 to -2.36 mmHg. Dropout is assumed to be ignorable given baseline, and the pooled contrast is assumed to answer the question.</a:t>
            </a:r>
          </a:p>
        </p:txBody>
      </p:sp>
      <p:sp>
        <p:nvSpPr>
          <p:cNvPr id="4" name="TextBox 3"/>
          <p:cNvSpPr txBox="1"/>
          <p:nvPr/>
        </p:nvSpPr>
        <p:spPr>
          <a:xfrm>
            <a:off x="914400" y="2057400"/>
            <a:ext cx="10363200" cy="508000"/>
          </a:xfrm>
          <a:prstGeom prst="rect">
            <a:avLst/>
          </a:prstGeom>
          <a:noFill/>
        </p:spPr>
        <p:txBody>
          <a:bodyPr wrap="square">
            <a:spAutoFit/>
          </a:bodyPr>
          <a:lstStyle/>
          <a:p>
            <a:r>
              <a:rPr sz="1200" b="0">
                <a:solidFill>
                  <a:srgbClr val="000000"/>
                </a:solidFill>
              </a:rPr>
              <a:t>*Reported quantities:* 40 mg vs control, pooled; 20 mg vs control, pooled; 10 mg vs control, pooled; 40 mg vs control, age 51+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Introduction</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This paper evaluates which of three daily doses should go into phase III, and whether any of them is harming the people taking it. The inquiry centers on the estimated contrasts between the daily doses and the control group. In particular, the decision turns on the pooled contrast comparing 40 mg against control. The reference threshold for evaluating this contrast is 0.00 mmHg. An interval lying wholly on one side of 0.00 mmHg settles the question. An interval that spans 0.00 mmHg indicates that the question remains unsettled. The study also assesses whether any dose inflicts harm across the monitored comparisons. The validity of the resulting conclusions depends directly on underlying conditions. Specifically, two unresolved assumptions carry the analysis throughout. The first assumption is that dropout is ignorable given baseline. The second assumption is that the pooled contrast answers the question. Both assumptions are stated in the methods and revisited in the discussion of limitations.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Methods</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The study evaluates which of three daily doses should advance to phase III and whether any dose causes harm. The target of inference is the effect of treatment arm on change in blood pressure, identified via the backdoor route. Four hundred adults with elevated or stage-1 hypertension were randomized 2:1:1:1 to standard of care or to one of three daily doses, stratified by age band. To determine which dose to take forward, the design estimates three contrasts against a shared control. Seated systolic pressure was measured weekly. Both endpoints average the readings inside a window—weeks 5–8 for safety and weeks 9–12 for the primary endpoint—rather than using a single visit. Averaging correlated readings reduces endpoint variance, allowing safety boundaries to operate within strata. Each dose was compared with control by ANCOVA on the change from baseline, adjusting for baseline pressure, and for age band when the contrast is pooled across bands. Randomization licenses the intent-to-treat contrast, and adjusting for pre-randomization covariates adds precision without compromising identification. Twelve harm contrasts, comparing each dose against control overall and inside each age band, were evaluated at scheduled safety reviews against a posterior-probability boundary with a 2 mmHg clinical margin. Pre-specifying the age bands as monitored contrasts allows subgroup-specific harms to be detected before the trial ends. The analysis relies on the assumptions that dropout is ignorable given baseline and that the pooled contrast answers the trial question.</a:t>
            </a:r>
          </a:p>
        </p:txBody>
      </p:sp>
      <p:sp>
        <p:nvSpPr>
          <p:cNvPr id="4" name="TextBox 3"/>
          <p:cNvSpPr txBox="1"/>
          <p:nvPr/>
        </p:nvSpPr>
        <p:spPr>
          <a:xfrm>
            <a:off x="914400" y="2286000"/>
            <a:ext cx="10363200" cy="508000"/>
          </a:xfrm>
          <a:prstGeom prst="rect">
            <a:avLst/>
          </a:prstGeom>
          <a:noFill/>
        </p:spPr>
        <p:txBody>
          <a:bodyPr wrap="square">
            <a:spAutoFit/>
          </a:bodyPr>
          <a:lstStyle/>
          <a:p>
            <a:r>
              <a:rPr sz="1200" b="1">
                <a:solidFill>
                  <a:srgbClr val="000000"/>
                </a:solidFill>
              </a:rPr>
              <a:t>Assumptions this analysis rests on</a:t>
            </a:r>
          </a:p>
        </p:txBody>
      </p:sp>
      <p:graphicFrame>
        <p:nvGraphicFramePr>
          <p:cNvPr id="5" name="Table 4"/>
          <p:cNvGraphicFramePr>
            <a:graphicFrameLocks noGrp="1"/>
          </p:cNvGraphicFramePr>
          <p:nvPr/>
        </p:nvGraphicFramePr>
        <p:xfrm>
          <a:off x="914400" y="2540000"/>
          <a:ext cx="10363200" cy="914400"/>
        </p:xfrm>
        <a:graphic>
          <a:graphicData uri="http://schemas.openxmlformats.org/drawingml/2006/table">
            <a:tbl>
              <a:tblPr firstRow="1" bandRow="1">
                <a:tableStyleId>{5C22544A-7EE6-4342-B048-85BDC9FD1C3A}</a:tableStyleId>
              </a:tblPr>
              <a:tblGrid>
                <a:gridCol w="2590800"/>
                <a:gridCol w="2590800"/>
                <a:gridCol w="2590800"/>
                <a:gridCol w="2590800"/>
              </a:tblGrid>
              <a:tr h="304800">
                <a:tc>
                  <a:txBody>
                    <a:bodyPr/>
                    <a:lstStyle/>
                    <a:p>
                      <a:r>
                        <a:rPr sz="1019" b="1">
                          <a:solidFill>
                            <a:srgbClr val="000000"/>
                          </a:solidFill>
                        </a:rPr>
                        <a:t>Assumption</a:t>
                      </a:r>
                    </a:p>
                  </a:txBody>
                  <a:tcPr/>
                </a:tc>
                <a:tc>
                  <a:txBody>
                    <a:bodyPr/>
                    <a:lstStyle/>
                    <a:p>
                      <a:r>
                        <a:rPr sz="1019" b="1">
                          <a:solidFill>
                            <a:srgbClr val="000000"/>
                          </a:solidFill>
                        </a:rPr>
                        <a:t>Statement</a:t>
                      </a:r>
                    </a:p>
                  </a:txBody>
                  <a:tcPr/>
                </a:tc>
                <a:tc>
                  <a:txBody>
                    <a:bodyPr/>
                    <a:lstStyle/>
                    <a:p>
                      <a:r>
                        <a:rPr sz="1019" b="1">
                          <a:solidFill>
                            <a:srgbClr val="000000"/>
                          </a:solidFill>
                        </a:rPr>
                        <a:t>Status</a:t>
                      </a:r>
                    </a:p>
                  </a:txBody>
                  <a:tcPr/>
                </a:tc>
                <a:tc>
                  <a:txBody>
                    <a:bodyPr/>
                    <a:lstStyle/>
                    <a:p>
                      <a:r>
                        <a:rPr sz="1019" b="1">
                          <a:solidFill>
                            <a:srgbClr val="000000"/>
                          </a:solidFill>
                        </a:rPr>
                        <a:t>Challenged by</a:t>
                      </a:r>
                    </a:p>
                  </a:txBody>
                  <a:tcPr/>
                </a:tc>
              </a:tr>
              <a:tr h="304800">
                <a:tc>
                  <a:txBody>
                    <a:bodyPr/>
                    <a:lstStyle/>
                    <a:p>
                      <a:r>
                        <a:rPr sz="1019" b="0">
                          <a:solidFill>
                            <a:srgbClr val="000000"/>
                          </a:solidFill>
                        </a:rPr>
                        <a:t>dropout is ignorable given baseline</a:t>
                      </a:r>
                    </a:p>
                  </a:txBody>
                  <a:tcPr/>
                </a:tc>
                <a:tc>
                  <a:txBody>
                    <a:bodyPr/>
                    <a:lstStyle/>
                    <a:p>
                      <a:r>
                        <a:rPr sz="1019" b="0">
                          <a:solidFill>
                            <a:srgbClr val="000000"/>
                          </a:solidFill>
                        </a:rPr>
                        <a:t>units who left the study differ from those who stayed only through what was measured before randomization</a:t>
                      </a:r>
                    </a:p>
                  </a:txBody>
                  <a:tcPr/>
                </a:tc>
                <a:tc>
                  <a:txBody>
                    <a:bodyPr/>
                    <a:lstStyle/>
                    <a:p>
                      <a:r>
                        <a:rPr sz="1019" b="0">
                          <a:solidFill>
                            <a:srgbClr val="000000"/>
                          </a:solidFill>
                        </a:rPr>
                        <a:t>is assumed and has not been checked</a:t>
                      </a:r>
                    </a:p>
                  </a:txBody>
                  <a:tcPr/>
                </a:tc>
                <a:tc>
                  <a:txBody>
                    <a:bodyPr/>
                    <a:lstStyle/>
                    <a:p>
                      <a:r>
                        <a:rPr sz="1019" b="0">
                          <a:solidFill>
                            <a:srgbClr val="000000"/>
                          </a:solidFill>
                        </a:rPr>
                        <a:t>a tipping-point analysis over plausible departures from ignorability</a:t>
                      </a:r>
                    </a:p>
                  </a:txBody>
                  <a:tcPr/>
                </a:tc>
              </a:tr>
              <a:tr h="304800">
                <a:tc>
                  <a:txBody>
                    <a:bodyPr/>
                    <a:lstStyle/>
                    <a:p>
                      <a:r>
                        <a:rPr sz="1019" b="0">
                          <a:solidFill>
                            <a:srgbClr val="000000"/>
                          </a:solidFill>
                        </a:rPr>
                        <a:t>the pooled contrast answers the question</a:t>
                      </a:r>
                    </a:p>
                  </a:txBody>
                  <a:tcPr/>
                </a:tc>
                <a:tc>
                  <a:txBody>
                    <a:bodyPr/>
                    <a:lstStyle/>
                    <a:p>
                      <a:r>
                        <a:rPr sz="1019" b="0">
                          <a:solidFill>
                            <a:srgbClr val="000000"/>
                          </a:solidFill>
                        </a:rPr>
                        <a:t>a single number over all age bands describes the effect the decision is about</a:t>
                      </a:r>
                    </a:p>
                  </a:txBody>
                  <a:tcPr/>
                </a:tc>
                <a:tc>
                  <a:txBody>
                    <a:bodyPr/>
                    <a:lstStyle/>
                    <a:p>
                      <a:r>
                        <a:rPr sz="1019" b="0">
                          <a:solidFill>
                            <a:srgbClr val="000000"/>
                          </a:solidFill>
                        </a:rPr>
                        <a:t>is known to fail</a:t>
                      </a:r>
                    </a:p>
                  </a:txBody>
                  <a:tcPr/>
                </a:tc>
                <a:tc>
                  <a:txBody>
                    <a:bodyPr/>
                    <a:lstStyle/>
                    <a:p>
                      <a:r>
                        <a:rPr sz="1019" b="0">
                          <a:solidFill>
                            <a:srgbClr val="000000"/>
                          </a:solidFill>
                        </a:rPr>
                        <a:t>heterogeneity across the pre-specified strata</a:t>
                      </a:r>
                    </a:p>
                  </a:txBody>
                  <a:tcPr/>
                </a:tc>
              </a:tr>
            </a:tbl>
          </a:graphicData>
        </a:graphic>
      </p:graphicFrame>
      <p:sp>
        <p:nvSpPr>
          <p:cNvPr id="6" name="TextBox 5"/>
          <p:cNvSpPr txBox="1"/>
          <p:nvPr/>
        </p:nvSpPr>
        <p:spPr>
          <a:xfrm>
            <a:off x="914400" y="3606800"/>
            <a:ext cx="10363200" cy="2336800"/>
          </a:xfrm>
          <a:prstGeom prst="rect">
            <a:avLst/>
          </a:prstGeom>
          <a:noFill/>
        </p:spPr>
        <p:txBody>
          <a:bodyPr wrap="square">
            <a:spAutoFit/>
          </a:bodyPr>
          <a:lstStyle/>
          <a:p>
            <a:r>
              <a:rPr sz="1019" b="1">
                <a:solidFill>
                  <a:srgbClr val="000000"/>
                </a:solidFill>
              </a:rPr>
              <a:t>assumption  </a:t>
            </a:r>
            <a:r>
              <a:rPr sz="1080" b="0">
                <a:solidFill>
                  <a:srgbClr val="000000"/>
                </a:solidFill>
              </a:rPr>
              <a:t>Adherence was not adjusted for: it lies on the path from arm to outcome, and conditioning on it would break the randomization.</a:t>
            </a:r>
          </a:p>
          <a:p>
            <a:r>
              <a:rPr sz="1019" b="1">
                <a:solidFill>
                  <a:srgbClr val="000000"/>
                </a:solidFill>
              </a:rPr>
              <a:t>assumption  </a:t>
            </a:r>
            <a:r>
              <a:rPr sz="1080" b="0">
                <a:solidFill>
                  <a:srgbClr val="000000"/>
                </a:solidFill>
              </a:rPr>
              <a:t>The pooled 40 mg contrast is reported alongside the per-band contrasts, never instead of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Results</a:t>
            </a:r>
          </a:p>
        </p:txBody>
      </p:sp>
      <p:sp>
        <p:nvSpPr>
          <p:cNvPr id="3" name="TextBox 2"/>
          <p:cNvSpPr txBox="1"/>
          <p:nvPr/>
        </p:nvSpPr>
        <p:spPr>
          <a:xfrm>
            <a:off x="914400" y="965200"/>
            <a:ext cx="2489200" cy="889000"/>
          </a:xfrm>
          <a:prstGeom prst="rect">
            <a:avLst/>
          </a:prstGeom>
          <a:noFill/>
        </p:spPr>
        <p:txBody>
          <a:bodyPr wrap="square">
            <a:spAutoFit/>
          </a:bodyPr>
          <a:lstStyle/>
          <a:p>
            <a:r>
              <a:rPr sz="1019" b="0">
                <a:solidFill>
                  <a:srgbClr val="000000"/>
                </a:solidFill>
              </a:rPr>
              <a:t>40 MG VS CONTROL, POOLED</a:t>
            </a:r>
          </a:p>
          <a:p>
            <a:r>
              <a:rPr sz="960" b="1">
                <a:solidFill>
                  <a:srgbClr val="000000"/>
                </a:solidFill>
              </a:rPr>
              <a:t>-1.53 mmHg</a:t>
            </a:r>
          </a:p>
          <a:p>
            <a:r>
              <a:rPr sz="1019" b="0">
                <a:solidFill>
                  <a:srgbClr val="000000"/>
                </a:solidFill>
              </a:rPr>
              <a:t>[-2.965, -0.1035] (90% WALD)</a:t>
            </a:r>
          </a:p>
        </p:txBody>
      </p:sp>
      <p:sp>
        <p:nvSpPr>
          <p:cNvPr id="4" name="TextBox 3"/>
          <p:cNvSpPr txBox="1"/>
          <p:nvPr/>
        </p:nvSpPr>
        <p:spPr>
          <a:xfrm>
            <a:off x="3505200" y="965200"/>
            <a:ext cx="2489200" cy="889000"/>
          </a:xfrm>
          <a:prstGeom prst="rect">
            <a:avLst/>
          </a:prstGeom>
          <a:noFill/>
        </p:spPr>
        <p:txBody>
          <a:bodyPr wrap="square">
            <a:spAutoFit/>
          </a:bodyPr>
          <a:lstStyle/>
          <a:p>
            <a:r>
              <a:rPr sz="1019" b="0">
                <a:solidFill>
                  <a:srgbClr val="000000"/>
                </a:solidFill>
              </a:rPr>
              <a:t>20 MG VS CONTROL, POOLED</a:t>
            </a:r>
          </a:p>
          <a:p>
            <a:r>
              <a:rPr sz="960" b="1">
                <a:solidFill>
                  <a:srgbClr val="000000"/>
                </a:solidFill>
              </a:rPr>
              <a:t>-4.80 mmHg</a:t>
            </a:r>
          </a:p>
          <a:p>
            <a:r>
              <a:rPr sz="1019" b="0">
                <a:solidFill>
                  <a:srgbClr val="000000"/>
                </a:solidFill>
              </a:rPr>
              <a:t>[-6.171, -3.437] (90% WALD)</a:t>
            </a:r>
          </a:p>
        </p:txBody>
      </p:sp>
      <p:sp>
        <p:nvSpPr>
          <p:cNvPr id="5" name="TextBox 4"/>
          <p:cNvSpPr txBox="1"/>
          <p:nvPr/>
        </p:nvSpPr>
        <p:spPr>
          <a:xfrm>
            <a:off x="6096000" y="965200"/>
            <a:ext cx="2489200" cy="889000"/>
          </a:xfrm>
          <a:prstGeom prst="rect">
            <a:avLst/>
          </a:prstGeom>
          <a:noFill/>
        </p:spPr>
        <p:txBody>
          <a:bodyPr wrap="square">
            <a:spAutoFit/>
          </a:bodyPr>
          <a:lstStyle/>
          <a:p>
            <a:r>
              <a:rPr sz="1019" b="0">
                <a:solidFill>
                  <a:srgbClr val="000000"/>
                </a:solidFill>
              </a:rPr>
              <a:t>10 MG VS CONTROL, POOLED</a:t>
            </a:r>
          </a:p>
          <a:p>
            <a:r>
              <a:rPr sz="960" b="1">
                <a:solidFill>
                  <a:srgbClr val="000000"/>
                </a:solidFill>
              </a:rPr>
              <a:t>-5.27 mmHg</a:t>
            </a:r>
          </a:p>
          <a:p>
            <a:r>
              <a:rPr sz="1019" b="0">
                <a:solidFill>
                  <a:srgbClr val="000000"/>
                </a:solidFill>
              </a:rPr>
              <a:t>[-6.631, -3.907] (90% WALD)</a:t>
            </a:r>
          </a:p>
        </p:txBody>
      </p:sp>
      <p:sp>
        <p:nvSpPr>
          <p:cNvPr id="6" name="TextBox 5"/>
          <p:cNvSpPr txBox="1"/>
          <p:nvPr/>
        </p:nvSpPr>
        <p:spPr>
          <a:xfrm>
            <a:off x="8686800" y="965200"/>
            <a:ext cx="2489200" cy="889000"/>
          </a:xfrm>
          <a:prstGeom prst="rect">
            <a:avLst/>
          </a:prstGeom>
          <a:noFill/>
        </p:spPr>
        <p:txBody>
          <a:bodyPr wrap="square">
            <a:spAutoFit/>
          </a:bodyPr>
          <a:lstStyle/>
          <a:p>
            <a:r>
              <a:rPr sz="1019" b="0">
                <a:solidFill>
                  <a:srgbClr val="000000"/>
                </a:solidFill>
              </a:rPr>
              <a:t>40 MG VS CONTROL, AGE 51+</a:t>
            </a:r>
          </a:p>
          <a:p>
            <a:r>
              <a:rPr sz="960" b="1">
                <a:solidFill>
                  <a:srgbClr val="000000"/>
                </a:solidFill>
              </a:rPr>
              <a:t>6.20 mmHg</a:t>
            </a:r>
          </a:p>
          <a:p>
            <a:r>
              <a:rPr sz="1019" b="0">
                <a:solidFill>
                  <a:srgbClr val="000000"/>
                </a:solidFill>
              </a:rPr>
              <a:t>[3.985, 8.424] (90% WALD)</a:t>
            </a:r>
          </a:p>
        </p:txBody>
      </p:sp>
      <p:sp>
        <p:nvSpPr>
          <p:cNvPr id="7" name="TextBox 6"/>
          <p:cNvSpPr txBox="1"/>
          <p:nvPr/>
        </p:nvSpPr>
        <p:spPr>
          <a:xfrm>
            <a:off x="914400" y="2006600"/>
            <a:ext cx="10363200" cy="508000"/>
          </a:xfrm>
          <a:prstGeom prst="rect">
            <a:avLst/>
          </a:prstGeom>
          <a:noFill/>
        </p:spPr>
        <p:txBody>
          <a:bodyPr wrap="square">
            <a:spAutoFit/>
          </a:bodyPr>
          <a:lstStyle/>
          <a:p>
            <a:r>
              <a:rPr sz="1200" b="0">
                <a:solidFill>
                  <a:srgbClr val="000000"/>
                </a:solidFill>
              </a:rPr>
              <a:t>The pooled contrast for 40 mg versus control is -1.53 mmHg (90% WALD -2.97 to -0.10 mmHg). For the stratum of participants aged 51 and older, the contrast for 40 mg versus control is 6.20 mmHg (90% WALD 3.98 to 8.42 mmHg).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Results (cont.)</a:t>
            </a:r>
          </a:p>
        </p:txBody>
      </p:sp>
      <p:sp>
        <p:nvSpPr>
          <p:cNvPr id="3" name="TextBox 2"/>
          <p:cNvSpPr txBox="1"/>
          <p:nvPr/>
        </p:nvSpPr>
        <p:spPr>
          <a:xfrm>
            <a:off x="914400" y="965200"/>
            <a:ext cx="10261600" cy="889000"/>
          </a:xfrm>
          <a:prstGeom prst="rect">
            <a:avLst/>
          </a:prstGeom>
          <a:noFill/>
        </p:spPr>
        <p:txBody>
          <a:bodyPr wrap="square">
            <a:spAutoFit/>
          </a:bodyPr>
          <a:lstStyle/>
          <a:p>
            <a:r>
              <a:rPr sz="1019" b="0">
                <a:solidFill>
                  <a:srgbClr val="000000"/>
                </a:solidFill>
              </a:rPr>
              <a:t>40 MG VS CONTROL, AGE 25-35</a:t>
            </a:r>
          </a:p>
          <a:p>
            <a:r>
              <a:rPr sz="960" b="1">
                <a:solidFill>
                  <a:srgbClr val="000000"/>
                </a:solidFill>
              </a:rPr>
              <a:t>-5.26 mmHg</a:t>
            </a:r>
          </a:p>
          <a:p>
            <a:r>
              <a:rPr sz="1019" b="0">
                <a:solidFill>
                  <a:srgbClr val="000000"/>
                </a:solidFill>
              </a:rPr>
              <a:t>[-8.166, -2.363] (90% WALD)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Model checking</a:t>
            </a:r>
          </a:p>
        </p:txBody>
      </p:sp>
      <p:sp>
        <p:nvSpPr>
          <p:cNvPr id="3" name="TextBox 2"/>
          <p:cNvSpPr txBox="1"/>
          <p:nvPr/>
        </p:nvSpPr>
        <p:spPr>
          <a:xfrm>
            <a:off x="914400" y="965200"/>
            <a:ext cx="2489200" cy="889000"/>
          </a:xfrm>
          <a:prstGeom prst="rect">
            <a:avLst/>
          </a:prstGeom>
          <a:noFill/>
        </p:spPr>
        <p:txBody>
          <a:bodyPr wrap="square">
            <a:spAutoFit/>
          </a:bodyPr>
          <a:lstStyle/>
          <a:p>
            <a:r>
              <a:rPr sz="1019" b="0">
                <a:solidFill>
                  <a:srgbClr val="000000"/>
                </a:solidFill>
              </a:rPr>
              <a:t>UNITS STILL ON STUDY AT THE FINAL WEEK</a:t>
            </a:r>
          </a:p>
          <a:p>
            <a:r>
              <a:rPr sz="960" b="1">
                <a:solidFill>
                  <a:srgbClr val="000000"/>
                </a:solidFill>
              </a:rPr>
              <a:t>0.797</a:t>
            </a:r>
          </a:p>
        </p:txBody>
      </p:sp>
      <p:sp>
        <p:nvSpPr>
          <p:cNvPr id="4" name="TextBox 3"/>
          <p:cNvSpPr txBox="1"/>
          <p:nvPr/>
        </p:nvSpPr>
        <p:spPr>
          <a:xfrm>
            <a:off x="3505200" y="965200"/>
            <a:ext cx="2489200" cy="889000"/>
          </a:xfrm>
          <a:prstGeom prst="rect">
            <a:avLst/>
          </a:prstGeom>
          <a:noFill/>
        </p:spPr>
        <p:txBody>
          <a:bodyPr wrap="square">
            <a:spAutoFit/>
          </a:bodyPr>
          <a:lstStyle/>
          <a:p>
            <a:r>
              <a:rPr sz="1019" b="0">
                <a:solidFill>
                  <a:srgbClr val="000000"/>
                </a:solidFill>
              </a:rPr>
              <a:t>UNITS CONTRIBUTING TO THE PRIMARY ENDPOINT</a:t>
            </a:r>
          </a:p>
          <a:p>
            <a:r>
              <a:rPr sz="960" b="1">
                <a:solidFill>
                  <a:srgbClr val="000000"/>
                </a:solidFill>
              </a:rPr>
              <a:t>372</a:t>
            </a:r>
          </a:p>
        </p:txBody>
      </p:sp>
      <p:sp>
        <p:nvSpPr>
          <p:cNvPr id="5" name="TextBox 4"/>
          <p:cNvSpPr txBox="1"/>
          <p:nvPr/>
        </p:nvSpPr>
        <p:spPr>
          <a:xfrm>
            <a:off x="6096000" y="965200"/>
            <a:ext cx="2489200" cy="889000"/>
          </a:xfrm>
          <a:prstGeom prst="rect">
            <a:avLst/>
          </a:prstGeom>
          <a:noFill/>
        </p:spPr>
        <p:txBody>
          <a:bodyPr wrap="square">
            <a:spAutoFit/>
          </a:bodyPr>
          <a:lstStyle/>
          <a:p>
            <a:r>
              <a:rPr sz="1019" b="0">
                <a:solidFill>
                  <a:srgbClr val="000000"/>
                </a:solidFill>
              </a:rPr>
              <a:t>UNITS RANDOMIZED IN BAND AGE 25 35</a:t>
            </a:r>
          </a:p>
          <a:p>
            <a:r>
              <a:rPr sz="960" b="1">
                <a:solidFill>
                  <a:srgbClr val="000000"/>
                </a:solidFill>
              </a:rPr>
              <a:t>100</a:t>
            </a:r>
          </a:p>
        </p:txBody>
      </p:sp>
      <p:sp>
        <p:nvSpPr>
          <p:cNvPr id="6" name="TextBox 5"/>
          <p:cNvSpPr txBox="1"/>
          <p:nvPr/>
        </p:nvSpPr>
        <p:spPr>
          <a:xfrm>
            <a:off x="8686800" y="965200"/>
            <a:ext cx="2489200" cy="889000"/>
          </a:xfrm>
          <a:prstGeom prst="rect">
            <a:avLst/>
          </a:prstGeom>
          <a:noFill/>
        </p:spPr>
        <p:txBody>
          <a:bodyPr wrap="square">
            <a:spAutoFit/>
          </a:bodyPr>
          <a:lstStyle/>
          <a:p>
            <a:r>
              <a:rPr sz="1019" b="0">
                <a:solidFill>
                  <a:srgbClr val="000000"/>
                </a:solidFill>
              </a:rPr>
              <a:t>UNITS RANDOMIZED IN BAND AGE 36 50</a:t>
            </a:r>
          </a:p>
          <a:p>
            <a:r>
              <a:rPr sz="960" b="1">
                <a:solidFill>
                  <a:srgbClr val="000000"/>
                </a:solidFill>
              </a:rPr>
              <a:t>160</a:t>
            </a:r>
          </a:p>
        </p:txBody>
      </p:sp>
      <p:sp>
        <p:nvSpPr>
          <p:cNvPr id="7" name="TextBox 6"/>
          <p:cNvSpPr txBox="1"/>
          <p:nvPr/>
        </p:nvSpPr>
        <p:spPr>
          <a:xfrm>
            <a:off x="914400" y="2006600"/>
            <a:ext cx="10363200" cy="508000"/>
          </a:xfrm>
          <a:prstGeom prst="rect">
            <a:avLst/>
          </a:prstGeom>
          <a:noFill/>
        </p:spPr>
        <p:txBody>
          <a:bodyPr wrap="square">
            <a:spAutoFit/>
          </a:bodyPr>
          <a:lstStyle/>
          <a:p>
            <a:r>
              <a:rPr sz="1200" b="0">
                <a:solidFill>
                  <a:srgbClr val="000000"/>
                </a:solidFill>
              </a:rPr>
              <a:t>Model checking evaluates study completion and the fit of the estimation structure rather than estimating treatment contrasts. The diagnostic record tracks unit participation across the randomized age strata. The proportion of units still on study at the final week is 0.797. There are 372 units contributing to the primary endpoint. By age stratum, 100 units were randomized in the band aged 25 to 35, 160 units in the band aged 36 to 50, and 140 units in the band aged 51 plus. These diagnostics describe the observed data patterns rather than the effect itself. Diagnostic checks can only reduce confidence in the primary estimates when discrepancies emerge, never establish them. The model fit depends on assumptions that remain unresolved in the analysis. Specifically, the analysis relies on the unresolved assumption that dropout is ignorable given baseline. It also leaves unresolved the assumption that the pooled contrast answers the question. The diagnostic values do not settle whether these missing-data or pooling assumptions hold. They outline the completeness of the sample while leaving the underlying identification assumptions open.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Model checking (cont.)</a:t>
            </a:r>
          </a:p>
        </p:txBody>
      </p:sp>
      <p:sp>
        <p:nvSpPr>
          <p:cNvPr id="3" name="TextBox 2"/>
          <p:cNvSpPr txBox="1"/>
          <p:nvPr/>
        </p:nvSpPr>
        <p:spPr>
          <a:xfrm>
            <a:off x="914400" y="965200"/>
            <a:ext cx="10261600" cy="889000"/>
          </a:xfrm>
          <a:prstGeom prst="rect">
            <a:avLst/>
          </a:prstGeom>
          <a:noFill/>
        </p:spPr>
        <p:txBody>
          <a:bodyPr wrap="square">
            <a:spAutoFit/>
          </a:bodyPr>
          <a:lstStyle/>
          <a:p>
            <a:r>
              <a:rPr sz="1019" b="0">
                <a:solidFill>
                  <a:srgbClr val="000000"/>
                </a:solidFill>
              </a:rPr>
              <a:t>UNITS RANDOMIZED IN BAND AGE 51 PLUS</a:t>
            </a:r>
          </a:p>
          <a:p>
            <a:r>
              <a:rPr sz="960" b="1">
                <a:solidFill>
                  <a:srgbClr val="000000"/>
                </a:solidFill>
              </a:rPr>
              <a:t>140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Discussion</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The target effect is identified via the backdoor route, which allows the estimates to be interpreted as effects of treatment rather than associations, subject to the trial assumptions. For the pooled comparison of 40 mg versus control, the effect is -1.53 mmHg (90% WALD -2.97 to -0.10 mmHg), which lies entirely below the decision threshold on the favorable side. This pooled figure averages an age stratum where the dose helps with one where it harms. For the pooled comparison of 20 mg versus control, the effect is -4.80 mmHg (90% WALD -6.17 to -3.44 mmHg), falling entirely on the favorable side of the threshold. Similarly, the pooled contrast for 10 mg versus control is -5.27 mmHg (90% WALD -6.63 to -3.91 mmHg), which also lies entirely below the decision threshold. Stratum-level estimates clarify the performance of the highest dose across age groups. For 40 mg versus control among participants aged 51 and older, the effect is 6.20 mmHg (90% WALD 3.98 to 8.42 mmHg), falling entirely on the unfavorable side of the threshold. This subgroup contrast reflects the harm that the safety boundary was designed to monitor, which the pooled estimate conceals. For 40 mg versus control among participants aged 25 to 35, the effect is -5.26 mmHg (90% WALD -8.17 to -2.36 mmHg), lying entirely below the decision threshold on the favorable side. These findings remain conditional on the unresolved assumptions that dropout is ignorable given baseline and that the pooled contrast answers the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Conclusions</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Determining which daily dose should advance to phase III and whether any dose produces harm cannot be answered with a single summary metric, conditional on the unresolved assumptions that dropout is ignorable given baseline and that the pooled contrast answers the question. For 40 mg vs control in the age 51+ band, the estimate is 6.20 mmHg (90% WALD 3.98 to 8.42 mmHg), which sits on the unfavourable side of the threshold. Four other findings sit on the favourable side of the threshold. The pooled estimate for 40 mg vs control is -1.53 mmHg (90% WALD -2.97 to -0.10 mmHg). For 40 mg vs control in the age 25-35 band, the estimate is -5.26 mmHg (90% WALD -8.17 to -2.36 mmHg). For 20 mg vs control, the pooled estimate is -4.80 mmHg (90% WALD -6.17 to -3.44 mmHg). For 10 mg vs control, the pooled estimate is -5.27 mmHg (90% WALD -6.63 to -3.91 mmHg). Any single summary estimate averages harm with benefit across strata. When an overall average is quoted, it conceals stratum-specific harm behind overall benefit. Consequently, the disaggregated findings are the result, and the pooled figure is not a substitute for them. The target effects are identified via the backdoor route. All findings hold under the unresolved assumptions that dropout is ignorable given baseline and that the pooled contrast answers the question.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Limitations</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Two unresolved assumptions underlie the analysis. The first assumption is that dropout is ignorable given baseline. Under this assumption, units who left the study differ from those who stayed only through what was measured before randomization. This licenses estimating treatment contrasts without modeling unobserved mechanisms of attrition. This condition is assumed and has not been checked. It would be challenged by a tipping-point analysis over plausible departures from ignorability. The second assumption is that the pooled contrast answers the question. Under this assumption, a single number over all age bands describes the effect the decision is about. This licenses evaluating outcomes using aggregate estimates across all strata. This assumption is known to fail. It is challenged by heterogeneity across the pre-specified strata.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Provenance</a:t>
            </a:r>
          </a:p>
        </p:txBody>
      </p:sp>
      <p:sp>
        <p:nvSpPr>
          <p:cNvPr id="3" name="TextBox 2"/>
          <p:cNvSpPr txBox="1"/>
          <p:nvPr/>
        </p:nvSpPr>
        <p:spPr>
          <a:xfrm>
            <a:off x="914400" y="965200"/>
            <a:ext cx="10363200" cy="508000"/>
          </a:xfrm>
          <a:prstGeom prst="rect">
            <a:avLst/>
          </a:prstGeom>
          <a:noFill/>
        </p:spPr>
        <p:txBody>
          <a:bodyPr wrap="square">
            <a:spAutoFit/>
          </a:bodyPr>
          <a:lstStyle/>
          <a:p>
            <a:r>
              <a:rPr sz="1200" b="0">
                <a:solidFill>
                  <a:srgbClr val="000000"/>
                </a:solidFill>
              </a:rPr>
              <a:t>Every number in this document resolves to a quantity in the evidence record below. Prose was checked against that record: any numeral not traceable to it, and any claim the record does not itself make, is reported rather than published.</a:t>
            </a:r>
          </a:p>
        </p:txBody>
      </p:sp>
      <p:graphicFrame>
        <p:nvGraphicFramePr>
          <p:cNvPr id="4" name="Table 3"/>
          <p:cNvGraphicFramePr>
            <a:graphicFrameLocks noGrp="1"/>
          </p:cNvGraphicFramePr>
          <p:nvPr/>
        </p:nvGraphicFramePr>
        <p:xfrm>
          <a:off x="914400" y="1371600"/>
          <a:ext cx="10363200" cy="3352800"/>
        </p:xfrm>
        <a:graphic>
          <a:graphicData uri="http://schemas.openxmlformats.org/drawingml/2006/table">
            <a:tbl>
              <a:tblPr firstRow="1" bandRow="1">
                <a:tableStyleId>{5C22544A-7EE6-4342-B048-85BDC9FD1C3A}</a:tableStyleId>
              </a:tblPr>
              <a:tblGrid>
                <a:gridCol w="2590800"/>
                <a:gridCol w="2590800"/>
                <a:gridCol w="2590800"/>
                <a:gridCol w="2590800"/>
              </a:tblGrid>
              <a:tr h="304800">
                <a:tc>
                  <a:txBody>
                    <a:bodyPr/>
                    <a:lstStyle/>
                    <a:p>
                      <a:r>
                        <a:rPr sz="1019" b="1">
                          <a:solidFill>
                            <a:srgbClr val="000000"/>
                          </a:solidFill>
                        </a:rPr>
                        <a:t>Quantity</a:t>
                      </a:r>
                    </a:p>
                  </a:txBody>
                  <a:tcPr/>
                </a:tc>
                <a:tc>
                  <a:txBody>
                    <a:bodyPr/>
                    <a:lstStyle/>
                    <a:p>
                      <a:r>
                        <a:rPr sz="1019" b="1">
                          <a:solidFill>
                            <a:srgbClr val="000000"/>
                          </a:solidFill>
                        </a:rPr>
                        <a:t>Key</a:t>
                      </a:r>
                    </a:p>
                  </a:txBody>
                  <a:tcPr/>
                </a:tc>
                <a:tc>
                  <a:txBody>
                    <a:bodyPr/>
                    <a:lstStyle/>
                    <a:p>
                      <a:r>
                        <a:rPr sz="1019" b="1">
                          <a:solidFill>
                            <a:srgbClr val="000000"/>
                          </a:solidFill>
                        </a:rPr>
                        <a:t>Value</a:t>
                      </a:r>
                    </a:p>
                  </a:txBody>
                  <a:tcPr/>
                </a:tc>
                <a:tc>
                  <a:txBody>
                    <a:bodyPr/>
                    <a:lstStyle/>
                    <a:p>
                      <a:r>
                        <a:rPr sz="1019" b="1">
                          <a:solidFill>
                            <a:srgbClr val="000000"/>
                          </a:solidFill>
                        </a:rPr>
                        <a:t>Produced by</a:t>
                      </a:r>
                    </a:p>
                  </a:txBody>
                  <a:tcPr/>
                </a:tc>
              </a:tr>
              <a:tr h="304800">
                <a:tc>
                  <a:txBody>
                    <a:bodyPr/>
                    <a:lstStyle/>
                    <a:p>
                      <a:r>
                        <a:rPr sz="1019" b="0">
                          <a:solidFill>
                            <a:srgbClr val="000000"/>
                          </a:solidFill>
                        </a:rPr>
                        <a:t>40 mg vs control, pooled</a:t>
                      </a:r>
                    </a:p>
                  </a:txBody>
                  <a:tcPr/>
                </a:tc>
                <a:tc>
                  <a:txBody>
                    <a:bodyPr/>
                    <a:lstStyle/>
                    <a:p>
                      <a:r>
                        <a:rPr sz="1019" b="0">
                          <a:solidFill>
                            <a:srgbClr val="000000"/>
                          </a:solidFill>
                        </a:rPr>
                        <a:t>pooled_40</a:t>
                      </a:r>
                    </a:p>
                  </a:txBody>
                  <a:tcPr/>
                </a:tc>
                <a:tc>
                  <a:txBody>
                    <a:bodyPr/>
                    <a:lstStyle/>
                    <a:p>
                      <a:r>
                        <a:rPr sz="1019" b="0">
                          <a:solidFill>
                            <a:srgbClr val="000000"/>
                          </a:solidFill>
                        </a:rPr>
                        <a:t>-1.53 mmHg (90% WALD -2.97 to -0.10 mmHg)</a:t>
                      </a:r>
                    </a:p>
                  </a:txBody>
                  <a:tcPr/>
                </a:tc>
                <a:tc>
                  <a:txBody>
                    <a:bodyPr/>
                    <a:lstStyle/>
                    <a:p>
                      <a:r>
                        <a:rPr sz="1019" b="0">
                          <a:solidFill>
                            <a:srgbClr val="000000"/>
                          </a:solidFill>
                        </a:rPr>
                        <a:t>identify.ols (ANCOVA)</a:t>
                      </a:r>
                    </a:p>
                  </a:txBody>
                  <a:tcPr/>
                </a:tc>
              </a:tr>
              <a:tr h="304800">
                <a:tc>
                  <a:txBody>
                    <a:bodyPr/>
                    <a:lstStyle/>
                    <a:p>
                      <a:r>
                        <a:rPr sz="1019" b="0">
                          <a:solidFill>
                            <a:srgbClr val="000000"/>
                          </a:solidFill>
                        </a:rPr>
                        <a:t>20 mg vs control, pooled</a:t>
                      </a:r>
                    </a:p>
                  </a:txBody>
                  <a:tcPr/>
                </a:tc>
                <a:tc>
                  <a:txBody>
                    <a:bodyPr/>
                    <a:lstStyle/>
                    <a:p>
                      <a:r>
                        <a:rPr sz="1019" b="0">
                          <a:solidFill>
                            <a:srgbClr val="000000"/>
                          </a:solidFill>
                        </a:rPr>
                        <a:t>pooled_20</a:t>
                      </a:r>
                    </a:p>
                  </a:txBody>
                  <a:tcPr/>
                </a:tc>
                <a:tc>
                  <a:txBody>
                    <a:bodyPr/>
                    <a:lstStyle/>
                    <a:p>
                      <a:r>
                        <a:rPr sz="1019" b="0">
                          <a:solidFill>
                            <a:srgbClr val="000000"/>
                          </a:solidFill>
                        </a:rPr>
                        <a:t>-4.80 mmHg (90% WALD -6.17 to -3.44 mmHg)</a:t>
                      </a:r>
                    </a:p>
                  </a:txBody>
                  <a:tcPr/>
                </a:tc>
                <a:tc>
                  <a:txBody>
                    <a:bodyPr/>
                    <a:lstStyle/>
                    <a:p>
                      <a:r>
                        <a:rPr sz="1019" b="0">
                          <a:solidFill>
                            <a:srgbClr val="000000"/>
                          </a:solidFill>
                        </a:rPr>
                        <a:t>identify.ols (ANCOVA)</a:t>
                      </a:r>
                    </a:p>
                  </a:txBody>
                  <a:tcPr/>
                </a:tc>
              </a:tr>
              <a:tr h="304800">
                <a:tc>
                  <a:txBody>
                    <a:bodyPr/>
                    <a:lstStyle/>
                    <a:p>
                      <a:r>
                        <a:rPr sz="1019" b="0">
                          <a:solidFill>
                            <a:srgbClr val="000000"/>
                          </a:solidFill>
                        </a:rPr>
                        <a:t>10 mg vs control, pooled</a:t>
                      </a:r>
                    </a:p>
                  </a:txBody>
                  <a:tcPr/>
                </a:tc>
                <a:tc>
                  <a:txBody>
                    <a:bodyPr/>
                    <a:lstStyle/>
                    <a:p>
                      <a:r>
                        <a:rPr sz="1019" b="0">
                          <a:solidFill>
                            <a:srgbClr val="000000"/>
                          </a:solidFill>
                        </a:rPr>
                        <a:t>pooled_10</a:t>
                      </a:r>
                    </a:p>
                  </a:txBody>
                  <a:tcPr/>
                </a:tc>
                <a:tc>
                  <a:txBody>
                    <a:bodyPr/>
                    <a:lstStyle/>
                    <a:p>
                      <a:r>
                        <a:rPr sz="1019" b="0">
                          <a:solidFill>
                            <a:srgbClr val="000000"/>
                          </a:solidFill>
                        </a:rPr>
                        <a:t>-5.27 mmHg (90% WALD -6.63 to -3.91 mmHg)</a:t>
                      </a:r>
                    </a:p>
                  </a:txBody>
                  <a:tcPr/>
                </a:tc>
                <a:tc>
                  <a:txBody>
                    <a:bodyPr/>
                    <a:lstStyle/>
                    <a:p>
                      <a:r>
                        <a:rPr sz="1019" b="0">
                          <a:solidFill>
                            <a:srgbClr val="000000"/>
                          </a:solidFill>
                        </a:rPr>
                        <a:t>identify.ols (ANCOVA)</a:t>
                      </a:r>
                    </a:p>
                  </a:txBody>
                  <a:tcPr/>
                </a:tc>
              </a:tr>
              <a:tr h="304800">
                <a:tc>
                  <a:txBody>
                    <a:bodyPr/>
                    <a:lstStyle/>
                    <a:p>
                      <a:r>
                        <a:rPr sz="1019" b="0">
                          <a:solidFill>
                            <a:srgbClr val="000000"/>
                          </a:solidFill>
                        </a:rPr>
                        <a:t>40 mg vs control, age 51+</a:t>
                      </a:r>
                    </a:p>
                  </a:txBody>
                  <a:tcPr/>
                </a:tc>
                <a:tc>
                  <a:txBody>
                    <a:bodyPr/>
                    <a:lstStyle/>
                    <a:p>
                      <a:r>
                        <a:rPr sz="1019" b="0">
                          <a:solidFill>
                            <a:srgbClr val="000000"/>
                          </a:solidFill>
                        </a:rPr>
                        <a:t>oldest_40</a:t>
                      </a:r>
                    </a:p>
                  </a:txBody>
                  <a:tcPr/>
                </a:tc>
                <a:tc>
                  <a:txBody>
                    <a:bodyPr/>
                    <a:lstStyle/>
                    <a:p>
                      <a:r>
                        <a:rPr sz="1019" b="0">
                          <a:solidFill>
                            <a:srgbClr val="000000"/>
                          </a:solidFill>
                        </a:rPr>
                        <a:t>6.20 mmHg (90% WALD 3.98 to 8.42 mmHg)</a:t>
                      </a:r>
                    </a:p>
                  </a:txBody>
                  <a:tcPr/>
                </a:tc>
                <a:tc>
                  <a:txBody>
                    <a:bodyPr/>
                    <a:lstStyle/>
                    <a:p>
                      <a:r>
                        <a:rPr sz="1019" b="0">
                          <a:solidFill>
                            <a:srgbClr val="000000"/>
                          </a:solidFill>
                        </a:rPr>
                        <a:t>identify.ols (ANCOVA)</a:t>
                      </a:r>
                    </a:p>
                  </a:txBody>
                  <a:tcPr/>
                </a:tc>
              </a:tr>
              <a:tr h="304800">
                <a:tc>
                  <a:txBody>
                    <a:bodyPr/>
                    <a:lstStyle/>
                    <a:p>
                      <a:r>
                        <a:rPr sz="1019" b="0">
                          <a:solidFill>
                            <a:srgbClr val="000000"/>
                          </a:solidFill>
                        </a:rPr>
                        <a:t>40 mg vs control, age 25-35</a:t>
                      </a:r>
                    </a:p>
                  </a:txBody>
                  <a:tcPr/>
                </a:tc>
                <a:tc>
                  <a:txBody>
                    <a:bodyPr/>
                    <a:lstStyle/>
                    <a:p>
                      <a:r>
                        <a:rPr sz="1019" b="0">
                          <a:solidFill>
                            <a:srgbClr val="000000"/>
                          </a:solidFill>
                        </a:rPr>
                        <a:t>youngest_40</a:t>
                      </a:r>
                    </a:p>
                  </a:txBody>
                  <a:tcPr/>
                </a:tc>
                <a:tc>
                  <a:txBody>
                    <a:bodyPr/>
                    <a:lstStyle/>
                    <a:p>
                      <a:r>
                        <a:rPr sz="1019" b="0">
                          <a:solidFill>
                            <a:srgbClr val="000000"/>
                          </a:solidFill>
                        </a:rPr>
                        <a:t>-5.26 mmHg (90% WALD -8.17 to -2.36 mmHg)</a:t>
                      </a:r>
                    </a:p>
                  </a:txBody>
                  <a:tcPr/>
                </a:tc>
                <a:tc>
                  <a:txBody>
                    <a:bodyPr/>
                    <a:lstStyle/>
                    <a:p>
                      <a:r>
                        <a:rPr sz="1019" b="0">
                          <a:solidFill>
                            <a:srgbClr val="000000"/>
                          </a:solidFill>
                        </a:rPr>
                        <a:t>identify.ols (ANCOVA)</a:t>
                      </a:r>
                    </a:p>
                  </a:txBody>
                  <a:tcPr/>
                </a:tc>
              </a:tr>
              <a:tr h="304800">
                <a:tc>
                  <a:txBody>
                    <a:bodyPr/>
                    <a:lstStyle/>
                    <a:p>
                      <a:r>
                        <a:rPr sz="1019" b="0">
                          <a:solidFill>
                            <a:srgbClr val="000000"/>
                          </a:solidFill>
                        </a:rPr>
                        <a:t>Units still on study at the final week</a:t>
                      </a:r>
                    </a:p>
                  </a:txBody>
                  <a:tcPr/>
                </a:tc>
                <a:tc>
                  <a:txBody>
                    <a:bodyPr/>
                    <a:lstStyle/>
                    <a:p>
                      <a:r>
                        <a:rPr sz="1019" b="0">
                          <a:solidFill>
                            <a:srgbClr val="000000"/>
                          </a:solidFill>
                        </a:rPr>
                        <a:t>retention</a:t>
                      </a:r>
                    </a:p>
                  </a:txBody>
                  <a:tcPr/>
                </a:tc>
                <a:tc>
                  <a:txBody>
                    <a:bodyPr/>
                    <a:lstStyle/>
                    <a:p>
                      <a:r>
                        <a:rPr sz="1019" b="0">
                          <a:solidFill>
                            <a:srgbClr val="000000"/>
                          </a:solidFill>
                        </a:rPr>
                        <a:t>0.797</a:t>
                      </a:r>
                    </a:p>
                  </a:txBody>
                  <a:tcPr/>
                </a:tc>
                <a:tc>
                  <a:txBody>
                    <a:bodyPr/>
                    <a:lstStyle/>
                    <a:p>
                      <a:r>
                        <a:rPr sz="1019" b="0">
                          <a:solidFill>
                            <a:srgbClr val="000000"/>
                          </a:solidFill>
                        </a:rPr>
                        <a:t>—</a:t>
                      </a:r>
                    </a:p>
                  </a:txBody>
                  <a:tcPr/>
                </a:tc>
              </a:tr>
              <a:tr h="304800">
                <a:tc>
                  <a:txBody>
                    <a:bodyPr/>
                    <a:lstStyle/>
                    <a:p>
                      <a:r>
                        <a:rPr sz="1019" b="0">
                          <a:solidFill>
                            <a:srgbClr val="000000"/>
                          </a:solidFill>
                        </a:rPr>
                        <a:t>Units contributing to the primary endpoint</a:t>
                      </a:r>
                    </a:p>
                  </a:txBody>
                  <a:tcPr/>
                </a:tc>
                <a:tc>
                  <a:txBody>
                    <a:bodyPr/>
                    <a:lstStyle/>
                    <a:p>
                      <a:r>
                        <a:rPr sz="1019" b="0">
                          <a:solidFill>
                            <a:srgbClr val="000000"/>
                          </a:solidFill>
                        </a:rPr>
                        <a:t>analysed</a:t>
                      </a:r>
                    </a:p>
                  </a:txBody>
                  <a:tcPr/>
                </a:tc>
                <a:tc>
                  <a:txBody>
                    <a:bodyPr/>
                    <a:lstStyle/>
                    <a:p>
                      <a:r>
                        <a:rPr sz="1019" b="0">
                          <a:solidFill>
                            <a:srgbClr val="000000"/>
                          </a:solidFill>
                        </a:rPr>
                        <a:t>372</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25 35</a:t>
                      </a:r>
                    </a:p>
                  </a:txBody>
                  <a:tcPr/>
                </a:tc>
                <a:tc>
                  <a:txBody>
                    <a:bodyPr/>
                    <a:lstStyle/>
                    <a:p>
                      <a:r>
                        <a:rPr sz="1019" b="0">
                          <a:solidFill>
                            <a:srgbClr val="000000"/>
                          </a:solidFill>
                        </a:rPr>
                        <a:t>n_age_25_35</a:t>
                      </a:r>
                    </a:p>
                  </a:txBody>
                  <a:tcPr/>
                </a:tc>
                <a:tc>
                  <a:txBody>
                    <a:bodyPr/>
                    <a:lstStyle/>
                    <a:p>
                      <a:r>
                        <a:rPr sz="1019" b="0">
                          <a:solidFill>
                            <a:srgbClr val="000000"/>
                          </a:solidFill>
                        </a:rPr>
                        <a:t>100</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36 50</a:t>
                      </a:r>
                    </a:p>
                  </a:txBody>
                  <a:tcPr/>
                </a:tc>
                <a:tc>
                  <a:txBody>
                    <a:bodyPr/>
                    <a:lstStyle/>
                    <a:p>
                      <a:r>
                        <a:rPr sz="1019" b="0">
                          <a:solidFill>
                            <a:srgbClr val="000000"/>
                          </a:solidFill>
                        </a:rPr>
                        <a:t>n_age_36_50</a:t>
                      </a:r>
                    </a:p>
                  </a:txBody>
                  <a:tcPr/>
                </a:tc>
                <a:tc>
                  <a:txBody>
                    <a:bodyPr/>
                    <a:lstStyle/>
                    <a:p>
                      <a:r>
                        <a:rPr sz="1019" b="0">
                          <a:solidFill>
                            <a:srgbClr val="000000"/>
                          </a:solidFill>
                        </a:rPr>
                        <a:t>160</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51 plus</a:t>
                      </a:r>
                    </a:p>
                  </a:txBody>
                  <a:tcPr/>
                </a:tc>
                <a:tc>
                  <a:txBody>
                    <a:bodyPr/>
                    <a:lstStyle/>
                    <a:p>
                      <a:r>
                        <a:rPr sz="1019" b="0">
                          <a:solidFill>
                            <a:srgbClr val="000000"/>
                          </a:solidFill>
                        </a:rPr>
                        <a:t>n_age_51_plus</a:t>
                      </a:r>
                    </a:p>
                  </a:txBody>
                  <a:tcPr/>
                </a:tc>
                <a:tc>
                  <a:txBody>
                    <a:bodyPr/>
                    <a:lstStyle/>
                    <a:p>
                      <a:r>
                        <a:rPr sz="1019" b="0">
                          <a:solidFill>
                            <a:srgbClr val="000000"/>
                          </a:solidFill>
                        </a:rPr>
                        <a:t>140</a:t>
                      </a:r>
                    </a:p>
                  </a:txBody>
                  <a:tcPr/>
                </a:tc>
                <a:tc>
                  <a:txBody>
                    <a:bodyPr/>
                    <a:lstStyle/>
                    <a:p>
                      <a:r>
                        <a:rPr sz="1019" b="0">
                          <a:solidFill>
                            <a:srgbClr val="000000"/>
                          </a:solidFill>
                        </a:rPr>
                        <a:t>—</a:t>
                      </a:r>
                    </a:p>
                  </a:txBody>
                  <a:tcPr/>
                </a:tc>
              </a:tr>
            </a:tbl>
          </a:graphicData>
        </a:graphic>
      </p:graphicFrame>
      <p:graphicFrame>
        <p:nvGraphicFramePr>
          <p:cNvPr id="5" name="Table 4"/>
          <p:cNvGraphicFramePr>
            <a:graphicFrameLocks noGrp="1"/>
          </p:cNvGraphicFramePr>
          <p:nvPr/>
        </p:nvGraphicFramePr>
        <p:xfrm>
          <a:off x="914400" y="4876800"/>
          <a:ext cx="10363200" cy="1066800"/>
        </p:xfrm>
        <a:graphic>
          <a:graphicData uri="http://schemas.openxmlformats.org/drawingml/2006/table">
            <a:tbl>
              <a:tblPr firstRow="1" bandRow="1">
                <a:tableStyleId>{5C22544A-7EE6-4342-B048-85BDC9FD1C3A}</a:tableStyleId>
              </a:tblPr>
              <a:tblGrid>
                <a:gridCol w="5181600"/>
                <a:gridCol w="5181600"/>
              </a:tblGrid>
              <a:tr h="76200">
                <a:tc>
                  <a:txBody>
                    <a:bodyPr/>
                    <a:lstStyle/>
                    <a:p>
                      <a:r>
                        <a:rPr sz="1019" b="1">
                          <a:solidFill>
                            <a:srgbClr val="000000"/>
                          </a:solidFill>
                        </a:rPr>
                        <a:t>Field</a:t>
                      </a:r>
                    </a:p>
                  </a:txBody>
                  <a:tcPr/>
                </a:tc>
                <a:tc>
                  <a:txBody>
                    <a:bodyPr/>
                    <a:lstStyle/>
                    <a:p>
                      <a:r>
                        <a:rPr sz="1019" b="1">
                          <a:solidFill>
                            <a:srgbClr val="000000"/>
                          </a:solidFill>
                        </a:rPr>
                        <a:t>Value</a:t>
                      </a:r>
                    </a:p>
                  </a:txBody>
                  <a:tcPr/>
                </a:tc>
              </a:tr>
              <a:tr h="76200">
                <a:tc>
                  <a:txBody>
                    <a:bodyPr/>
                    <a:lstStyle/>
                    <a:p>
                      <a:r>
                        <a:rPr sz="1019" b="0">
                          <a:solidFill>
                            <a:srgbClr val="000000"/>
                          </a:solidFill>
                        </a:rPr>
                        <a:t>endpoint</a:t>
                      </a:r>
                    </a:p>
                  </a:txBody>
                  <a:tcPr/>
                </a:tc>
                <a:tc>
                  <a:txBody>
                    <a:bodyPr/>
                    <a:lstStyle/>
                    <a:p>
                      <a:r>
                        <a:rPr sz="1019" b="0">
                          <a:solidFill>
                            <a:srgbClr val="000000"/>
                          </a:solidFill>
                        </a:rPr>
                        <a:t>mean change, weeks 9-12</a:t>
                      </a:r>
                    </a:p>
                  </a:txBody>
                  <a:tcPr/>
                </a:tc>
              </a:tr>
              <a:tr h="76200">
                <a:tc>
                  <a:txBody>
                    <a:bodyPr/>
                    <a:lstStyle/>
                    <a:p>
                      <a:r>
                        <a:rPr sz="1019" b="0">
                          <a:solidFill>
                            <a:srgbClr val="000000"/>
                          </a:solidFill>
                        </a:rPr>
                        <a:t>interval_mass</a:t>
                      </a:r>
                    </a:p>
                  </a:txBody>
                  <a:tcPr/>
                </a:tc>
                <a:tc>
                  <a:txBody>
                    <a:bodyPr/>
                    <a:lstStyle/>
                    <a:p>
                      <a:r>
                        <a:rPr sz="1019" b="0">
                          <a:solidFill>
                            <a:srgbClr val="000000"/>
                          </a:solidFill>
                        </a:rPr>
                        <a:t>90%</a:t>
                      </a:r>
                    </a:p>
                  </a:txBody>
                  <a:tcPr/>
                </a:tc>
              </a:tr>
              <a:tr h="76200">
                <a:tc>
                  <a:txBody>
                    <a:bodyPr/>
                    <a:lstStyle/>
                    <a:p>
                      <a:r>
                        <a:rPr sz="1019" b="0">
                          <a:solidFill>
                            <a:srgbClr val="000000"/>
                          </a:solidFill>
                        </a:rPr>
                        <a:t>seed</a:t>
                      </a:r>
                    </a:p>
                  </a:txBody>
                  <a:tcPr/>
                </a:tc>
                <a:tc>
                  <a:txBody>
                    <a:bodyPr/>
                    <a:lstStyle/>
                    <a:p>
                      <a:r>
                        <a:rPr sz="1019" b="0">
                          <a:solidFill>
                            <a:srgbClr val="000000"/>
                          </a:solidFill>
                        </a:rPr>
                        <a:t>20260821</a:t>
                      </a:r>
                    </a:p>
                  </a:txBody>
                  <a:tcPr/>
                </a:tc>
              </a:tr>
              <a:tr h="76200">
                <a:tc>
                  <a:txBody>
                    <a:bodyPr/>
                    <a:lstStyle/>
                    <a:p>
                      <a:r>
                        <a:rPr sz="1019" b="0">
                          <a:solidFill>
                            <a:srgbClr val="000000"/>
                          </a:solidFill>
                        </a:rPr>
                        <a:t>world</a:t>
                      </a:r>
                    </a:p>
                  </a:txBody>
                  <a:tcPr/>
                </a:tc>
                <a:tc>
                  <a:txBody>
                    <a:bodyPr/>
                    <a:lstStyle/>
                    <a:p>
                      <a:r>
                        <a:rPr sz="1019" b="0">
                          <a:solidFill>
                            <a:srgbClr val="000000"/>
                          </a:solidFill>
                        </a:rPr>
                        <a:t>nbs/case-studies/hypertension/hyper3.py</a:t>
                      </a:r>
                    </a:p>
                  </a:txBody>
                  <a:tcPr/>
                </a:tc>
              </a:tr>
              <a:tr h="76200">
                <a:tc>
                  <a:txBody>
                    <a:bodyPr/>
                    <a:lstStyle/>
                    <a:p>
                      <a:r>
                        <a:rPr sz="1019" b="0">
                          <a:solidFill>
                            <a:srgbClr val="000000"/>
                          </a:solidFill>
                        </a:rPr>
                        <a:t>evidence hash</a:t>
                      </a:r>
                    </a:p>
                  </a:txBody>
                  <a:tcPr/>
                </a:tc>
                <a:tc>
                  <a:txBody>
                    <a:bodyPr/>
                    <a:lstStyle/>
                    <a:p>
                      <a:r>
                        <a:rPr sz="1019" b="0">
                          <a:solidFill>
                            <a:srgbClr val="000000"/>
                          </a:solidFill>
                        </a:rPr>
                        <a:t>962d1a7970f3f2dfdc0297e7d9d6d16dd568a5441fc1cfaa7c44837d40f9c2e5</a:t>
                      </a:r>
                    </a:p>
                  </a:txBody>
                  <a:tcPr/>
                </a:tc>
              </a:tr>
              <a:tr h="76200">
                <a:tc>
                  <a:txBody>
                    <a:bodyPr/>
                    <a:lstStyle/>
                    <a:p>
                      <a:r>
                        <a:rPr sz="1019" b="0">
                          <a:solidFill>
                            <a:srgbClr val="000000"/>
                          </a:solidFill>
                        </a:rPr>
                        <a:t>narration: abstract</a:t>
                      </a:r>
                    </a:p>
                  </a:txBody>
                  <a:tcPr/>
                </a:tc>
                <a:tc>
                  <a:txBody>
                    <a:bodyPr/>
                    <a:lstStyle/>
                    <a:p>
                      <a:r>
                        <a:rPr sz="1019" b="0">
                          <a:solidFill>
                            <a:srgbClr val="000000"/>
                          </a:solidFill>
                        </a:rPr>
                        <a:t>gemini-3.5-flash-lite — verified</a:t>
                      </a:r>
                    </a:p>
                  </a:txBody>
                  <a:tcPr/>
                </a:tc>
              </a:tr>
              <a:tr h="76200">
                <a:tc>
                  <a:txBody>
                    <a:bodyPr/>
                    <a:lstStyle/>
                    <a:p>
                      <a:r>
                        <a:rPr sz="1019" b="0">
                          <a:solidFill>
                            <a:srgbClr val="000000"/>
                          </a:solidFill>
                        </a:rPr>
                        <a:t>narration: introduction</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methods</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results</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diagnostics</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discussion</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conclusions</a:t>
                      </a:r>
                    </a:p>
                  </a:txBody>
                  <a:tcPr/>
                </a:tc>
                <a:tc>
                  <a:txBody>
                    <a:bodyPr/>
                    <a:lstStyle/>
                    <a:p>
                      <a:r>
                        <a:rPr sz="1019" b="0">
                          <a:solidFill>
                            <a:srgbClr val="000000"/>
                          </a:solidFill>
                        </a:rPr>
                        <a:t>gemini-3.7-flash — verified</a:t>
                      </a:r>
                    </a:p>
                  </a:txBody>
                  <a:tcPr/>
                </a:tc>
              </a:tr>
              <a:tr h="76200">
                <a:tc>
                  <a:txBody>
                    <a:bodyPr/>
                    <a:lstStyle/>
                    <a:p>
                      <a:r>
                        <a:rPr sz="1019" b="0">
                          <a:solidFill>
                            <a:srgbClr val="000000"/>
                          </a:solidFill>
                        </a:rPr>
                        <a:t>narration: limitations</a:t>
                      </a:r>
                    </a:p>
                  </a:txBody>
                  <a:tcPr/>
                </a:tc>
                <a:tc>
                  <a:txBody>
                    <a:bodyPr/>
                    <a:lstStyle/>
                    <a:p>
                      <a:r>
                        <a:rPr sz="1019" b="0">
                          <a:solidFill>
                            <a:srgbClr val="000000"/>
                          </a:solidFill>
                        </a:rPr>
                        <a:t>gemini-3.7-flash — verified</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Tables</a:t>
            </a:r>
          </a:p>
        </p:txBody>
      </p:sp>
      <p:sp>
        <p:nvSpPr>
          <p:cNvPr id="3" name="TextBox 2"/>
          <p:cNvSpPr txBox="1"/>
          <p:nvPr/>
        </p:nvSpPr>
        <p:spPr>
          <a:xfrm>
            <a:off x="914400" y="965200"/>
            <a:ext cx="10363200" cy="508000"/>
          </a:xfrm>
          <a:prstGeom prst="rect">
            <a:avLst/>
          </a:prstGeom>
          <a:noFill/>
        </p:spPr>
        <p:txBody>
          <a:bodyPr wrap="square">
            <a:spAutoFit/>
          </a:bodyPr>
          <a:lstStyle/>
          <a:p>
            <a:r>
              <a:rPr sz="1200" b="1">
                <a:solidFill>
                  <a:srgbClr val="000000"/>
                </a:solidFill>
              </a:rPr>
              <a:t>*Table 1*. The design, as recorded parameters.</a:t>
            </a:r>
          </a:p>
        </p:txBody>
      </p:sp>
      <p:graphicFrame>
        <p:nvGraphicFramePr>
          <p:cNvPr id="4" name="Table 3"/>
          <p:cNvGraphicFramePr>
            <a:graphicFrameLocks noGrp="1"/>
          </p:cNvGraphicFramePr>
          <p:nvPr/>
        </p:nvGraphicFramePr>
        <p:xfrm>
          <a:off x="914400" y="1219200"/>
          <a:ext cx="10363200" cy="4724400"/>
        </p:xfrm>
        <a:graphic>
          <a:graphicData uri="http://schemas.openxmlformats.org/drawingml/2006/table">
            <a:tbl>
              <a:tblPr firstRow="1" bandRow="1">
                <a:tableStyleId>{5C22544A-7EE6-4342-B048-85BDC9FD1C3A}</a:tableStyleId>
              </a:tblPr>
              <a:tblGrid>
                <a:gridCol w="3454400"/>
                <a:gridCol w="3454400"/>
                <a:gridCol w="3454400"/>
              </a:tblGrid>
              <a:tr h="262466">
                <a:tc>
                  <a:txBody>
                    <a:bodyPr/>
                    <a:lstStyle/>
                    <a:p>
                      <a:r>
                        <a:rPr sz="1019" b="1">
                          <a:solidFill>
                            <a:srgbClr val="000000"/>
                          </a:solidFill>
                        </a:rPr>
                        <a:t>Step</a:t>
                      </a:r>
                    </a:p>
                  </a:txBody>
                  <a:tcPr/>
                </a:tc>
                <a:tc>
                  <a:txBody>
                    <a:bodyPr/>
                    <a:lstStyle/>
                    <a:p>
                      <a:r>
                        <a:rPr sz="1019" b="1">
                          <a:solidFill>
                            <a:srgbClr val="000000"/>
                          </a:solidFill>
                        </a:rPr>
                        <a:t>Parameter</a:t>
                      </a:r>
                    </a:p>
                  </a:txBody>
                  <a:tcPr/>
                </a:tc>
                <a:tc>
                  <a:txBody>
                    <a:bodyPr/>
                    <a:lstStyle/>
                    <a:p>
                      <a:r>
                        <a:rPr sz="1019" b="1">
                          <a:solidFill>
                            <a:srgbClr val="000000"/>
                          </a:solidFill>
                        </a:rPr>
                        <a:t>Value</a:t>
                      </a:r>
                    </a:p>
                  </a:txBody>
                  <a:tcPr/>
                </a:tc>
              </a:tr>
              <a:tr h="262466">
                <a:tc>
                  <a:txBody>
                    <a:bodyPr/>
                    <a:lstStyle/>
                    <a:p>
                      <a:r>
                        <a:rPr sz="1019" b="0">
                          <a:solidFill>
                            <a:srgbClr val="000000"/>
                          </a:solidFill>
                        </a:rPr>
                        <a:t>Identification</a:t>
                      </a:r>
                    </a:p>
                  </a:txBody>
                  <a:tcPr/>
                </a:tc>
                <a:tc>
                  <a:txBody>
                    <a:bodyPr/>
                    <a:lstStyle/>
                    <a:p>
                      <a:r>
                        <a:rPr sz="1019" b="0">
                          <a:solidFill>
                            <a:srgbClr val="000000"/>
                          </a:solidFill>
                        </a:rPr>
                        <a:t>route</a:t>
                      </a:r>
                    </a:p>
                  </a:txBody>
                  <a:tcPr/>
                </a:tc>
                <a:tc>
                  <a:txBody>
                    <a:bodyPr/>
                    <a:lstStyle/>
                    <a:p>
                      <a:r>
                        <a:rPr sz="1019" b="0">
                          <a:solidFill>
                            <a:srgbClr val="000000"/>
                          </a:solidFill>
                        </a:rPr>
                        <a:t>backdoor</a:t>
                      </a:r>
                    </a:p>
                  </a:txBody>
                  <a:tcPr/>
                </a:tc>
              </a:tr>
              <a:tr h="262466">
                <a:tc>
                  <a:txBody>
                    <a:bodyPr/>
                    <a:lstStyle/>
                    <a:p>
                      <a:r>
                        <a:rPr sz="1019" b="0">
                          <a:solidFill>
                            <a:srgbClr val="000000"/>
                          </a:solidFill>
                        </a:rPr>
                        <a:t>Identification</a:t>
                      </a:r>
                    </a:p>
                  </a:txBody>
                  <a:tcPr/>
                </a:tc>
                <a:tc>
                  <a:txBody>
                    <a:bodyPr/>
                    <a:lstStyle/>
                    <a:p>
                      <a:r>
                        <a:rPr sz="1019" b="0">
                          <a:solidFill>
                            <a:srgbClr val="000000"/>
                          </a:solidFill>
                        </a:rPr>
                        <a:t>status</a:t>
                      </a:r>
                    </a:p>
                  </a:txBody>
                  <a:tcPr/>
                </a:tc>
                <a:tc>
                  <a:txBody>
                    <a:bodyPr/>
                    <a:lstStyle/>
                    <a:p>
                      <a:r>
                        <a:rPr sz="1019" b="0">
                          <a:solidFill>
                            <a:srgbClr val="000000"/>
                          </a:solidFill>
                        </a:rPr>
                        <a:t>identified</a:t>
                      </a:r>
                    </a:p>
                  </a:txBody>
                  <a:tcPr/>
                </a:tc>
              </a:tr>
              <a:tr h="262466">
                <a:tc>
                  <a:txBody>
                    <a:bodyPr/>
                    <a:lstStyle/>
                    <a:p>
                      <a:r>
                        <a:rPr sz="1019" b="0">
                          <a:solidFill>
                            <a:srgbClr val="000000"/>
                          </a:solidFill>
                        </a:rPr>
                        <a:t>Protocol</a:t>
                      </a:r>
                    </a:p>
                  </a:txBody>
                  <a:tcPr/>
                </a:tc>
                <a:tc>
                  <a:txBody>
                    <a:bodyPr/>
                    <a:lstStyle/>
                    <a:p>
                      <a:r>
                        <a:rPr sz="1019" b="0">
                          <a:solidFill>
                            <a:srgbClr val="000000"/>
                          </a:solidFill>
                        </a:rPr>
                        <a:t>allocation</a:t>
                      </a:r>
                    </a:p>
                  </a:txBody>
                  <a:tcPr/>
                </a:tc>
                <a:tc>
                  <a:txBody>
                    <a:bodyPr/>
                    <a:lstStyle/>
                    <a:p>
                      <a:r>
                        <a:rPr sz="1019" b="0">
                          <a:solidFill>
                            <a:srgbClr val="000000"/>
                          </a:solidFill>
                        </a:rPr>
                        <a:t>2:1:1:1</a:t>
                      </a:r>
                    </a:p>
                  </a:txBody>
                  <a:tcPr/>
                </a:tc>
              </a:tr>
              <a:tr h="262466">
                <a:tc>
                  <a:txBody>
                    <a:bodyPr/>
                    <a:lstStyle/>
                    <a:p>
                      <a:r>
                        <a:rPr sz="1019" b="0">
                          <a:solidFill>
                            <a:srgbClr val="000000"/>
                          </a:solidFill>
                        </a:rPr>
                        <a:t>Protocol</a:t>
                      </a:r>
                    </a:p>
                  </a:txBody>
                  <a:tcPr/>
                </a:tc>
                <a:tc>
                  <a:txBody>
                    <a:bodyPr/>
                    <a:lstStyle/>
                    <a:p>
                      <a:r>
                        <a:rPr sz="1019" b="0">
                          <a:solidFill>
                            <a:srgbClr val="000000"/>
                          </a:solidFill>
                        </a:rPr>
                        <a:t>arms</a:t>
                      </a:r>
                    </a:p>
                  </a:txBody>
                  <a:tcPr/>
                </a:tc>
                <a:tc>
                  <a:txBody>
                    <a:bodyPr/>
                    <a:lstStyle/>
                    <a:p>
                      <a:r>
                        <a:rPr sz="1019" b="0">
                          <a:solidFill>
                            <a:srgbClr val="000000"/>
                          </a:solidFill>
                        </a:rPr>
                        <a:t>standard_of_care, dose_10, dose_20, dose_40</a:t>
                      </a:r>
                    </a:p>
                  </a:txBody>
                  <a:tcPr/>
                </a:tc>
              </a:tr>
              <a:tr h="262466">
                <a:tc>
                  <a:txBody>
                    <a:bodyPr/>
                    <a:lstStyle/>
                    <a:p>
                      <a:r>
                        <a:rPr sz="1019" b="0">
                          <a:solidFill>
                            <a:srgbClr val="000000"/>
                          </a:solidFill>
                        </a:rPr>
                        <a:t>Protocol</a:t>
                      </a:r>
                    </a:p>
                  </a:txBody>
                  <a:tcPr/>
                </a:tc>
                <a:tc>
                  <a:txBody>
                    <a:bodyPr/>
                    <a:lstStyle/>
                    <a:p>
                      <a:r>
                        <a:rPr sz="1019" b="0">
                          <a:solidFill>
                            <a:srgbClr val="000000"/>
                          </a:solidFill>
                        </a:rPr>
                        <a:t>enrollment weeks</a:t>
                      </a:r>
                    </a:p>
                  </a:txBody>
                  <a:tcPr/>
                </a:tc>
                <a:tc>
                  <a:txBody>
                    <a:bodyPr/>
                    <a:lstStyle/>
                    <a:p>
                      <a:r>
                        <a:rPr sz="1019" b="0">
                          <a:solidFill>
                            <a:srgbClr val="000000"/>
                          </a:solidFill>
                        </a:rPr>
                        <a:t>16</a:t>
                      </a:r>
                    </a:p>
                  </a:txBody>
                  <a:tcPr/>
                </a:tc>
              </a:tr>
              <a:tr h="262466">
                <a:tc>
                  <a:txBody>
                    <a:bodyPr/>
                    <a:lstStyle/>
                    <a:p>
                      <a:r>
                        <a:rPr sz="1019" b="0">
                          <a:solidFill>
                            <a:srgbClr val="000000"/>
                          </a:solidFill>
                        </a:rPr>
                        <a:t>Protocol</a:t>
                      </a:r>
                    </a:p>
                  </a:txBody>
                  <a:tcPr/>
                </a:tc>
                <a:tc>
                  <a:txBody>
                    <a:bodyPr/>
                    <a:lstStyle/>
                    <a:p>
                      <a:r>
                        <a:rPr sz="1019" b="0">
                          <a:solidFill>
                            <a:srgbClr val="000000"/>
                          </a:solidFill>
                        </a:rPr>
                        <a:t>follow-up weeks</a:t>
                      </a:r>
                    </a:p>
                  </a:txBody>
                  <a:tcPr/>
                </a:tc>
                <a:tc>
                  <a:txBody>
                    <a:bodyPr/>
                    <a:lstStyle/>
                    <a:p>
                      <a:r>
                        <a:rPr sz="1019" b="0">
                          <a:solidFill>
                            <a:srgbClr val="000000"/>
                          </a:solidFill>
                        </a:rPr>
                        <a:t>24</a:t>
                      </a:r>
                    </a:p>
                  </a:txBody>
                  <a:tcPr/>
                </a:tc>
              </a:tr>
              <a:tr h="262466">
                <a:tc>
                  <a:txBody>
                    <a:bodyPr/>
                    <a:lstStyle/>
                    <a:p>
                      <a:r>
                        <a:rPr sz="1019" b="0">
                          <a:solidFill>
                            <a:srgbClr val="000000"/>
                          </a:solidFill>
                        </a:rPr>
                        <a:t>Protocol</a:t>
                      </a:r>
                    </a:p>
                  </a:txBody>
                  <a:tcPr/>
                </a:tc>
                <a:tc>
                  <a:txBody>
                    <a:bodyPr/>
                    <a:lstStyle/>
                    <a:p>
                      <a:r>
                        <a:rPr sz="1019" b="0">
                          <a:solidFill>
                            <a:srgbClr val="000000"/>
                          </a:solidFill>
                        </a:rPr>
                        <a:t>primary endpoint week</a:t>
                      </a:r>
                    </a:p>
                  </a:txBody>
                  <a:tcPr/>
                </a:tc>
                <a:tc>
                  <a:txBody>
                    <a:bodyPr/>
                    <a:lstStyle/>
                    <a:p>
                      <a:r>
                        <a:rPr sz="1019" b="0">
                          <a:solidFill>
                            <a:srgbClr val="000000"/>
                          </a:solidFill>
                        </a:rPr>
                        <a:t>12</a:t>
                      </a:r>
                    </a:p>
                  </a:txBody>
                  <a:tcPr/>
                </a:tc>
              </a:tr>
              <a:tr h="262466">
                <a:tc>
                  <a:txBody>
                    <a:bodyPr/>
                    <a:lstStyle/>
                    <a:p>
                      <a:r>
                        <a:rPr sz="1019" b="0">
                          <a:solidFill>
                            <a:srgbClr val="000000"/>
                          </a:solidFill>
                        </a:rPr>
                        <a:t>Protocol</a:t>
                      </a:r>
                    </a:p>
                  </a:txBody>
                  <a:tcPr/>
                </a:tc>
                <a:tc>
                  <a:txBody>
                    <a:bodyPr/>
                    <a:lstStyle/>
                    <a:p>
                      <a:r>
                        <a:rPr sz="1019" b="0">
                          <a:solidFill>
                            <a:srgbClr val="000000"/>
                          </a:solidFill>
                        </a:rPr>
                        <a:t>strata</a:t>
                      </a:r>
                    </a:p>
                  </a:txBody>
                  <a:tcPr/>
                </a:tc>
                <a:tc>
                  <a:txBody>
                    <a:bodyPr/>
                    <a:lstStyle/>
                    <a:p>
                      <a:r>
                        <a:rPr sz="1019" b="0">
                          <a:solidFill>
                            <a:srgbClr val="000000"/>
                          </a:solidFill>
                        </a:rPr>
                        <a:t>age_25_35, age_36_50, age_51_plus</a:t>
                      </a:r>
                    </a:p>
                  </a:txBody>
                  <a:tcPr/>
                </a:tc>
              </a:tr>
              <a:tr h="262466">
                <a:tc>
                  <a:txBody>
                    <a:bodyPr/>
                    <a:lstStyle/>
                    <a:p>
                      <a:r>
                        <a:rPr sz="1019" b="0">
                          <a:solidFill>
                            <a:srgbClr val="000000"/>
                          </a:solidFill>
                        </a:rPr>
                        <a:t>Protocol</a:t>
                      </a:r>
                    </a:p>
                  </a:txBody>
                  <a:tcPr/>
                </a:tc>
                <a:tc>
                  <a:txBody>
                    <a:bodyPr/>
                    <a:lstStyle/>
                    <a:p>
                      <a:r>
                        <a:rPr sz="1019" b="0">
                          <a:solidFill>
                            <a:srgbClr val="000000"/>
                          </a:solidFill>
                        </a:rPr>
                        <a:t>units randomized</a:t>
                      </a:r>
                    </a:p>
                  </a:txBody>
                  <a:tcPr/>
                </a:tc>
                <a:tc>
                  <a:txBody>
                    <a:bodyPr/>
                    <a:lstStyle/>
                    <a:p>
                      <a:r>
                        <a:rPr sz="1019" b="0">
                          <a:solidFill>
                            <a:srgbClr val="000000"/>
                          </a:solidFill>
                        </a:rPr>
                        <a:t>400</a:t>
                      </a:r>
                    </a:p>
                  </a:txBody>
                  <a:tcPr/>
                </a:tc>
              </a:tr>
              <a:tr h="262466">
                <a:tc>
                  <a:txBody>
                    <a:bodyPr/>
                    <a:lstStyle/>
                    <a:p>
                      <a:r>
                        <a:rPr sz="1019" b="0">
                          <a:solidFill>
                            <a:srgbClr val="000000"/>
                          </a:solidFill>
                        </a:rPr>
                        <a:t>Measurement</a:t>
                      </a:r>
                    </a:p>
                  </a:txBody>
                  <a:tcPr/>
                </a:tc>
                <a:tc>
                  <a:txBody>
                    <a:bodyPr/>
                    <a:lstStyle/>
                    <a:p>
                      <a:r>
                        <a:rPr sz="1019" b="0">
                          <a:solidFill>
                            <a:srgbClr val="000000"/>
                          </a:solidFill>
                        </a:rPr>
                        <a:t>minimum visits in window</a:t>
                      </a:r>
                    </a:p>
                  </a:txBody>
                  <a:tcPr/>
                </a:tc>
                <a:tc>
                  <a:txBody>
                    <a:bodyPr/>
                    <a:lstStyle/>
                    <a:p>
                      <a:r>
                        <a:rPr sz="1019" b="0">
                          <a:solidFill>
                            <a:srgbClr val="000000"/>
                          </a:solidFill>
                        </a:rPr>
                        <a:t>3</a:t>
                      </a:r>
                    </a:p>
                  </a:txBody>
                  <a:tcPr/>
                </a:tc>
              </a:tr>
              <a:tr h="262466">
                <a:tc>
                  <a:txBody>
                    <a:bodyPr/>
                    <a:lstStyle/>
                    <a:p>
                      <a:r>
                        <a:rPr sz="1019" b="0">
                          <a:solidFill>
                            <a:srgbClr val="000000"/>
                          </a:solidFill>
                        </a:rPr>
                        <a:t>Measurement</a:t>
                      </a:r>
                    </a:p>
                  </a:txBody>
                  <a:tcPr/>
                </a:tc>
                <a:tc>
                  <a:txBody>
                    <a:bodyPr/>
                    <a:lstStyle/>
                    <a:p>
                      <a:r>
                        <a:rPr sz="1019" b="0">
                          <a:solidFill>
                            <a:srgbClr val="000000"/>
                          </a:solidFill>
                        </a:rPr>
                        <a:t>retention at final week</a:t>
                      </a:r>
                    </a:p>
                  </a:txBody>
                  <a:tcPr/>
                </a:tc>
                <a:tc>
                  <a:txBody>
                    <a:bodyPr/>
                    <a:lstStyle/>
                    <a:p>
                      <a:r>
                        <a:rPr sz="1019" b="0">
                          <a:solidFill>
                            <a:srgbClr val="000000"/>
                          </a:solidFill>
                        </a:rPr>
                        <a:t>79.8%</a:t>
                      </a:r>
                    </a:p>
                  </a:txBody>
                  <a:tcPr/>
                </a:tc>
              </a:tr>
              <a:tr h="262466">
                <a:tc>
                  <a:txBody>
                    <a:bodyPr/>
                    <a:lstStyle/>
                    <a:p>
                      <a:r>
                        <a:rPr sz="1019" b="0">
                          <a:solidFill>
                            <a:srgbClr val="000000"/>
                          </a:solidFill>
                        </a:rPr>
                        <a:t>Analysis</a:t>
                      </a:r>
                    </a:p>
                  </a:txBody>
                  <a:tcPr/>
                </a:tc>
                <a:tc>
                  <a:txBody>
                    <a:bodyPr/>
                    <a:lstStyle/>
                    <a:p>
                      <a:r>
                        <a:rPr sz="1019" b="0">
                          <a:solidFill>
                            <a:srgbClr val="000000"/>
                          </a:solidFill>
                        </a:rPr>
                        <a:t>estimator</a:t>
                      </a:r>
                    </a:p>
                  </a:txBody>
                  <a:tcPr/>
                </a:tc>
                <a:tc>
                  <a:txBody>
                    <a:bodyPr/>
                    <a:lstStyle/>
                    <a:p>
                      <a:r>
                        <a:rPr sz="1019" b="0">
                          <a:solidFill>
                            <a:srgbClr val="000000"/>
                          </a:solidFill>
                        </a:rPr>
                        <a:t>ANCOVA (OLS on change, baseline-adjusted)</a:t>
                      </a:r>
                    </a:p>
                  </a:txBody>
                  <a:tcPr/>
                </a:tc>
              </a:tr>
              <a:tr h="262466">
                <a:tc>
                  <a:txBody>
                    <a:bodyPr/>
                    <a:lstStyle/>
                    <a:p>
                      <a:r>
                        <a:rPr sz="1019" b="0">
                          <a:solidFill>
                            <a:srgbClr val="000000"/>
                          </a:solidFill>
                        </a:rPr>
                        <a:t>Analysis</a:t>
                      </a:r>
                    </a:p>
                  </a:txBody>
                  <a:tcPr/>
                </a:tc>
                <a:tc>
                  <a:txBody>
                    <a:bodyPr/>
                    <a:lstStyle/>
                    <a:p>
                      <a:r>
                        <a:rPr sz="1019" b="0">
                          <a:solidFill>
                            <a:srgbClr val="000000"/>
                          </a:solidFill>
                        </a:rPr>
                        <a:t>interval mass</a:t>
                      </a:r>
                    </a:p>
                  </a:txBody>
                  <a:tcPr/>
                </a:tc>
                <a:tc>
                  <a:txBody>
                    <a:bodyPr/>
                    <a:lstStyle/>
                    <a:p>
                      <a:r>
                        <a:rPr sz="1019" b="0">
                          <a:solidFill>
                            <a:srgbClr val="000000"/>
                          </a:solidFill>
                        </a:rPr>
                        <a:t>90%</a:t>
                      </a:r>
                    </a:p>
                  </a:txBody>
                  <a:tcPr/>
                </a:tc>
              </a:tr>
              <a:tr h="262466">
                <a:tc>
                  <a:txBody>
                    <a:bodyPr/>
                    <a:lstStyle/>
                    <a:p>
                      <a:r>
                        <a:rPr sz="1019" b="0">
                          <a:solidFill>
                            <a:srgbClr val="000000"/>
                          </a:solidFill>
                        </a:rPr>
                        <a:t>Analysis</a:t>
                      </a:r>
                    </a:p>
                  </a:txBody>
                  <a:tcPr/>
                </a:tc>
                <a:tc>
                  <a:txBody>
                    <a:bodyPr/>
                    <a:lstStyle/>
                    <a:p>
                      <a:r>
                        <a:rPr sz="1019" b="0">
                          <a:solidFill>
                            <a:srgbClr val="000000"/>
                          </a:solidFill>
                        </a:rPr>
                        <a:t>pooled covariates</a:t>
                      </a:r>
                    </a:p>
                  </a:txBody>
                  <a:tcPr/>
                </a:tc>
                <a:tc>
                  <a:txBody>
                    <a:bodyPr/>
                    <a:lstStyle/>
                    <a:p>
                      <a:r>
                        <a:rPr sz="1019" b="0">
                          <a:solidFill>
                            <a:srgbClr val="000000"/>
                          </a:solidFill>
                        </a:rPr>
                        <a:t>baseline_centred, is_age_36_50, is_age_51_plus</a:t>
                      </a:r>
                    </a:p>
                  </a:txBody>
                  <a:tcPr/>
                </a:tc>
              </a:tr>
              <a:tr h="262466">
                <a:tc>
                  <a:txBody>
                    <a:bodyPr/>
                    <a:lstStyle/>
                    <a:p>
                      <a:r>
                        <a:rPr sz="1019" b="0">
                          <a:solidFill>
                            <a:srgbClr val="000000"/>
                          </a:solidFill>
                        </a:rPr>
                        <a:t>Analysis</a:t>
                      </a:r>
                    </a:p>
                  </a:txBody>
                  <a:tcPr/>
                </a:tc>
                <a:tc>
                  <a:txBody>
                    <a:bodyPr/>
                    <a:lstStyle/>
                    <a:p>
                      <a:r>
                        <a:rPr sz="1019" b="0">
                          <a:solidFill>
                            <a:srgbClr val="000000"/>
                          </a:solidFill>
                        </a:rPr>
                        <a:t>within-stratum covariates</a:t>
                      </a:r>
                    </a:p>
                  </a:txBody>
                  <a:tcPr/>
                </a:tc>
                <a:tc>
                  <a:txBody>
                    <a:bodyPr/>
                    <a:lstStyle/>
                    <a:p>
                      <a:r>
                        <a:rPr sz="1019" b="0">
                          <a:solidFill>
                            <a:srgbClr val="000000"/>
                          </a:solidFill>
                        </a:rPr>
                        <a:t>baseline_centred</a:t>
                      </a:r>
                    </a:p>
                  </a:txBody>
                  <a:tcPr/>
                </a:tc>
              </a:tr>
              <a:tr h="262466">
                <a:tc>
                  <a:txBody>
                    <a:bodyPr/>
                    <a:lstStyle/>
                    <a:p>
                      <a:r>
                        <a:rPr sz="1019" b="0">
                          <a:solidFill>
                            <a:srgbClr val="000000"/>
                          </a:solidFill>
                        </a:rPr>
                        <a:t>Safety monitoring</a:t>
                      </a:r>
                    </a:p>
                  </a:txBody>
                  <a:tcPr/>
                </a:tc>
                <a:tc>
                  <a:txBody>
                    <a:bodyPr/>
                    <a:lstStyle/>
                    <a:p>
                      <a:r>
                        <a:rPr sz="1019" b="0">
                          <a:solidFill>
                            <a:srgbClr val="000000"/>
                          </a:solidFill>
                        </a:rPr>
                        <a:t>clinical margin (mmHg)</a:t>
                      </a:r>
                    </a:p>
                  </a:txBody>
                  <a:tcPr/>
                </a:tc>
                <a:tc>
                  <a:txBody>
                    <a:bodyPr/>
                    <a:lstStyle/>
                    <a:p>
                      <a:r>
                        <a:rPr sz="1019" b="0">
                          <a:solidFill>
                            <a:srgbClr val="000000"/>
                          </a:solidFill>
                        </a:rPr>
                        <a:t>2</a:t>
                      </a:r>
                    </a:p>
                  </a:txBody>
                  <a:tcPr/>
                </a:tc>
              </a:tr>
              <a:tr h="262478">
                <a:tc>
                  <a:txBody>
                    <a:bodyPr/>
                    <a:lstStyle/>
                    <a:p>
                      <a:r>
                        <a:rPr sz="1019" b="0">
                          <a:solidFill>
                            <a:srgbClr val="000000"/>
                          </a:solidFill>
                        </a:rPr>
                        <a:t>Safety monitoring</a:t>
                      </a:r>
                    </a:p>
                  </a:txBody>
                  <a:tcPr/>
                </a:tc>
                <a:tc>
                  <a:txBody>
                    <a:bodyPr/>
                    <a:lstStyle/>
                    <a:p>
                      <a:r>
                        <a:rPr sz="1019" b="0">
                          <a:solidFill>
                            <a:srgbClr val="000000"/>
                          </a:solidFill>
                        </a:rPr>
                        <a:t>monitored contrasts</a:t>
                      </a:r>
                    </a:p>
                  </a:txBody>
                  <a:tcPr/>
                </a:tc>
                <a:tc>
                  <a:txBody>
                    <a:bodyPr/>
                    <a:lstStyle/>
                    <a:p>
                      <a:r>
                        <a:rPr sz="1019" b="0">
                          <a:solidFill>
                            <a:srgbClr val="000000"/>
                          </a:solidFill>
                        </a:rPr>
                        <a:t>12</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Tables (cont.)</a:t>
            </a:r>
          </a:p>
        </p:txBody>
      </p:sp>
      <p:sp>
        <p:nvSpPr>
          <p:cNvPr id="3" name="TextBox 2"/>
          <p:cNvSpPr txBox="1"/>
          <p:nvPr/>
        </p:nvSpPr>
        <p:spPr>
          <a:xfrm>
            <a:off x="914400" y="965200"/>
            <a:ext cx="10363200" cy="508000"/>
          </a:xfrm>
          <a:prstGeom prst="rect">
            <a:avLst/>
          </a:prstGeom>
          <a:noFill/>
        </p:spPr>
        <p:txBody>
          <a:bodyPr wrap="square">
            <a:spAutoFit/>
          </a:bodyPr>
          <a:lstStyle/>
          <a:p>
            <a:r>
              <a:rPr sz="1200" b="1">
                <a:solidFill>
                  <a:srgbClr val="000000"/>
                </a:solidFill>
              </a:rPr>
              <a:t>*Table 2*. Estimated quantities with their intervals and thresholds.</a:t>
            </a:r>
          </a:p>
        </p:txBody>
      </p:sp>
      <p:graphicFrame>
        <p:nvGraphicFramePr>
          <p:cNvPr id="4" name="Table 3"/>
          <p:cNvGraphicFramePr>
            <a:graphicFrameLocks noGrp="1"/>
          </p:cNvGraphicFramePr>
          <p:nvPr/>
        </p:nvGraphicFramePr>
        <p:xfrm>
          <a:off x="914400" y="1219200"/>
          <a:ext cx="10363200" cy="1828800"/>
        </p:xfrm>
        <a:graphic>
          <a:graphicData uri="http://schemas.openxmlformats.org/drawingml/2006/table">
            <a:tbl>
              <a:tblPr firstRow="1" bandRow="1">
                <a:tableStyleId>{5C22544A-7EE6-4342-B048-85BDC9FD1C3A}</a:tableStyleId>
              </a:tblPr>
              <a:tblGrid>
                <a:gridCol w="1727200"/>
                <a:gridCol w="1727200"/>
                <a:gridCol w="1727200"/>
                <a:gridCol w="1727200"/>
                <a:gridCol w="1727200"/>
                <a:gridCol w="1727200"/>
              </a:tblGrid>
              <a:tr h="304800">
                <a:tc>
                  <a:txBody>
                    <a:bodyPr/>
                    <a:lstStyle/>
                    <a:p>
                      <a:r>
                        <a:rPr sz="1019" b="1">
                          <a:solidFill>
                            <a:srgbClr val="000000"/>
                          </a:solidFill>
                        </a:rPr>
                        <a:t>Quantity</a:t>
                      </a:r>
                    </a:p>
                  </a:txBody>
                  <a:tcPr/>
                </a:tc>
                <a:tc>
                  <a:txBody>
                    <a:bodyPr/>
                    <a:lstStyle/>
                    <a:p>
                      <a:r>
                        <a:rPr sz="1019" b="1">
                          <a:solidFill>
                            <a:srgbClr val="000000"/>
                          </a:solidFill>
                        </a:rPr>
                        <a:t>Estimate</a:t>
                      </a:r>
                    </a:p>
                  </a:txBody>
                  <a:tcPr/>
                </a:tc>
                <a:tc>
                  <a:txBody>
                    <a:bodyPr/>
                    <a:lstStyle/>
                    <a:p>
                      <a:r>
                        <a:rPr sz="1019" b="1">
                          <a:solidFill>
                            <a:srgbClr val="000000"/>
                          </a:solidFill>
                        </a:rPr>
                        <a:t>Unit</a:t>
                      </a:r>
                    </a:p>
                  </a:txBody>
                  <a:tcPr/>
                </a:tc>
                <a:tc>
                  <a:txBody>
                    <a:bodyPr/>
                    <a:lstStyle/>
                    <a:p>
                      <a:r>
                        <a:rPr sz="1019" b="1">
                          <a:solidFill>
                            <a:srgbClr val="000000"/>
                          </a:solidFill>
                        </a:rPr>
                        <a:t>Interval</a:t>
                      </a:r>
                    </a:p>
                  </a:txBody>
                  <a:tcPr/>
                </a:tc>
                <a:tc>
                  <a:txBody>
                    <a:bodyPr/>
                    <a:lstStyle/>
                    <a:p>
                      <a:r>
                        <a:rPr sz="1019" b="1">
                          <a:solidFill>
                            <a:srgbClr val="000000"/>
                          </a:solidFill>
                        </a:rPr>
                        <a:t>Threshold</a:t>
                      </a:r>
                    </a:p>
                  </a:txBody>
                  <a:tcPr/>
                </a:tc>
                <a:tc>
                  <a:txBody>
                    <a:bodyPr/>
                    <a:lstStyle/>
                    <a:p>
                      <a:r>
                        <a:rPr sz="1019" b="1">
                          <a:solidFill>
                            <a:srgbClr val="000000"/>
                          </a:solidFill>
                        </a:rPr>
                        <a:t>Relative to threshold</a:t>
                      </a:r>
                    </a:p>
                  </a:txBody>
                  <a:tcPr/>
                </a:tc>
              </a:tr>
              <a:tr h="304800">
                <a:tc>
                  <a:txBody>
                    <a:bodyPr/>
                    <a:lstStyle/>
                    <a:p>
                      <a:r>
                        <a:rPr sz="1019" b="0">
                          <a:solidFill>
                            <a:srgbClr val="000000"/>
                          </a:solidFill>
                        </a:rPr>
                        <a:t>40 mg vs control, pooled</a:t>
                      </a:r>
                    </a:p>
                  </a:txBody>
                  <a:tcPr/>
                </a:tc>
                <a:tc>
                  <a:txBody>
                    <a:bodyPr/>
                    <a:lstStyle/>
                    <a:p>
                      <a:r>
                        <a:rPr sz="1019" b="0">
                          <a:solidFill>
                            <a:srgbClr val="000000"/>
                          </a:solidFill>
                        </a:rPr>
                        <a:t>-1.53</a:t>
                      </a:r>
                    </a:p>
                  </a:txBody>
                  <a:tcPr/>
                </a:tc>
                <a:tc>
                  <a:txBody>
                    <a:bodyPr/>
                    <a:lstStyle/>
                    <a:p>
                      <a:r>
                        <a:rPr sz="1019" b="0">
                          <a:solidFill>
                            <a:srgbClr val="000000"/>
                          </a:solidFill>
                        </a:rPr>
                        <a:t>mmHg</a:t>
                      </a:r>
                    </a:p>
                  </a:txBody>
                  <a:tcPr/>
                </a:tc>
                <a:tc>
                  <a:txBody>
                    <a:bodyPr/>
                    <a:lstStyle/>
                    <a:p>
                      <a:r>
                        <a:rPr sz="1019" b="0">
                          <a:solidFill>
                            <a:srgbClr val="000000"/>
                          </a:solidFill>
                        </a:rPr>
                        <a:t>-2.97 to -0.10 (90% WALD)</a:t>
                      </a:r>
                    </a:p>
                  </a:txBody>
                  <a:tcPr/>
                </a:tc>
                <a:tc>
                  <a:txBody>
                    <a:bodyPr/>
                    <a:lstStyle/>
                    <a:p>
                      <a:r>
                        <a:rPr sz="1019" b="0">
                          <a:solidFill>
                            <a:srgbClr val="000000"/>
                          </a:solidFill>
                        </a:rPr>
                        <a:t>0.00</a:t>
                      </a:r>
                    </a:p>
                  </a:txBody>
                  <a:tcPr/>
                </a:tc>
                <a:tc>
                  <a:txBody>
                    <a:bodyPr/>
                    <a:lstStyle/>
                    <a:p>
                      <a:r>
                        <a:rPr sz="1019" b="0">
                          <a:solidFill>
                            <a:srgbClr val="000000"/>
                          </a:solidFill>
                        </a:rPr>
                        <a:t>below threshold</a:t>
                      </a:r>
                    </a:p>
                  </a:txBody>
                  <a:tcPr/>
                </a:tc>
              </a:tr>
              <a:tr h="304800">
                <a:tc>
                  <a:txBody>
                    <a:bodyPr/>
                    <a:lstStyle/>
                    <a:p>
                      <a:r>
                        <a:rPr sz="1019" b="0">
                          <a:solidFill>
                            <a:srgbClr val="000000"/>
                          </a:solidFill>
                        </a:rPr>
                        <a:t>20 mg vs control, pooled</a:t>
                      </a:r>
                    </a:p>
                  </a:txBody>
                  <a:tcPr/>
                </a:tc>
                <a:tc>
                  <a:txBody>
                    <a:bodyPr/>
                    <a:lstStyle/>
                    <a:p>
                      <a:r>
                        <a:rPr sz="1019" b="0">
                          <a:solidFill>
                            <a:srgbClr val="000000"/>
                          </a:solidFill>
                        </a:rPr>
                        <a:t>-4.80</a:t>
                      </a:r>
                    </a:p>
                  </a:txBody>
                  <a:tcPr/>
                </a:tc>
                <a:tc>
                  <a:txBody>
                    <a:bodyPr/>
                    <a:lstStyle/>
                    <a:p>
                      <a:r>
                        <a:rPr sz="1019" b="0">
                          <a:solidFill>
                            <a:srgbClr val="000000"/>
                          </a:solidFill>
                        </a:rPr>
                        <a:t>mmHg</a:t>
                      </a:r>
                    </a:p>
                  </a:txBody>
                  <a:tcPr/>
                </a:tc>
                <a:tc>
                  <a:txBody>
                    <a:bodyPr/>
                    <a:lstStyle/>
                    <a:p>
                      <a:r>
                        <a:rPr sz="1019" b="0">
                          <a:solidFill>
                            <a:srgbClr val="000000"/>
                          </a:solidFill>
                        </a:rPr>
                        <a:t>-6.17 to -3.44 (90% WALD)</a:t>
                      </a:r>
                    </a:p>
                  </a:txBody>
                  <a:tcPr/>
                </a:tc>
                <a:tc>
                  <a:txBody>
                    <a:bodyPr/>
                    <a:lstStyle/>
                    <a:p>
                      <a:r>
                        <a:rPr sz="1019" b="0">
                          <a:solidFill>
                            <a:srgbClr val="000000"/>
                          </a:solidFill>
                        </a:rPr>
                        <a:t>0.00</a:t>
                      </a:r>
                    </a:p>
                  </a:txBody>
                  <a:tcPr/>
                </a:tc>
                <a:tc>
                  <a:txBody>
                    <a:bodyPr/>
                    <a:lstStyle/>
                    <a:p>
                      <a:r>
                        <a:rPr sz="1019" b="0">
                          <a:solidFill>
                            <a:srgbClr val="000000"/>
                          </a:solidFill>
                        </a:rPr>
                        <a:t>below threshold</a:t>
                      </a:r>
                    </a:p>
                  </a:txBody>
                  <a:tcPr/>
                </a:tc>
              </a:tr>
              <a:tr h="304800">
                <a:tc>
                  <a:txBody>
                    <a:bodyPr/>
                    <a:lstStyle/>
                    <a:p>
                      <a:r>
                        <a:rPr sz="1019" b="0">
                          <a:solidFill>
                            <a:srgbClr val="000000"/>
                          </a:solidFill>
                        </a:rPr>
                        <a:t>10 mg vs control, pooled</a:t>
                      </a:r>
                    </a:p>
                  </a:txBody>
                  <a:tcPr/>
                </a:tc>
                <a:tc>
                  <a:txBody>
                    <a:bodyPr/>
                    <a:lstStyle/>
                    <a:p>
                      <a:r>
                        <a:rPr sz="1019" b="0">
                          <a:solidFill>
                            <a:srgbClr val="000000"/>
                          </a:solidFill>
                        </a:rPr>
                        <a:t>-5.27</a:t>
                      </a:r>
                    </a:p>
                  </a:txBody>
                  <a:tcPr/>
                </a:tc>
                <a:tc>
                  <a:txBody>
                    <a:bodyPr/>
                    <a:lstStyle/>
                    <a:p>
                      <a:r>
                        <a:rPr sz="1019" b="0">
                          <a:solidFill>
                            <a:srgbClr val="000000"/>
                          </a:solidFill>
                        </a:rPr>
                        <a:t>mmHg</a:t>
                      </a:r>
                    </a:p>
                  </a:txBody>
                  <a:tcPr/>
                </a:tc>
                <a:tc>
                  <a:txBody>
                    <a:bodyPr/>
                    <a:lstStyle/>
                    <a:p>
                      <a:r>
                        <a:rPr sz="1019" b="0">
                          <a:solidFill>
                            <a:srgbClr val="000000"/>
                          </a:solidFill>
                        </a:rPr>
                        <a:t>-6.63 to -3.91 (90% WALD)</a:t>
                      </a:r>
                    </a:p>
                  </a:txBody>
                  <a:tcPr/>
                </a:tc>
                <a:tc>
                  <a:txBody>
                    <a:bodyPr/>
                    <a:lstStyle/>
                    <a:p>
                      <a:r>
                        <a:rPr sz="1019" b="0">
                          <a:solidFill>
                            <a:srgbClr val="000000"/>
                          </a:solidFill>
                        </a:rPr>
                        <a:t>0.00</a:t>
                      </a:r>
                    </a:p>
                  </a:txBody>
                  <a:tcPr/>
                </a:tc>
                <a:tc>
                  <a:txBody>
                    <a:bodyPr/>
                    <a:lstStyle/>
                    <a:p>
                      <a:r>
                        <a:rPr sz="1019" b="0">
                          <a:solidFill>
                            <a:srgbClr val="000000"/>
                          </a:solidFill>
                        </a:rPr>
                        <a:t>below threshold</a:t>
                      </a:r>
                    </a:p>
                  </a:txBody>
                  <a:tcPr/>
                </a:tc>
              </a:tr>
              <a:tr h="304800">
                <a:tc>
                  <a:txBody>
                    <a:bodyPr/>
                    <a:lstStyle/>
                    <a:p>
                      <a:r>
                        <a:rPr sz="1019" b="0">
                          <a:solidFill>
                            <a:srgbClr val="000000"/>
                          </a:solidFill>
                        </a:rPr>
                        <a:t>40 mg vs control, age 51+</a:t>
                      </a:r>
                    </a:p>
                  </a:txBody>
                  <a:tcPr/>
                </a:tc>
                <a:tc>
                  <a:txBody>
                    <a:bodyPr/>
                    <a:lstStyle/>
                    <a:p>
                      <a:r>
                        <a:rPr sz="1019" b="0">
                          <a:solidFill>
                            <a:srgbClr val="000000"/>
                          </a:solidFill>
                        </a:rPr>
                        <a:t>6.20</a:t>
                      </a:r>
                    </a:p>
                  </a:txBody>
                  <a:tcPr/>
                </a:tc>
                <a:tc>
                  <a:txBody>
                    <a:bodyPr/>
                    <a:lstStyle/>
                    <a:p>
                      <a:r>
                        <a:rPr sz="1019" b="0">
                          <a:solidFill>
                            <a:srgbClr val="000000"/>
                          </a:solidFill>
                        </a:rPr>
                        <a:t>mmHg</a:t>
                      </a:r>
                    </a:p>
                  </a:txBody>
                  <a:tcPr/>
                </a:tc>
                <a:tc>
                  <a:txBody>
                    <a:bodyPr/>
                    <a:lstStyle/>
                    <a:p>
                      <a:r>
                        <a:rPr sz="1019" b="0">
                          <a:solidFill>
                            <a:srgbClr val="000000"/>
                          </a:solidFill>
                        </a:rPr>
                        <a:t>3.98 to 8.42 (90% WALD)</a:t>
                      </a:r>
                    </a:p>
                  </a:txBody>
                  <a:tcPr/>
                </a:tc>
                <a:tc>
                  <a:txBody>
                    <a:bodyPr/>
                    <a:lstStyle/>
                    <a:p>
                      <a:r>
                        <a:rPr sz="1019" b="0">
                          <a:solidFill>
                            <a:srgbClr val="000000"/>
                          </a:solidFill>
                        </a:rPr>
                        <a:t>0.00</a:t>
                      </a:r>
                    </a:p>
                  </a:txBody>
                  <a:tcPr/>
                </a:tc>
                <a:tc>
                  <a:txBody>
                    <a:bodyPr/>
                    <a:lstStyle/>
                    <a:p>
                      <a:r>
                        <a:rPr sz="1019" b="0">
                          <a:solidFill>
                            <a:srgbClr val="000000"/>
                          </a:solidFill>
                        </a:rPr>
                        <a:t>above threshold</a:t>
                      </a:r>
                    </a:p>
                  </a:txBody>
                  <a:tcPr/>
                </a:tc>
              </a:tr>
              <a:tr h="304800">
                <a:tc>
                  <a:txBody>
                    <a:bodyPr/>
                    <a:lstStyle/>
                    <a:p>
                      <a:r>
                        <a:rPr sz="1019" b="0">
                          <a:solidFill>
                            <a:srgbClr val="000000"/>
                          </a:solidFill>
                        </a:rPr>
                        <a:t>40 mg vs control, age 25-35</a:t>
                      </a:r>
                    </a:p>
                  </a:txBody>
                  <a:tcPr/>
                </a:tc>
                <a:tc>
                  <a:txBody>
                    <a:bodyPr/>
                    <a:lstStyle/>
                    <a:p>
                      <a:r>
                        <a:rPr sz="1019" b="0">
                          <a:solidFill>
                            <a:srgbClr val="000000"/>
                          </a:solidFill>
                        </a:rPr>
                        <a:t>-5.26</a:t>
                      </a:r>
                    </a:p>
                  </a:txBody>
                  <a:tcPr/>
                </a:tc>
                <a:tc>
                  <a:txBody>
                    <a:bodyPr/>
                    <a:lstStyle/>
                    <a:p>
                      <a:r>
                        <a:rPr sz="1019" b="0">
                          <a:solidFill>
                            <a:srgbClr val="000000"/>
                          </a:solidFill>
                        </a:rPr>
                        <a:t>mmHg</a:t>
                      </a:r>
                    </a:p>
                  </a:txBody>
                  <a:tcPr/>
                </a:tc>
                <a:tc>
                  <a:txBody>
                    <a:bodyPr/>
                    <a:lstStyle/>
                    <a:p>
                      <a:r>
                        <a:rPr sz="1019" b="0">
                          <a:solidFill>
                            <a:srgbClr val="000000"/>
                          </a:solidFill>
                        </a:rPr>
                        <a:t>-8.17 to -2.36 (90% WALD)</a:t>
                      </a:r>
                    </a:p>
                  </a:txBody>
                  <a:tcPr/>
                </a:tc>
                <a:tc>
                  <a:txBody>
                    <a:bodyPr/>
                    <a:lstStyle/>
                    <a:p>
                      <a:r>
                        <a:rPr sz="1019" b="0">
                          <a:solidFill>
                            <a:srgbClr val="000000"/>
                          </a:solidFill>
                        </a:rPr>
                        <a:t>0.00</a:t>
                      </a:r>
                    </a:p>
                  </a:txBody>
                  <a:tcPr/>
                </a:tc>
                <a:tc>
                  <a:txBody>
                    <a:bodyPr/>
                    <a:lstStyle/>
                    <a:p>
                      <a:r>
                        <a:rPr sz="1019" b="0">
                          <a:solidFill>
                            <a:srgbClr val="000000"/>
                          </a:solidFill>
                        </a:rPr>
                        <a:t>below threshold</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Tables (cont.)</a:t>
            </a:r>
          </a:p>
        </p:txBody>
      </p:sp>
      <p:sp>
        <p:nvSpPr>
          <p:cNvPr id="3" name="TextBox 2"/>
          <p:cNvSpPr txBox="1"/>
          <p:nvPr/>
        </p:nvSpPr>
        <p:spPr>
          <a:xfrm>
            <a:off x="914400" y="965200"/>
            <a:ext cx="10363200" cy="508000"/>
          </a:xfrm>
          <a:prstGeom prst="rect">
            <a:avLst/>
          </a:prstGeom>
          <a:noFill/>
        </p:spPr>
        <p:txBody>
          <a:bodyPr wrap="square">
            <a:spAutoFit/>
          </a:bodyPr>
          <a:lstStyle/>
          <a:p>
            <a:r>
              <a:rPr sz="1200" b="1">
                <a:solidFill>
                  <a:srgbClr val="000000"/>
                </a:solidFill>
              </a:rPr>
              <a:t>*Table 3*. Recorded diagnostics.</a:t>
            </a:r>
          </a:p>
        </p:txBody>
      </p:sp>
      <p:graphicFrame>
        <p:nvGraphicFramePr>
          <p:cNvPr id="4" name="Table 3"/>
          <p:cNvGraphicFramePr>
            <a:graphicFrameLocks noGrp="1"/>
          </p:cNvGraphicFramePr>
          <p:nvPr/>
        </p:nvGraphicFramePr>
        <p:xfrm>
          <a:off x="914400" y="1219200"/>
          <a:ext cx="10363200" cy="1828800"/>
        </p:xfrm>
        <a:graphic>
          <a:graphicData uri="http://schemas.openxmlformats.org/drawingml/2006/table">
            <a:tbl>
              <a:tblPr firstRow="1" bandRow="1">
                <a:tableStyleId>{5C22544A-7EE6-4342-B048-85BDC9FD1C3A}</a:tableStyleId>
              </a:tblPr>
              <a:tblGrid>
                <a:gridCol w="2590800"/>
                <a:gridCol w="2590800"/>
                <a:gridCol w="2590800"/>
                <a:gridCol w="2590800"/>
              </a:tblGrid>
              <a:tr h="304800">
                <a:tc>
                  <a:txBody>
                    <a:bodyPr/>
                    <a:lstStyle/>
                    <a:p>
                      <a:r>
                        <a:rPr sz="1019" b="1">
                          <a:solidFill>
                            <a:srgbClr val="000000"/>
                          </a:solidFill>
                        </a:rPr>
                        <a:t>Check</a:t>
                      </a:r>
                    </a:p>
                  </a:txBody>
                  <a:tcPr/>
                </a:tc>
                <a:tc>
                  <a:txBody>
                    <a:bodyPr/>
                    <a:lstStyle/>
                    <a:p>
                      <a:r>
                        <a:rPr sz="1019" b="1">
                          <a:solidFill>
                            <a:srgbClr val="000000"/>
                          </a:solidFill>
                        </a:rPr>
                        <a:t>Value</a:t>
                      </a:r>
                    </a:p>
                  </a:txBody>
                  <a:tcPr/>
                </a:tc>
                <a:tc>
                  <a:txBody>
                    <a:bodyPr/>
                    <a:lstStyle/>
                    <a:p>
                      <a:r>
                        <a:rPr sz="1019" b="1">
                          <a:solidFill>
                            <a:srgbClr val="000000"/>
                          </a:solidFill>
                        </a:rPr>
                        <a:t>Unit</a:t>
                      </a:r>
                    </a:p>
                  </a:txBody>
                  <a:tcPr/>
                </a:tc>
                <a:tc>
                  <a:txBody>
                    <a:bodyPr/>
                    <a:lstStyle/>
                    <a:p>
                      <a:r>
                        <a:rPr sz="1019" b="1">
                          <a:solidFill>
                            <a:srgbClr val="000000"/>
                          </a:solidFill>
                        </a:rPr>
                        <a:t>Interval</a:t>
                      </a:r>
                    </a:p>
                  </a:txBody>
                  <a:tcPr/>
                </a:tc>
              </a:tr>
              <a:tr h="304800">
                <a:tc>
                  <a:txBody>
                    <a:bodyPr/>
                    <a:lstStyle/>
                    <a:p>
                      <a:r>
                        <a:rPr sz="1019" b="0">
                          <a:solidFill>
                            <a:srgbClr val="000000"/>
                          </a:solidFill>
                        </a:rPr>
                        <a:t>Units still on study at the final week</a:t>
                      </a:r>
                    </a:p>
                  </a:txBody>
                  <a:tcPr/>
                </a:tc>
                <a:tc>
                  <a:txBody>
                    <a:bodyPr/>
                    <a:lstStyle/>
                    <a:p>
                      <a:r>
                        <a:rPr sz="1019" b="0">
                          <a:solidFill>
                            <a:srgbClr val="000000"/>
                          </a:solidFill>
                        </a:rPr>
                        <a:t>0.797</a:t>
                      </a:r>
                    </a:p>
                  </a:txBody>
                  <a:tcPr/>
                </a:tc>
                <a:tc>
                  <a:txBody>
                    <a:bodyPr/>
                    <a:lstStyle/>
                    <a:p>
                      <a:r>
                        <a:rPr sz="1019" b="0">
                          <a:solidFill>
                            <a:srgbClr val="000000"/>
                          </a:solidFill>
                        </a:rPr>
                        <a:t>—</a:t>
                      </a:r>
                    </a:p>
                  </a:txBody>
                  <a:tcPr/>
                </a:tc>
                <a:tc>
                  <a:txBody>
                    <a:bodyPr/>
                    <a:lstStyle/>
                    <a:p>
                      <a:r>
                        <a:rPr sz="1019" b="0">
                          <a:solidFill>
                            <a:srgbClr val="000000"/>
                          </a:solidFill>
                        </a:rPr>
                        <a:t>—</a:t>
                      </a:r>
                    </a:p>
                  </a:txBody>
                  <a:tcPr/>
                </a:tc>
              </a:tr>
              <a:tr h="304800">
                <a:tc>
                  <a:txBody>
                    <a:bodyPr/>
                    <a:lstStyle/>
                    <a:p>
                      <a:r>
                        <a:rPr sz="1019" b="0">
                          <a:solidFill>
                            <a:srgbClr val="000000"/>
                          </a:solidFill>
                        </a:rPr>
                        <a:t>Units contributing to the primary endpoint</a:t>
                      </a:r>
                    </a:p>
                  </a:txBody>
                  <a:tcPr/>
                </a:tc>
                <a:tc>
                  <a:txBody>
                    <a:bodyPr/>
                    <a:lstStyle/>
                    <a:p>
                      <a:r>
                        <a:rPr sz="1019" b="0">
                          <a:solidFill>
                            <a:srgbClr val="000000"/>
                          </a:solidFill>
                        </a:rPr>
                        <a:t>372</a:t>
                      </a:r>
                    </a:p>
                  </a:txBody>
                  <a:tcPr/>
                </a:tc>
                <a:tc>
                  <a:txBody>
                    <a:bodyPr/>
                    <a:lstStyle/>
                    <a:p>
                      <a:r>
                        <a:rPr sz="1019" b="0">
                          <a:solidFill>
                            <a:srgbClr val="000000"/>
                          </a:solidFill>
                        </a:rPr>
                        <a:t>—</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25 35</a:t>
                      </a:r>
                    </a:p>
                  </a:txBody>
                  <a:tcPr/>
                </a:tc>
                <a:tc>
                  <a:txBody>
                    <a:bodyPr/>
                    <a:lstStyle/>
                    <a:p>
                      <a:r>
                        <a:rPr sz="1019" b="0">
                          <a:solidFill>
                            <a:srgbClr val="000000"/>
                          </a:solidFill>
                        </a:rPr>
                        <a:t>100</a:t>
                      </a:r>
                    </a:p>
                  </a:txBody>
                  <a:tcPr/>
                </a:tc>
                <a:tc>
                  <a:txBody>
                    <a:bodyPr/>
                    <a:lstStyle/>
                    <a:p>
                      <a:r>
                        <a:rPr sz="1019" b="0">
                          <a:solidFill>
                            <a:srgbClr val="000000"/>
                          </a:solidFill>
                        </a:rPr>
                        <a:t>—</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36 50</a:t>
                      </a:r>
                    </a:p>
                  </a:txBody>
                  <a:tcPr/>
                </a:tc>
                <a:tc>
                  <a:txBody>
                    <a:bodyPr/>
                    <a:lstStyle/>
                    <a:p>
                      <a:r>
                        <a:rPr sz="1019" b="0">
                          <a:solidFill>
                            <a:srgbClr val="000000"/>
                          </a:solidFill>
                        </a:rPr>
                        <a:t>160</a:t>
                      </a:r>
                    </a:p>
                  </a:txBody>
                  <a:tcPr/>
                </a:tc>
                <a:tc>
                  <a:txBody>
                    <a:bodyPr/>
                    <a:lstStyle/>
                    <a:p>
                      <a:r>
                        <a:rPr sz="1019" b="0">
                          <a:solidFill>
                            <a:srgbClr val="000000"/>
                          </a:solidFill>
                        </a:rPr>
                        <a:t>—</a:t>
                      </a:r>
                    </a:p>
                  </a:txBody>
                  <a:tcPr/>
                </a:tc>
                <a:tc>
                  <a:txBody>
                    <a:bodyPr/>
                    <a:lstStyle/>
                    <a:p>
                      <a:r>
                        <a:rPr sz="1019" b="0">
                          <a:solidFill>
                            <a:srgbClr val="000000"/>
                          </a:solidFill>
                        </a:rPr>
                        <a:t>—</a:t>
                      </a:r>
                    </a:p>
                  </a:txBody>
                  <a:tcPr/>
                </a:tc>
              </a:tr>
              <a:tr h="304800">
                <a:tc>
                  <a:txBody>
                    <a:bodyPr/>
                    <a:lstStyle/>
                    <a:p>
                      <a:r>
                        <a:rPr sz="1019" b="0">
                          <a:solidFill>
                            <a:srgbClr val="000000"/>
                          </a:solidFill>
                        </a:rPr>
                        <a:t>Units randomized in band age 51 plus</a:t>
                      </a:r>
                    </a:p>
                  </a:txBody>
                  <a:tcPr/>
                </a:tc>
                <a:tc>
                  <a:txBody>
                    <a:bodyPr/>
                    <a:lstStyle/>
                    <a:p>
                      <a:r>
                        <a:rPr sz="1019" b="0">
                          <a:solidFill>
                            <a:srgbClr val="000000"/>
                          </a:solidFill>
                        </a:rPr>
                        <a:t>140</a:t>
                      </a:r>
                    </a:p>
                  </a:txBody>
                  <a:tcPr/>
                </a:tc>
                <a:tc>
                  <a:txBody>
                    <a:bodyPr/>
                    <a:lstStyle/>
                    <a:p>
                      <a:r>
                        <a:rPr sz="1019" b="0">
                          <a:solidFill>
                            <a:srgbClr val="000000"/>
                          </a:solidFill>
                        </a:rPr>
                        <a:t>—</a:t>
                      </a:r>
                    </a:p>
                  </a:txBody>
                  <a:tcPr/>
                </a:tc>
                <a:tc>
                  <a:txBody>
                    <a:bodyPr/>
                    <a:lstStyle/>
                    <a:p>
                      <a:r>
                        <a:rPr sz="1019" b="0">
                          <a:solidFill>
                            <a:srgbClr val="000000"/>
                          </a:solidFill>
                        </a:rPr>
                        <a:t>—</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10363200" cy="431800"/>
          </a:xfrm>
          <a:prstGeom prst="rect">
            <a:avLst/>
          </a:prstGeom>
          <a:noFill/>
        </p:spPr>
        <p:txBody>
          <a:bodyPr wrap="square">
            <a:spAutoFit/>
          </a:bodyPr>
          <a:lstStyle/>
          <a:p>
            <a:r>
              <a:rPr sz="1200" b="1">
                <a:solidFill>
                  <a:srgbClr val="000000"/>
                </a:solidFill>
              </a:rPr>
              <a:t>Figures</a:t>
            </a:r>
          </a:p>
        </p:txBody>
      </p:sp>
      <p:pic>
        <p:nvPicPr>
          <p:cNvPr id="3" name="Picture 2" descr="image.png"/>
          <p:cNvPicPr>
            <a:picLocks noChangeAspect="1"/>
          </p:cNvPicPr>
          <p:nvPr/>
        </p:nvPicPr>
        <p:blipFill>
          <a:blip r:embed="rId2"/>
          <a:stretch>
            <a:fillRect/>
          </a:stretch>
        </p:blipFill>
        <p:spPr>
          <a:xfrm>
            <a:off x="914400" y="965200"/>
            <a:ext cx="8852023" cy="4978400"/>
          </a:xfrm>
          <a:prstGeom prst="rect">
            <a:avLst/>
          </a:prstGeom>
        </p:spPr>
      </p:pic>
      <p:sp>
        <p:nvSpPr>
          <p:cNvPr id="4" name="TextBox 3"/>
          <p:cNvSpPr txBox="1"/>
          <p:nvPr/>
        </p:nvSpPr>
        <p:spPr>
          <a:xfrm>
            <a:off x="914400" y="6035040"/>
            <a:ext cx="10363200" cy="254000"/>
          </a:xfrm>
          <a:prstGeom prst="rect">
            <a:avLst/>
          </a:prstGeom>
          <a:noFill/>
        </p:spPr>
        <p:txBody>
          <a:bodyPr wrap="square">
            <a:spAutoFit/>
          </a:bodyPr>
          <a:lstStyle/>
          <a:p>
            <a:r>
              <a:rPr sz="1019" b="0">
                <a:solidFill>
                  <a:srgbClr val="000000"/>
                </a:solidFill>
              </a:rPr>
              <a:t>*Figure 1*. Estimated quantities with their intervals. The dashed rule marks the decision threshold; a row whose interval crosses it is unsettled rather than null.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