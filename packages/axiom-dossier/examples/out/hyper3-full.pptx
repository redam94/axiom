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2331720"/>
            <a:ext cx="10566400" cy="2057400"/>
          </a:xfrm>
          <a:prstGeom prst="rect">
            <a:avLst/>
          </a:prstGeom>
          <a:noFill/>
        </p:spPr>
        <p:txBody>
          <a:bodyPr wrap="square">
            <a:spAutoFit/>
          </a:bodyPr>
          <a:lstStyle/>
          <a:p>
            <a:r>
              <a:rPr sz="1900" b="1">
                <a:solidFill>
                  <a:srgbClr val="111111"/>
                </a:solidFill>
              </a:rPr>
              <a:t>HYPER-3</a:t>
            </a:r>
          </a:p>
          <a:p>
            <a:r>
              <a:rPr sz="1365" b="0">
                <a:solidFill>
                  <a:srgbClr val="555555"/>
                </a:solidFill>
              </a:rPr>
              <a:t>Which of three daily doses should go into phase III, and is any of them harming the people taking 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Abstract</a:t>
            </a:r>
          </a:p>
        </p:txBody>
      </p:sp>
      <p:sp>
        <p:nvSpPr>
          <p:cNvPr id="3" name="TextBox 2"/>
          <p:cNvSpPr txBox="1"/>
          <p:nvPr/>
        </p:nvSpPr>
        <p:spPr>
          <a:xfrm>
            <a:off x="812800" y="914400"/>
            <a:ext cx="10566400" cy="508000"/>
          </a:xfrm>
          <a:prstGeom prst="rect">
            <a:avLst/>
          </a:prstGeom>
          <a:noFill/>
        </p:spPr>
        <p:txBody>
          <a:bodyPr wrap="square">
            <a:spAutoFit/>
          </a:bodyPr>
          <a:lstStyle/>
          <a:p>
            <a:r>
              <a:rPr sz="1050" b="0">
                <a:solidFill>
                  <a:srgbClr val="111111"/>
                </a:solidFill>
              </a:rPr>
              <a:t>Four hundred adults with elevated or stage-1 hypertension were randomized to evaluate three daily doses against standard of care. The trial addressed which daily dose should advance to phase III and whether any dose harms the participants. The target effect of treatment on change is identified via the backdoor route, under the strongest assumption that dropout is ignorable given baseline. Each dose was compared with control by ANCOVA on the change from baseline, adjusting for baseline pressure and age band for pooled contrasts. The pooled contrasts for 40 mg, 20 mg, and 10 mg against control all settled below the threshold on the favourable side, while the 40 mg contrast in the 51-and-older age band settled above the threshold on the unfavourable side at 6.20 mmHg (90% WALD 3.98 to 8.42 mmHg) and the 40 mg contrast in the 25-35 age band settled below the threshold on the favourable side. These findings indicate that while the pooled doses favour advancement, age-specific heterogeneity reveals harm in the oldest subgroup.</a:t>
            </a:r>
          </a:p>
        </p:txBody>
      </p:sp>
      <p:sp>
        <p:nvSpPr>
          <p:cNvPr id="4" name="TextBox 3"/>
          <p:cNvSpPr txBox="1"/>
          <p:nvPr/>
        </p:nvSpPr>
        <p:spPr>
          <a:xfrm>
            <a:off x="812800" y="1854200"/>
            <a:ext cx="10566400" cy="508000"/>
          </a:xfrm>
          <a:prstGeom prst="rect">
            <a:avLst/>
          </a:prstGeom>
          <a:noFill/>
        </p:spPr>
        <p:txBody>
          <a:bodyPr wrap="square">
            <a:spAutoFit/>
          </a:bodyPr>
          <a:lstStyle/>
          <a:p>
            <a:r>
              <a:rPr sz="1050" b="0">
                <a:solidFill>
                  <a:srgbClr val="1A1A1A"/>
                </a:solidFill>
              </a:rPr>
              <a:t>Reported quantities: 40 mg vs control, pooled; 20 mg vs control, pooled; 10 mg vs control, pooled; 40 mg vs control, age 51+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1. Introduction</a:t>
            </a:r>
          </a:p>
        </p:txBody>
      </p:sp>
      <p:sp>
        <p:nvSpPr>
          <p:cNvPr id="3" name="TextBox 2"/>
          <p:cNvSpPr txBox="1"/>
          <p:nvPr/>
        </p:nvSpPr>
        <p:spPr>
          <a:xfrm>
            <a:off x="812800" y="914400"/>
            <a:ext cx="10566400" cy="508000"/>
          </a:xfrm>
          <a:prstGeom prst="rect">
            <a:avLst/>
          </a:prstGeom>
          <a:noFill/>
        </p:spPr>
        <p:txBody>
          <a:bodyPr wrap="square">
            <a:spAutoFit/>
          </a:bodyPr>
          <a:lstStyle/>
          <a:p>
            <a:r>
              <a:rPr sz="1050" b="0">
                <a:solidFill>
                  <a:srgbClr val="111111"/>
                </a:solidFill>
              </a:rPr>
              <a:t>This report addresses which of three daily doses should go into phase III, and whether any of them is harming the people taking it. The quantity needed to answer the question is identified. The question is answered by 40 mg vs control, pooled. The decision turns on a threshold of 0.00 mmHg. An interval lying wholly on one side of 0.00 mmHg settles the question. An interval that spans 0.00 mmHg leaves the question unsettled rather than indicating that there is no effect.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2. Methods</a:t>
            </a:r>
          </a:p>
        </p:txBody>
      </p:sp>
      <p:sp>
        <p:nvSpPr>
          <p:cNvPr id="3" name="TextBox 2"/>
          <p:cNvSpPr txBox="1"/>
          <p:nvPr/>
        </p:nvSpPr>
        <p:spPr>
          <a:xfrm>
            <a:off x="812800" y="914400"/>
            <a:ext cx="10566400" cy="508000"/>
          </a:xfrm>
          <a:prstGeom prst="rect">
            <a:avLst/>
          </a:prstGeom>
          <a:noFill/>
        </p:spPr>
        <p:txBody>
          <a:bodyPr wrap="square">
            <a:spAutoFit/>
          </a:bodyPr>
          <a:lstStyle/>
          <a:p>
            <a:r>
              <a:rPr sz="1050" b="0">
                <a:solidFill>
                  <a:srgbClr val="111111"/>
                </a:solidFill>
              </a:rPr>
              <a:t>To address the question set out in the introduction, 400 adults with elevated or stage-1 hypertension were randomized 2:1:1:1 to standard of care or to one of three daily doses, stratified by age band. Because the goal is to decide which dose to take forward, the design estimates three contrasts against a shared control rather than one against another, with protocol parameters recorded in Table 3. Seated systolic pressure was measured weekly, and endpoints average the readings inside a window—weeks 5–8 for safety and 9–12 for the primary—rather than reading a single visit. Averaging several correlated readings roughly halves the variance of a unit's endpoint, which is the difference between a safety boundary that can fire inside a stratum and one that cannot. The target of the analysis is the effect of arm on change, which is identified via the backdoor route. The graph turns on the arrows adherence -&gt; change, age -&gt; change, arm -&gt; adherence, arm -&gt; change, and baseline -&gt; change, as reported in Table 1 and displayed in Figure 1, where a hollow node was not measured and a dashed edge is an unmeasured common cause. Each dose was compared with control by ANCOVA on the change from baseline, adjusting for baseline pressure, and for age band when the contrast is pooled across bands. Randomization licenses the intent-to-treat contrast and nothing else. Adjusting for a pre-randomization covariate costs nothing and buys precision, whereas adjusting for anything measured afterwards would forfeit the identification the randomization provided. Twelve harm contrasts—each dose against control overall and inside each age band—were monitored at scheduled safety reviews against a posterior-probability boundary with a 2 mmHg clinical margin. A dose that helps on average can still harm one band, and pre-specifying the bands as monitored contrasts makes that visible before the trial ends, whereas no estimator applied at closeout would have found it earlier. The design relies on two unresolved standing assumptions listed in Table 2, named dropout is ignorable given baseline and the pooled contrast answers the question.</a:t>
            </a:r>
          </a:p>
        </p:txBody>
      </p:sp>
      <p:sp>
        <p:nvSpPr>
          <p:cNvPr id="4" name="TextBox 3"/>
          <p:cNvSpPr txBox="1"/>
          <p:nvPr/>
        </p:nvSpPr>
        <p:spPr>
          <a:xfrm>
            <a:off x="812800" y="2616200"/>
            <a:ext cx="10566400" cy="508000"/>
          </a:xfrm>
          <a:prstGeom prst="rect">
            <a:avLst/>
          </a:prstGeom>
          <a:noFill/>
        </p:spPr>
        <p:txBody>
          <a:bodyPr wrap="square">
            <a:spAutoFit/>
          </a:bodyPr>
          <a:lstStyle/>
          <a:p>
            <a:r>
              <a:rPr sz="1050" b="1">
                <a:solidFill>
                  <a:srgbClr val="111111"/>
                </a:solidFill>
              </a:rPr>
              <a:t>Protocol</a:t>
            </a:r>
          </a:p>
        </p:txBody>
      </p:sp>
      <p:sp>
        <p:nvSpPr>
          <p:cNvPr id="5" name="TextBox 4"/>
          <p:cNvSpPr txBox="1"/>
          <p:nvPr/>
        </p:nvSpPr>
        <p:spPr>
          <a:xfrm>
            <a:off x="812800" y="2870200"/>
            <a:ext cx="10566400" cy="508000"/>
          </a:xfrm>
          <a:prstGeom prst="rect">
            <a:avLst/>
          </a:prstGeom>
          <a:noFill/>
        </p:spPr>
        <p:txBody>
          <a:bodyPr wrap="square">
            <a:spAutoFit/>
          </a:bodyPr>
          <a:lstStyle/>
          <a:p>
            <a:r>
              <a:rPr sz="1050" b="0">
                <a:solidFill>
                  <a:srgbClr val="111111"/>
                </a:solidFill>
              </a:rPr>
              <a:t>`arm_i ~ blocked randomization within age band, allocation 2:1:1:1`</a:t>
            </a:r>
          </a:p>
        </p:txBody>
      </p:sp>
      <p:sp>
        <p:nvSpPr>
          <p:cNvPr id="6" name="TextBox 5"/>
          <p:cNvSpPr txBox="1"/>
          <p:nvPr/>
        </p:nvSpPr>
        <p:spPr>
          <a:xfrm>
            <a:off x="812800" y="3124200"/>
            <a:ext cx="10566400" cy="508000"/>
          </a:xfrm>
          <a:prstGeom prst="rect">
            <a:avLst/>
          </a:prstGeom>
          <a:noFill/>
        </p:spPr>
        <p:txBody>
          <a:bodyPr wrap="square">
            <a:spAutoFit/>
          </a:bodyPr>
          <a:lstStyle/>
          <a:p>
            <a:r>
              <a:rPr sz="1050" b="1">
                <a:solidFill>
                  <a:srgbClr val="111111"/>
                </a:solidFill>
              </a:rPr>
              <a:t>Analysis</a:t>
            </a:r>
          </a:p>
        </p:txBody>
      </p:sp>
      <p:sp>
        <p:nvSpPr>
          <p:cNvPr id="7" name="TextBox 6"/>
          <p:cNvSpPr txBox="1"/>
          <p:nvPr/>
        </p:nvSpPr>
        <p:spPr>
          <a:xfrm>
            <a:off x="812800" y="3378200"/>
            <a:ext cx="10566400" cy="508000"/>
          </a:xfrm>
          <a:prstGeom prst="rect">
            <a:avLst/>
          </a:prstGeom>
          <a:noFill/>
        </p:spPr>
        <p:txBody>
          <a:bodyPr wrap="square">
            <a:spAutoFit/>
          </a:bodyPr>
          <a:lstStyle/>
          <a:p>
            <a:r>
              <a:rPr sz="1050" b="0">
                <a:solidFill>
                  <a:srgbClr val="111111"/>
                </a:solidFill>
              </a:rPr>
              <a:t>`change_i = beta0 + tau * treated_i + beta1 * baseline_i + eps_i`
`  pooled, add:  + sum_b gamma_b * 1[age_band_i = b]`
`  change_i   = mean(SBP_i, weeks 9-12) - SBP_i(baseline)`
`  tau        = the contrast reported; treated_i = 1 for the dose arm`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2. Methods (cont.)</a:t>
            </a:r>
          </a:p>
        </p:txBody>
      </p:sp>
      <p:sp>
        <p:nvSpPr>
          <p:cNvPr id="3" name="TextBox 2"/>
          <p:cNvSpPr txBox="1"/>
          <p:nvPr/>
        </p:nvSpPr>
        <p:spPr>
          <a:xfrm>
            <a:off x="812800" y="914400"/>
            <a:ext cx="10566400" cy="508000"/>
          </a:xfrm>
          <a:prstGeom prst="rect">
            <a:avLst/>
          </a:prstGeom>
          <a:noFill/>
        </p:spPr>
        <p:txBody>
          <a:bodyPr wrap="square">
            <a:spAutoFit/>
          </a:bodyPr>
          <a:lstStyle/>
          <a:p>
            <a:r>
              <a:rPr sz="1050" b="1">
                <a:solidFill>
                  <a:srgbClr val="111111"/>
                </a:solidFill>
              </a:rPr>
              <a:t>Safety monitoring</a:t>
            </a:r>
          </a:p>
        </p:txBody>
      </p:sp>
      <p:sp>
        <p:nvSpPr>
          <p:cNvPr id="4" name="TextBox 3"/>
          <p:cNvSpPr txBox="1"/>
          <p:nvPr/>
        </p:nvSpPr>
        <p:spPr>
          <a:xfrm>
            <a:off x="812800" y="1168400"/>
            <a:ext cx="10566400" cy="508000"/>
          </a:xfrm>
          <a:prstGeom prst="rect">
            <a:avLst/>
          </a:prstGeom>
          <a:noFill/>
        </p:spPr>
        <p:txBody>
          <a:bodyPr wrap="square">
            <a:spAutoFit/>
          </a:bodyPr>
          <a:lstStyle/>
          <a:p>
            <a:r>
              <a:rPr sz="1050" b="0">
                <a:solidFill>
                  <a:srgbClr val="111111"/>
                </a:solidFill>
              </a:rPr>
              <a:t>`stop for harm at look k when`
`  P(tau_g &gt; delta | data_k) &gt; b_k     for any monitored contrast g`
`  delta = the clinical margin; b_k = the boundary at look k`</a:t>
            </a:r>
          </a:p>
        </p:txBody>
      </p:sp>
      <p:sp>
        <p:nvSpPr>
          <p:cNvPr id="5" name="TextBox 4"/>
          <p:cNvSpPr txBox="1"/>
          <p:nvPr/>
        </p:nvSpPr>
        <p:spPr>
          <a:xfrm>
            <a:off x="812800" y="1651000"/>
            <a:ext cx="10566400" cy="508000"/>
          </a:xfrm>
          <a:prstGeom prst="rect">
            <a:avLst/>
          </a:prstGeom>
          <a:noFill/>
        </p:spPr>
        <p:txBody>
          <a:bodyPr wrap="square">
            <a:spAutoFit/>
          </a:bodyPr>
          <a:lstStyle/>
          <a:p>
            <a:r>
              <a:rPr sz="1050" b="1">
                <a:solidFill>
                  <a:srgbClr val="111111"/>
                </a:solidFill>
              </a:rPr>
              <a:t>The identification graph</a:t>
            </a:r>
          </a:p>
        </p:txBody>
      </p:sp>
      <p:graphicFrame>
        <p:nvGraphicFramePr>
          <p:cNvPr id="6" name="Table 5"/>
          <p:cNvGraphicFramePr>
            <a:graphicFrameLocks noGrp="1"/>
          </p:cNvGraphicFramePr>
          <p:nvPr/>
        </p:nvGraphicFramePr>
        <p:xfrm>
          <a:off x="812800" y="1905000"/>
          <a:ext cx="10566400" cy="1828800"/>
        </p:xfrm>
        <a:graphic>
          <a:graphicData uri="http://schemas.openxmlformats.org/drawingml/2006/table">
            <a:tbl>
              <a:tblPr firstRow="1" bandRow="1">
                <a:tableStyleId>{5C22544A-7EE6-4342-B048-85BDC9FD1C3A}</a:tableStyleId>
              </a:tblPr>
              <a:tblGrid>
                <a:gridCol w="2641600"/>
                <a:gridCol w="2641600"/>
                <a:gridCol w="2641600"/>
                <a:gridCol w="2641600"/>
              </a:tblGrid>
              <a:tr h="304800">
                <a:tc>
                  <a:txBody>
                    <a:bodyPr/>
                    <a:lstStyle/>
                    <a:p>
                      <a:r>
                        <a:rPr sz="892" b="1">
                          <a:solidFill>
                            <a:srgbClr val="111111"/>
                          </a:solidFill>
                        </a:rPr>
                        <a:t>From</a:t>
                      </a:r>
                    </a:p>
                  </a:txBody>
                  <a:tcPr/>
                </a:tc>
                <a:tc>
                  <a:txBody>
                    <a:bodyPr/>
                    <a:lstStyle/>
                    <a:p>
                      <a:r>
                        <a:rPr sz="892" b="1">
                          <a:solidFill>
                            <a:srgbClr val="111111"/>
                          </a:solidFill>
                        </a:rPr>
                        <a:t>Arrow</a:t>
                      </a:r>
                    </a:p>
                  </a:txBody>
                  <a:tcPr/>
                </a:tc>
                <a:tc>
                  <a:txBody>
                    <a:bodyPr/>
                    <a:lstStyle/>
                    <a:p>
                      <a:r>
                        <a:rPr sz="892" b="1">
                          <a:solidFill>
                            <a:srgbClr val="111111"/>
                          </a:solidFill>
                        </a:rPr>
                        <a:t>To</a:t>
                      </a:r>
                    </a:p>
                  </a:txBody>
                  <a:tcPr/>
                </a:tc>
                <a:tc>
                  <a:txBody>
                    <a:bodyPr/>
                    <a:lstStyle/>
                    <a:p>
                      <a:r>
                        <a:rPr sz="892" b="1">
                          <a:solidFill>
                            <a:srgbClr val="111111"/>
                          </a:solidFill>
                        </a:rPr>
                        <a:t>Kind</a:t>
                      </a:r>
                    </a:p>
                  </a:txBody>
                  <a:tcPr/>
                </a:tc>
              </a:tr>
              <a:tr h="304800">
                <a:tc>
                  <a:txBody>
                    <a:bodyPr/>
                    <a:lstStyle/>
                    <a:p>
                      <a:r>
                        <a:rPr sz="892" b="0">
                          <a:solidFill>
                            <a:srgbClr val="111111"/>
                          </a:solidFill>
                        </a:rPr>
                        <a:t>adherence</a:t>
                      </a:r>
                    </a:p>
                  </a:txBody>
                  <a:tcPr/>
                </a:tc>
                <a:tc>
                  <a:txBody>
                    <a:bodyPr/>
                    <a:lstStyle/>
                    <a:p>
                      <a:r>
                        <a:rPr sz="892" b="0">
                          <a:solidFill>
                            <a:srgbClr val="111111"/>
                          </a:solidFill>
                        </a:rPr>
                        <a:t>→</a:t>
                      </a:r>
                    </a:p>
                  </a:txBody>
                  <a:tcPr/>
                </a:tc>
                <a:tc>
                  <a:txBody>
                    <a:bodyPr/>
                    <a:lstStyle/>
                    <a:p>
                      <a:r>
                        <a:rPr sz="892" b="0">
                          <a:solidFill>
                            <a:srgbClr val="111111"/>
                          </a:solidFill>
                        </a:rPr>
                        <a:t>change</a:t>
                      </a:r>
                    </a:p>
                  </a:txBody>
                  <a:tcPr/>
                </a:tc>
                <a:tc>
                  <a:txBody>
                    <a:bodyPr/>
                    <a:lstStyle/>
                    <a:p>
                      <a:r>
                        <a:rPr sz="892" b="0">
                          <a:solidFill>
                            <a:srgbClr val="111111"/>
                          </a:solidFill>
                        </a:rPr>
                        <a:t>direct effect</a:t>
                      </a:r>
                    </a:p>
                  </a:txBody>
                  <a:tcPr/>
                </a:tc>
              </a:tr>
              <a:tr h="304800">
                <a:tc>
                  <a:txBody>
                    <a:bodyPr/>
                    <a:lstStyle/>
                    <a:p>
                      <a:r>
                        <a:rPr sz="892" b="0">
                          <a:solidFill>
                            <a:srgbClr val="111111"/>
                          </a:solidFill>
                        </a:rPr>
                        <a:t>age</a:t>
                      </a:r>
                    </a:p>
                  </a:txBody>
                  <a:tcPr/>
                </a:tc>
                <a:tc>
                  <a:txBody>
                    <a:bodyPr/>
                    <a:lstStyle/>
                    <a:p>
                      <a:r>
                        <a:rPr sz="892" b="0">
                          <a:solidFill>
                            <a:srgbClr val="111111"/>
                          </a:solidFill>
                        </a:rPr>
                        <a:t>→</a:t>
                      </a:r>
                    </a:p>
                  </a:txBody>
                  <a:tcPr/>
                </a:tc>
                <a:tc>
                  <a:txBody>
                    <a:bodyPr/>
                    <a:lstStyle/>
                    <a:p>
                      <a:r>
                        <a:rPr sz="892" b="0">
                          <a:solidFill>
                            <a:srgbClr val="111111"/>
                          </a:solidFill>
                        </a:rPr>
                        <a:t>change</a:t>
                      </a:r>
                    </a:p>
                  </a:txBody>
                  <a:tcPr/>
                </a:tc>
                <a:tc>
                  <a:txBody>
                    <a:bodyPr/>
                    <a:lstStyle/>
                    <a:p>
                      <a:r>
                        <a:rPr sz="892" b="0">
                          <a:solidFill>
                            <a:srgbClr val="111111"/>
                          </a:solidFill>
                        </a:rPr>
                        <a:t>direct effect</a:t>
                      </a:r>
                    </a:p>
                  </a:txBody>
                  <a:tcPr/>
                </a:tc>
              </a:tr>
              <a:tr h="304800">
                <a:tc>
                  <a:txBody>
                    <a:bodyPr/>
                    <a:lstStyle/>
                    <a:p>
                      <a:r>
                        <a:rPr sz="892" b="0">
                          <a:solidFill>
                            <a:srgbClr val="111111"/>
                          </a:solidFill>
                        </a:rPr>
                        <a:t>arm</a:t>
                      </a:r>
                    </a:p>
                  </a:txBody>
                  <a:tcPr/>
                </a:tc>
                <a:tc>
                  <a:txBody>
                    <a:bodyPr/>
                    <a:lstStyle/>
                    <a:p>
                      <a:r>
                        <a:rPr sz="892" b="0">
                          <a:solidFill>
                            <a:srgbClr val="111111"/>
                          </a:solidFill>
                        </a:rPr>
                        <a:t>→</a:t>
                      </a:r>
                    </a:p>
                  </a:txBody>
                  <a:tcPr/>
                </a:tc>
                <a:tc>
                  <a:txBody>
                    <a:bodyPr/>
                    <a:lstStyle/>
                    <a:p>
                      <a:r>
                        <a:rPr sz="892" b="0">
                          <a:solidFill>
                            <a:srgbClr val="111111"/>
                          </a:solidFill>
                        </a:rPr>
                        <a:t>adherence</a:t>
                      </a:r>
                    </a:p>
                  </a:txBody>
                  <a:tcPr/>
                </a:tc>
                <a:tc>
                  <a:txBody>
                    <a:bodyPr/>
                    <a:lstStyle/>
                    <a:p>
                      <a:r>
                        <a:rPr sz="892" b="0">
                          <a:solidFill>
                            <a:srgbClr val="111111"/>
                          </a:solidFill>
                        </a:rPr>
                        <a:t>direct effect</a:t>
                      </a:r>
                    </a:p>
                  </a:txBody>
                  <a:tcPr/>
                </a:tc>
              </a:tr>
              <a:tr h="304800">
                <a:tc>
                  <a:txBody>
                    <a:bodyPr/>
                    <a:lstStyle/>
                    <a:p>
                      <a:r>
                        <a:rPr sz="892" b="0">
                          <a:solidFill>
                            <a:srgbClr val="111111"/>
                          </a:solidFill>
                        </a:rPr>
                        <a:t>arm</a:t>
                      </a:r>
                    </a:p>
                  </a:txBody>
                  <a:tcPr/>
                </a:tc>
                <a:tc>
                  <a:txBody>
                    <a:bodyPr/>
                    <a:lstStyle/>
                    <a:p>
                      <a:r>
                        <a:rPr sz="892" b="0">
                          <a:solidFill>
                            <a:srgbClr val="111111"/>
                          </a:solidFill>
                        </a:rPr>
                        <a:t>→</a:t>
                      </a:r>
                    </a:p>
                  </a:txBody>
                  <a:tcPr/>
                </a:tc>
                <a:tc>
                  <a:txBody>
                    <a:bodyPr/>
                    <a:lstStyle/>
                    <a:p>
                      <a:r>
                        <a:rPr sz="892" b="0">
                          <a:solidFill>
                            <a:srgbClr val="111111"/>
                          </a:solidFill>
                        </a:rPr>
                        <a:t>change</a:t>
                      </a:r>
                    </a:p>
                  </a:txBody>
                  <a:tcPr/>
                </a:tc>
                <a:tc>
                  <a:txBody>
                    <a:bodyPr/>
                    <a:lstStyle/>
                    <a:p>
                      <a:r>
                        <a:rPr sz="892" b="0">
                          <a:solidFill>
                            <a:srgbClr val="111111"/>
                          </a:solidFill>
                        </a:rPr>
                        <a:t>direct effect</a:t>
                      </a:r>
                    </a:p>
                  </a:txBody>
                  <a:tcPr/>
                </a:tc>
              </a:tr>
              <a:tr h="304800">
                <a:tc>
                  <a:txBody>
                    <a:bodyPr/>
                    <a:lstStyle/>
                    <a:p>
                      <a:r>
                        <a:rPr sz="892" b="0">
                          <a:solidFill>
                            <a:srgbClr val="111111"/>
                          </a:solidFill>
                        </a:rPr>
                        <a:t>baseline</a:t>
                      </a:r>
                    </a:p>
                  </a:txBody>
                  <a:tcPr/>
                </a:tc>
                <a:tc>
                  <a:txBody>
                    <a:bodyPr/>
                    <a:lstStyle/>
                    <a:p>
                      <a:r>
                        <a:rPr sz="892" b="0">
                          <a:solidFill>
                            <a:srgbClr val="111111"/>
                          </a:solidFill>
                        </a:rPr>
                        <a:t>→</a:t>
                      </a:r>
                    </a:p>
                  </a:txBody>
                  <a:tcPr/>
                </a:tc>
                <a:tc>
                  <a:txBody>
                    <a:bodyPr/>
                    <a:lstStyle/>
                    <a:p>
                      <a:r>
                        <a:rPr sz="892" b="0">
                          <a:solidFill>
                            <a:srgbClr val="111111"/>
                          </a:solidFill>
                        </a:rPr>
                        <a:t>change</a:t>
                      </a:r>
                    </a:p>
                  </a:txBody>
                  <a:tcPr/>
                </a:tc>
                <a:tc>
                  <a:txBody>
                    <a:bodyPr/>
                    <a:lstStyle/>
                    <a:p>
                      <a:r>
                        <a:rPr sz="892" b="0">
                          <a:solidFill>
                            <a:srgbClr val="111111"/>
                          </a:solidFill>
                        </a:rPr>
                        <a:t>direct effect</a:t>
                      </a:r>
                    </a:p>
                  </a:txBody>
                  <a:tcPr/>
                </a:tc>
              </a:tr>
            </a:tbl>
          </a:graphicData>
        </a:graphic>
      </p:graphicFrame>
      <p:sp>
        <p:nvSpPr>
          <p:cNvPr id="7" name="TextBox 6"/>
          <p:cNvSpPr txBox="1"/>
          <p:nvPr/>
        </p:nvSpPr>
        <p:spPr>
          <a:xfrm>
            <a:off x="812800" y="3886200"/>
            <a:ext cx="10566400" cy="508000"/>
          </a:xfrm>
          <a:prstGeom prst="rect">
            <a:avLst/>
          </a:prstGeom>
          <a:noFill/>
        </p:spPr>
        <p:txBody>
          <a:bodyPr wrap="square">
            <a:spAutoFit/>
          </a:bodyPr>
          <a:lstStyle/>
          <a:p>
            <a:r>
              <a:rPr sz="1050" b="1">
                <a:solidFill>
                  <a:srgbClr val="111111"/>
                </a:solidFill>
              </a:rPr>
              <a:t>Assumptions this analysis rests 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2. Methods (cont.)</a:t>
            </a:r>
          </a:p>
        </p:txBody>
      </p:sp>
      <p:graphicFrame>
        <p:nvGraphicFramePr>
          <p:cNvPr id="3" name="Table 2"/>
          <p:cNvGraphicFramePr>
            <a:graphicFrameLocks noGrp="1"/>
          </p:cNvGraphicFramePr>
          <p:nvPr/>
        </p:nvGraphicFramePr>
        <p:xfrm>
          <a:off x="812800" y="914400"/>
          <a:ext cx="10566400" cy="914400"/>
        </p:xfrm>
        <a:graphic>
          <a:graphicData uri="http://schemas.openxmlformats.org/drawingml/2006/table">
            <a:tbl>
              <a:tblPr firstRow="1" bandRow="1">
                <a:tableStyleId>{5C22544A-7EE6-4342-B048-85BDC9FD1C3A}</a:tableStyleId>
              </a:tblPr>
              <a:tblGrid>
                <a:gridCol w="2641600"/>
                <a:gridCol w="2641600"/>
                <a:gridCol w="2641600"/>
                <a:gridCol w="2641600"/>
              </a:tblGrid>
              <a:tr h="304800">
                <a:tc>
                  <a:txBody>
                    <a:bodyPr/>
                    <a:lstStyle/>
                    <a:p>
                      <a:r>
                        <a:rPr sz="892" b="1">
                          <a:solidFill>
                            <a:srgbClr val="111111"/>
                          </a:solidFill>
                        </a:rPr>
                        <a:t>Assumption</a:t>
                      </a:r>
                    </a:p>
                  </a:txBody>
                  <a:tcPr/>
                </a:tc>
                <a:tc>
                  <a:txBody>
                    <a:bodyPr/>
                    <a:lstStyle/>
                    <a:p>
                      <a:r>
                        <a:rPr sz="892" b="1">
                          <a:solidFill>
                            <a:srgbClr val="111111"/>
                          </a:solidFill>
                        </a:rPr>
                        <a:t>Statement</a:t>
                      </a:r>
                    </a:p>
                  </a:txBody>
                  <a:tcPr/>
                </a:tc>
                <a:tc>
                  <a:txBody>
                    <a:bodyPr/>
                    <a:lstStyle/>
                    <a:p>
                      <a:r>
                        <a:rPr sz="892" b="1">
                          <a:solidFill>
                            <a:srgbClr val="111111"/>
                          </a:solidFill>
                        </a:rPr>
                        <a:t>Status</a:t>
                      </a:r>
                    </a:p>
                  </a:txBody>
                  <a:tcPr/>
                </a:tc>
                <a:tc>
                  <a:txBody>
                    <a:bodyPr/>
                    <a:lstStyle/>
                    <a:p>
                      <a:r>
                        <a:rPr sz="892" b="1">
                          <a:solidFill>
                            <a:srgbClr val="111111"/>
                          </a:solidFill>
                        </a:rPr>
                        <a:t>Challenged by</a:t>
                      </a:r>
                    </a:p>
                  </a:txBody>
                  <a:tcPr/>
                </a:tc>
              </a:tr>
              <a:tr h="304800">
                <a:tc>
                  <a:txBody>
                    <a:bodyPr/>
                    <a:lstStyle/>
                    <a:p>
                      <a:r>
                        <a:rPr sz="892" b="0">
                          <a:solidFill>
                            <a:srgbClr val="111111"/>
                          </a:solidFill>
                        </a:rPr>
                        <a:t>dropout is ignorable given baseline</a:t>
                      </a:r>
                    </a:p>
                  </a:txBody>
                  <a:tcPr/>
                </a:tc>
                <a:tc>
                  <a:txBody>
                    <a:bodyPr/>
                    <a:lstStyle/>
                    <a:p>
                      <a:r>
                        <a:rPr sz="892" b="0">
                          <a:solidFill>
                            <a:srgbClr val="111111"/>
                          </a:solidFill>
                        </a:rPr>
                        <a:t>units who left the study differ from those who stayed only through what was measured before randomization</a:t>
                      </a:r>
                    </a:p>
                  </a:txBody>
                  <a:tcPr/>
                </a:tc>
                <a:tc>
                  <a:txBody>
                    <a:bodyPr/>
                    <a:lstStyle/>
                    <a:p>
                      <a:r>
                        <a:rPr sz="892" b="0">
                          <a:solidFill>
                            <a:srgbClr val="111111"/>
                          </a:solidFill>
                        </a:rPr>
                        <a:t>is assumed and has not been checked</a:t>
                      </a:r>
                    </a:p>
                  </a:txBody>
                  <a:tcPr/>
                </a:tc>
                <a:tc>
                  <a:txBody>
                    <a:bodyPr/>
                    <a:lstStyle/>
                    <a:p>
                      <a:r>
                        <a:rPr sz="892" b="0">
                          <a:solidFill>
                            <a:srgbClr val="111111"/>
                          </a:solidFill>
                        </a:rPr>
                        <a:t>a tipping-point analysis over plausible departures from ignorability</a:t>
                      </a:r>
                    </a:p>
                  </a:txBody>
                  <a:tcPr/>
                </a:tc>
              </a:tr>
              <a:tr h="304800">
                <a:tc>
                  <a:txBody>
                    <a:bodyPr/>
                    <a:lstStyle/>
                    <a:p>
                      <a:r>
                        <a:rPr sz="892" b="0">
                          <a:solidFill>
                            <a:srgbClr val="111111"/>
                          </a:solidFill>
                        </a:rPr>
                        <a:t>the pooled contrast answers the question</a:t>
                      </a:r>
                    </a:p>
                  </a:txBody>
                  <a:tcPr/>
                </a:tc>
                <a:tc>
                  <a:txBody>
                    <a:bodyPr/>
                    <a:lstStyle/>
                    <a:p>
                      <a:r>
                        <a:rPr sz="892" b="0">
                          <a:solidFill>
                            <a:srgbClr val="111111"/>
                          </a:solidFill>
                        </a:rPr>
                        <a:t>a single number over all age bands describes the effect the decision is about</a:t>
                      </a:r>
                    </a:p>
                  </a:txBody>
                  <a:tcPr/>
                </a:tc>
                <a:tc>
                  <a:txBody>
                    <a:bodyPr/>
                    <a:lstStyle/>
                    <a:p>
                      <a:r>
                        <a:rPr sz="892" b="0">
                          <a:solidFill>
                            <a:srgbClr val="111111"/>
                          </a:solidFill>
                        </a:rPr>
                        <a:t>is known to fail</a:t>
                      </a:r>
                    </a:p>
                  </a:txBody>
                  <a:tcPr/>
                </a:tc>
                <a:tc>
                  <a:txBody>
                    <a:bodyPr/>
                    <a:lstStyle/>
                    <a:p>
                      <a:r>
                        <a:rPr sz="892" b="0">
                          <a:solidFill>
                            <a:srgbClr val="111111"/>
                          </a:solidFill>
                        </a:rPr>
                        <a:t>heterogeneity across the pre-specified strata</a:t>
                      </a:r>
                    </a:p>
                  </a:txBody>
                  <a:tcPr/>
                </a:tc>
              </a:tr>
            </a:tbl>
          </a:graphicData>
        </a:graphic>
      </p:graphicFrame>
      <p:sp>
        <p:nvSpPr>
          <p:cNvPr id="4" name="TextBox 3"/>
          <p:cNvSpPr txBox="1"/>
          <p:nvPr/>
        </p:nvSpPr>
        <p:spPr>
          <a:xfrm>
            <a:off x="812800" y="1981200"/>
            <a:ext cx="10566400" cy="4064000"/>
          </a:xfrm>
          <a:prstGeom prst="rect">
            <a:avLst/>
          </a:prstGeom>
          <a:noFill/>
        </p:spPr>
        <p:txBody>
          <a:bodyPr wrap="square">
            <a:spAutoFit/>
          </a:bodyPr>
          <a:lstStyle/>
          <a:p>
            <a:r>
              <a:rPr sz="892" b="1">
                <a:solidFill>
                  <a:srgbClr val="1A1A1A"/>
                </a:solidFill>
              </a:rPr>
              <a:t>assumption  </a:t>
            </a:r>
            <a:r>
              <a:rPr sz="945" b="0">
                <a:solidFill>
                  <a:srgbClr val="111111"/>
                </a:solidFill>
              </a:rPr>
              <a:t>Adherence was not adjusted for: it lies on the path from arm to outcome, and conditioning on it would break the randomization.</a:t>
            </a:r>
          </a:p>
          <a:p>
            <a:r>
              <a:rPr sz="892" b="1">
                <a:solidFill>
                  <a:srgbClr val="1A1A1A"/>
                </a:solidFill>
              </a:rPr>
              <a:t>assumption  </a:t>
            </a:r>
            <a:r>
              <a:rPr sz="945" b="0">
                <a:solidFill>
                  <a:srgbClr val="111111"/>
                </a:solidFill>
              </a:rPr>
              <a:t>The pooled 40 mg contrast is reported alongside the per-band contrasts, never instead of them.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2. Methods (cont.)</a:t>
            </a:r>
          </a:p>
        </p:txBody>
      </p:sp>
      <p:pic>
        <p:nvPicPr>
          <p:cNvPr id="3" name="Picture 2" descr="image.png"/>
          <p:cNvPicPr>
            <a:picLocks noChangeAspect="1"/>
          </p:cNvPicPr>
          <p:nvPr/>
        </p:nvPicPr>
        <p:blipFill>
          <a:blip r:embed="rId2"/>
          <a:stretch>
            <a:fillRect/>
          </a:stretch>
        </p:blipFill>
        <p:spPr>
          <a:xfrm>
            <a:off x="812800" y="914400"/>
            <a:ext cx="9122190" cy="5130800"/>
          </a:xfrm>
          <a:prstGeom prst="rect">
            <a:avLst/>
          </a:prstGeom>
        </p:spPr>
      </p:pic>
      <p:sp>
        <p:nvSpPr>
          <p:cNvPr id="4" name="TextBox 3"/>
          <p:cNvSpPr txBox="1"/>
          <p:nvPr/>
        </p:nvSpPr>
        <p:spPr>
          <a:xfrm>
            <a:off x="812800" y="6126480"/>
            <a:ext cx="10566400" cy="254000"/>
          </a:xfrm>
          <a:prstGeom prst="rect">
            <a:avLst/>
          </a:prstGeom>
          <a:noFill/>
        </p:spPr>
        <p:txBody>
          <a:bodyPr wrap="square">
            <a:spAutoFit/>
          </a:bodyPr>
          <a:lstStyle/>
          <a:p>
            <a:r>
              <a:rPr sz="892" b="0">
                <a:solidFill>
                  <a:srgbClr val="555555"/>
                </a:solidFill>
              </a:rPr>
              <a:t>Figure 1. The identification graph. A hollow node was not measured and a dashed edge is an unmeasured common cause; those two are what decide whether the effect is identifiable at 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2. Methods (cont.)</a:t>
            </a:r>
          </a:p>
        </p:txBody>
      </p:sp>
      <p:graphicFrame>
        <p:nvGraphicFramePr>
          <p:cNvPr id="3" name="Table 2"/>
          <p:cNvGraphicFramePr>
            <a:graphicFrameLocks noGrp="1"/>
          </p:cNvGraphicFramePr>
          <p:nvPr/>
        </p:nvGraphicFramePr>
        <p:xfrm>
          <a:off x="812800" y="914400"/>
          <a:ext cx="10566400" cy="5130800"/>
        </p:xfrm>
        <a:graphic>
          <a:graphicData uri="http://schemas.openxmlformats.org/drawingml/2006/table">
            <a:tbl>
              <a:tblPr firstRow="1" bandRow="1">
                <a:tableStyleId>{5C22544A-7EE6-4342-B048-85BDC9FD1C3A}</a:tableStyleId>
              </a:tblPr>
              <a:tblGrid>
                <a:gridCol w="3522133"/>
                <a:gridCol w="3522133"/>
                <a:gridCol w="3522134"/>
              </a:tblGrid>
              <a:tr h="256540">
                <a:tc>
                  <a:txBody>
                    <a:bodyPr/>
                    <a:lstStyle/>
                    <a:p>
                      <a:r>
                        <a:rPr sz="892" b="1">
                          <a:solidFill>
                            <a:srgbClr val="111111"/>
                          </a:solidFill>
                        </a:rPr>
                        <a:t>Step</a:t>
                      </a:r>
                    </a:p>
                  </a:txBody>
                  <a:tcPr/>
                </a:tc>
                <a:tc>
                  <a:txBody>
                    <a:bodyPr/>
                    <a:lstStyle/>
                    <a:p>
                      <a:r>
                        <a:rPr sz="892" b="1">
                          <a:solidFill>
                            <a:srgbClr val="111111"/>
                          </a:solidFill>
                        </a:rPr>
                        <a:t>Parameter</a:t>
                      </a:r>
                    </a:p>
                  </a:txBody>
                  <a:tcPr/>
                </a:tc>
                <a:tc>
                  <a:txBody>
                    <a:bodyPr/>
                    <a:lstStyle/>
                    <a:p>
                      <a:r>
                        <a:rPr sz="892" b="1">
                          <a:solidFill>
                            <a:srgbClr val="111111"/>
                          </a:solidFill>
                        </a:rPr>
                        <a:t>Value</a:t>
                      </a:r>
                    </a:p>
                  </a:txBody>
                  <a:tcPr/>
                </a:tc>
              </a:tr>
              <a:tr h="256540">
                <a:tc>
                  <a:txBody>
                    <a:bodyPr/>
                    <a:lstStyle/>
                    <a:p>
                      <a:r>
                        <a:rPr sz="892" b="0">
                          <a:solidFill>
                            <a:srgbClr val="111111"/>
                          </a:solidFill>
                        </a:rPr>
                        <a:t>Identification</a:t>
                      </a:r>
                    </a:p>
                  </a:txBody>
                  <a:tcPr/>
                </a:tc>
                <a:tc>
                  <a:txBody>
                    <a:bodyPr/>
                    <a:lstStyle/>
                    <a:p>
                      <a:r>
                        <a:rPr sz="892" b="0">
                          <a:solidFill>
                            <a:srgbClr val="111111"/>
                          </a:solidFill>
                        </a:rPr>
                        <a:t>graph</a:t>
                      </a:r>
                    </a:p>
                  </a:txBody>
                  <a:tcPr/>
                </a:tc>
                <a:tc>
                  <a:txBody>
                    <a:bodyPr/>
                    <a:lstStyle/>
                    <a:p>
                      <a:r>
                        <a:rPr sz="892" b="0">
                          <a:solidFill>
                            <a:srgbClr val="111111"/>
                          </a:solidFill>
                        </a:rPr>
                        <a:t>adherence -&gt; change, age -&gt; change, arm -&gt; adherence, arm -&gt; change, baseline -&gt; change</a:t>
                      </a:r>
                    </a:p>
                  </a:txBody>
                  <a:tcPr/>
                </a:tc>
              </a:tr>
              <a:tr h="256540">
                <a:tc>
                  <a:txBody>
                    <a:bodyPr/>
                    <a:lstStyle/>
                    <a:p>
                      <a:r>
                        <a:rPr sz="892" b="0">
                          <a:solidFill>
                            <a:srgbClr val="111111"/>
                          </a:solidFill>
                        </a:rPr>
                        <a:t>Identification</a:t>
                      </a:r>
                    </a:p>
                  </a:txBody>
                  <a:tcPr/>
                </a:tc>
                <a:tc>
                  <a:txBody>
                    <a:bodyPr/>
                    <a:lstStyle/>
                    <a:p>
                      <a:r>
                        <a:rPr sz="892" b="0">
                          <a:solidFill>
                            <a:srgbClr val="111111"/>
                          </a:solidFill>
                        </a:rPr>
                        <a:t>graph hash</a:t>
                      </a:r>
                    </a:p>
                  </a:txBody>
                  <a:tcPr/>
                </a:tc>
                <a:tc>
                  <a:txBody>
                    <a:bodyPr/>
                    <a:lstStyle/>
                    <a:p>
                      <a:r>
                        <a:rPr sz="892" b="0">
                          <a:solidFill>
                            <a:srgbClr val="111111"/>
                          </a:solidFill>
                        </a:rPr>
                        <a:t>d02f82660e65</a:t>
                      </a:r>
                    </a:p>
                  </a:txBody>
                  <a:tcPr/>
                </a:tc>
              </a:tr>
              <a:tr h="256540">
                <a:tc>
                  <a:txBody>
                    <a:bodyPr/>
                    <a:lstStyle/>
                    <a:p>
                      <a:r>
                        <a:rPr sz="892" b="0">
                          <a:solidFill>
                            <a:srgbClr val="111111"/>
                          </a:solidFill>
                        </a:rPr>
                        <a:t>Identification</a:t>
                      </a:r>
                    </a:p>
                  </a:txBody>
                  <a:tcPr/>
                </a:tc>
                <a:tc>
                  <a:txBody>
                    <a:bodyPr/>
                    <a:lstStyle/>
                    <a:p>
                      <a:r>
                        <a:rPr sz="892" b="0">
                          <a:solidFill>
                            <a:srgbClr val="111111"/>
                          </a:solidFill>
                        </a:rPr>
                        <a:t>route</a:t>
                      </a:r>
                    </a:p>
                  </a:txBody>
                  <a:tcPr/>
                </a:tc>
                <a:tc>
                  <a:txBody>
                    <a:bodyPr/>
                    <a:lstStyle/>
                    <a:p>
                      <a:r>
                        <a:rPr sz="892" b="0">
                          <a:solidFill>
                            <a:srgbClr val="111111"/>
                          </a:solidFill>
                        </a:rPr>
                        <a:t>backdoor</a:t>
                      </a:r>
                    </a:p>
                  </a:txBody>
                  <a:tcPr/>
                </a:tc>
              </a:tr>
              <a:tr h="256540">
                <a:tc>
                  <a:txBody>
                    <a:bodyPr/>
                    <a:lstStyle/>
                    <a:p>
                      <a:r>
                        <a:rPr sz="892" b="0">
                          <a:solidFill>
                            <a:srgbClr val="111111"/>
                          </a:solidFill>
                        </a:rPr>
                        <a:t>Identification</a:t>
                      </a:r>
                    </a:p>
                  </a:txBody>
                  <a:tcPr/>
                </a:tc>
                <a:tc>
                  <a:txBody>
                    <a:bodyPr/>
                    <a:lstStyle/>
                    <a:p>
                      <a:r>
                        <a:rPr sz="892" b="0">
                          <a:solidFill>
                            <a:srgbClr val="111111"/>
                          </a:solidFill>
                        </a:rPr>
                        <a:t>status</a:t>
                      </a:r>
                    </a:p>
                  </a:txBody>
                  <a:tcPr/>
                </a:tc>
                <a:tc>
                  <a:txBody>
                    <a:bodyPr/>
                    <a:lstStyle/>
                    <a:p>
                      <a:r>
                        <a:rPr sz="892" b="0">
                          <a:solidFill>
                            <a:srgbClr val="111111"/>
                          </a:solidFill>
                        </a:rPr>
                        <a:t>identified</a:t>
                      </a:r>
                    </a:p>
                  </a:txBody>
                  <a:tcPr/>
                </a:tc>
              </a:tr>
              <a:tr h="256540">
                <a:tc>
                  <a:txBody>
                    <a:bodyPr/>
                    <a:lstStyle/>
                    <a:p>
                      <a:r>
                        <a:rPr sz="892" b="0">
                          <a:solidFill>
                            <a:srgbClr val="111111"/>
                          </a:solidFill>
                        </a:rPr>
                        <a:t>Protocol</a:t>
                      </a:r>
                    </a:p>
                  </a:txBody>
                  <a:tcPr/>
                </a:tc>
                <a:tc>
                  <a:txBody>
                    <a:bodyPr/>
                    <a:lstStyle/>
                    <a:p>
                      <a:r>
                        <a:rPr sz="892" b="0">
                          <a:solidFill>
                            <a:srgbClr val="111111"/>
                          </a:solidFill>
                        </a:rPr>
                        <a:t>allocation</a:t>
                      </a:r>
                    </a:p>
                  </a:txBody>
                  <a:tcPr/>
                </a:tc>
                <a:tc>
                  <a:txBody>
                    <a:bodyPr/>
                    <a:lstStyle/>
                    <a:p>
                      <a:r>
                        <a:rPr sz="892" b="0">
                          <a:solidFill>
                            <a:srgbClr val="111111"/>
                          </a:solidFill>
                        </a:rPr>
                        <a:t>2:1:1:1</a:t>
                      </a:r>
                    </a:p>
                  </a:txBody>
                  <a:tcPr/>
                </a:tc>
              </a:tr>
              <a:tr h="256540">
                <a:tc>
                  <a:txBody>
                    <a:bodyPr/>
                    <a:lstStyle/>
                    <a:p>
                      <a:r>
                        <a:rPr sz="892" b="0">
                          <a:solidFill>
                            <a:srgbClr val="111111"/>
                          </a:solidFill>
                        </a:rPr>
                        <a:t>Protocol</a:t>
                      </a:r>
                    </a:p>
                  </a:txBody>
                  <a:tcPr/>
                </a:tc>
                <a:tc>
                  <a:txBody>
                    <a:bodyPr/>
                    <a:lstStyle/>
                    <a:p>
                      <a:r>
                        <a:rPr sz="892" b="0">
                          <a:solidFill>
                            <a:srgbClr val="111111"/>
                          </a:solidFill>
                        </a:rPr>
                        <a:t>arms</a:t>
                      </a:r>
                    </a:p>
                  </a:txBody>
                  <a:tcPr/>
                </a:tc>
                <a:tc>
                  <a:txBody>
                    <a:bodyPr/>
                    <a:lstStyle/>
                    <a:p>
                      <a:r>
                        <a:rPr sz="892" b="0">
                          <a:solidFill>
                            <a:srgbClr val="111111"/>
                          </a:solidFill>
                        </a:rPr>
                        <a:t>standard_of_care, dose_10, dose_20, dose_40</a:t>
                      </a:r>
                    </a:p>
                  </a:txBody>
                  <a:tcPr/>
                </a:tc>
              </a:tr>
              <a:tr h="256540">
                <a:tc>
                  <a:txBody>
                    <a:bodyPr/>
                    <a:lstStyle/>
                    <a:p>
                      <a:r>
                        <a:rPr sz="892" b="0">
                          <a:solidFill>
                            <a:srgbClr val="111111"/>
                          </a:solidFill>
                        </a:rPr>
                        <a:t>Protocol</a:t>
                      </a:r>
                    </a:p>
                  </a:txBody>
                  <a:tcPr/>
                </a:tc>
                <a:tc>
                  <a:txBody>
                    <a:bodyPr/>
                    <a:lstStyle/>
                    <a:p>
                      <a:r>
                        <a:rPr sz="892" b="0">
                          <a:solidFill>
                            <a:srgbClr val="111111"/>
                          </a:solidFill>
                        </a:rPr>
                        <a:t>enrollment weeks</a:t>
                      </a:r>
                    </a:p>
                  </a:txBody>
                  <a:tcPr/>
                </a:tc>
                <a:tc>
                  <a:txBody>
                    <a:bodyPr/>
                    <a:lstStyle/>
                    <a:p>
                      <a:r>
                        <a:rPr sz="892" b="0">
                          <a:solidFill>
                            <a:srgbClr val="111111"/>
                          </a:solidFill>
                        </a:rPr>
                        <a:t>16</a:t>
                      </a:r>
                    </a:p>
                  </a:txBody>
                  <a:tcPr/>
                </a:tc>
              </a:tr>
              <a:tr h="256540">
                <a:tc>
                  <a:txBody>
                    <a:bodyPr/>
                    <a:lstStyle/>
                    <a:p>
                      <a:r>
                        <a:rPr sz="892" b="0">
                          <a:solidFill>
                            <a:srgbClr val="111111"/>
                          </a:solidFill>
                        </a:rPr>
                        <a:t>Protocol</a:t>
                      </a:r>
                    </a:p>
                  </a:txBody>
                  <a:tcPr/>
                </a:tc>
                <a:tc>
                  <a:txBody>
                    <a:bodyPr/>
                    <a:lstStyle/>
                    <a:p>
                      <a:r>
                        <a:rPr sz="892" b="0">
                          <a:solidFill>
                            <a:srgbClr val="111111"/>
                          </a:solidFill>
                        </a:rPr>
                        <a:t>follow-up weeks</a:t>
                      </a:r>
                    </a:p>
                  </a:txBody>
                  <a:tcPr/>
                </a:tc>
                <a:tc>
                  <a:txBody>
                    <a:bodyPr/>
                    <a:lstStyle/>
                    <a:p>
                      <a:r>
                        <a:rPr sz="892" b="0">
                          <a:solidFill>
                            <a:srgbClr val="111111"/>
                          </a:solidFill>
                        </a:rPr>
                        <a:t>24</a:t>
                      </a:r>
                    </a:p>
                  </a:txBody>
                  <a:tcPr/>
                </a:tc>
              </a:tr>
              <a:tr h="256540">
                <a:tc>
                  <a:txBody>
                    <a:bodyPr/>
                    <a:lstStyle/>
                    <a:p>
                      <a:r>
                        <a:rPr sz="892" b="0">
                          <a:solidFill>
                            <a:srgbClr val="111111"/>
                          </a:solidFill>
                        </a:rPr>
                        <a:t>Protocol</a:t>
                      </a:r>
                    </a:p>
                  </a:txBody>
                  <a:tcPr/>
                </a:tc>
                <a:tc>
                  <a:txBody>
                    <a:bodyPr/>
                    <a:lstStyle/>
                    <a:p>
                      <a:r>
                        <a:rPr sz="892" b="0">
                          <a:solidFill>
                            <a:srgbClr val="111111"/>
                          </a:solidFill>
                        </a:rPr>
                        <a:t>primary endpoint week</a:t>
                      </a:r>
                    </a:p>
                  </a:txBody>
                  <a:tcPr/>
                </a:tc>
                <a:tc>
                  <a:txBody>
                    <a:bodyPr/>
                    <a:lstStyle/>
                    <a:p>
                      <a:r>
                        <a:rPr sz="892" b="0">
                          <a:solidFill>
                            <a:srgbClr val="111111"/>
                          </a:solidFill>
                        </a:rPr>
                        <a:t>12</a:t>
                      </a:r>
                    </a:p>
                  </a:txBody>
                  <a:tcPr/>
                </a:tc>
              </a:tr>
              <a:tr h="256540">
                <a:tc>
                  <a:txBody>
                    <a:bodyPr/>
                    <a:lstStyle/>
                    <a:p>
                      <a:r>
                        <a:rPr sz="892" b="0">
                          <a:solidFill>
                            <a:srgbClr val="111111"/>
                          </a:solidFill>
                        </a:rPr>
                        <a:t>Protocol</a:t>
                      </a:r>
                    </a:p>
                  </a:txBody>
                  <a:tcPr/>
                </a:tc>
                <a:tc>
                  <a:txBody>
                    <a:bodyPr/>
                    <a:lstStyle/>
                    <a:p>
                      <a:r>
                        <a:rPr sz="892" b="0">
                          <a:solidFill>
                            <a:srgbClr val="111111"/>
                          </a:solidFill>
                        </a:rPr>
                        <a:t>strata</a:t>
                      </a:r>
                    </a:p>
                  </a:txBody>
                  <a:tcPr/>
                </a:tc>
                <a:tc>
                  <a:txBody>
                    <a:bodyPr/>
                    <a:lstStyle/>
                    <a:p>
                      <a:r>
                        <a:rPr sz="892" b="0">
                          <a:solidFill>
                            <a:srgbClr val="111111"/>
                          </a:solidFill>
                        </a:rPr>
                        <a:t>age_25_35, age_36_50, age_51_plus</a:t>
                      </a:r>
                    </a:p>
                  </a:txBody>
                  <a:tcPr/>
                </a:tc>
              </a:tr>
              <a:tr h="256540">
                <a:tc>
                  <a:txBody>
                    <a:bodyPr/>
                    <a:lstStyle/>
                    <a:p>
                      <a:r>
                        <a:rPr sz="892" b="0">
                          <a:solidFill>
                            <a:srgbClr val="111111"/>
                          </a:solidFill>
                        </a:rPr>
                        <a:t>Protocol</a:t>
                      </a:r>
                    </a:p>
                  </a:txBody>
                  <a:tcPr/>
                </a:tc>
                <a:tc>
                  <a:txBody>
                    <a:bodyPr/>
                    <a:lstStyle/>
                    <a:p>
                      <a:r>
                        <a:rPr sz="892" b="0">
                          <a:solidFill>
                            <a:srgbClr val="111111"/>
                          </a:solidFill>
                        </a:rPr>
                        <a:t>units randomized</a:t>
                      </a:r>
                    </a:p>
                  </a:txBody>
                  <a:tcPr/>
                </a:tc>
                <a:tc>
                  <a:txBody>
                    <a:bodyPr/>
                    <a:lstStyle/>
                    <a:p>
                      <a:r>
                        <a:rPr sz="892" b="0">
                          <a:solidFill>
                            <a:srgbClr val="111111"/>
                          </a:solidFill>
                        </a:rPr>
                        <a:t>400</a:t>
                      </a:r>
                    </a:p>
                  </a:txBody>
                  <a:tcPr/>
                </a:tc>
              </a:tr>
              <a:tr h="256540">
                <a:tc>
                  <a:txBody>
                    <a:bodyPr/>
                    <a:lstStyle/>
                    <a:p>
                      <a:r>
                        <a:rPr sz="892" b="0">
                          <a:solidFill>
                            <a:srgbClr val="111111"/>
                          </a:solidFill>
                        </a:rPr>
                        <a:t>Measurement</a:t>
                      </a:r>
                    </a:p>
                  </a:txBody>
                  <a:tcPr/>
                </a:tc>
                <a:tc>
                  <a:txBody>
                    <a:bodyPr/>
                    <a:lstStyle/>
                    <a:p>
                      <a:r>
                        <a:rPr sz="892" b="0">
                          <a:solidFill>
                            <a:srgbClr val="111111"/>
                          </a:solidFill>
                        </a:rPr>
                        <a:t>minimum visits in window</a:t>
                      </a:r>
                    </a:p>
                  </a:txBody>
                  <a:tcPr/>
                </a:tc>
                <a:tc>
                  <a:txBody>
                    <a:bodyPr/>
                    <a:lstStyle/>
                    <a:p>
                      <a:r>
                        <a:rPr sz="892" b="0">
                          <a:solidFill>
                            <a:srgbClr val="111111"/>
                          </a:solidFill>
                        </a:rPr>
                        <a:t>3</a:t>
                      </a:r>
                    </a:p>
                  </a:txBody>
                  <a:tcPr/>
                </a:tc>
              </a:tr>
              <a:tr h="256540">
                <a:tc>
                  <a:txBody>
                    <a:bodyPr/>
                    <a:lstStyle/>
                    <a:p>
                      <a:r>
                        <a:rPr sz="892" b="0">
                          <a:solidFill>
                            <a:srgbClr val="111111"/>
                          </a:solidFill>
                        </a:rPr>
                        <a:t>Measurement</a:t>
                      </a:r>
                    </a:p>
                  </a:txBody>
                  <a:tcPr/>
                </a:tc>
                <a:tc>
                  <a:txBody>
                    <a:bodyPr/>
                    <a:lstStyle/>
                    <a:p>
                      <a:r>
                        <a:rPr sz="892" b="0">
                          <a:solidFill>
                            <a:srgbClr val="111111"/>
                          </a:solidFill>
                        </a:rPr>
                        <a:t>retention at final week</a:t>
                      </a:r>
                    </a:p>
                  </a:txBody>
                  <a:tcPr/>
                </a:tc>
                <a:tc>
                  <a:txBody>
                    <a:bodyPr/>
                    <a:lstStyle/>
                    <a:p>
                      <a:r>
                        <a:rPr sz="892" b="0">
                          <a:solidFill>
                            <a:srgbClr val="111111"/>
                          </a:solidFill>
                        </a:rPr>
                        <a:t>79.8%</a:t>
                      </a:r>
                    </a:p>
                  </a:txBody>
                  <a:tcPr/>
                </a:tc>
              </a:tr>
              <a:tr h="256540">
                <a:tc>
                  <a:txBody>
                    <a:bodyPr/>
                    <a:lstStyle/>
                    <a:p>
                      <a:r>
                        <a:rPr sz="892" b="0">
                          <a:solidFill>
                            <a:srgbClr val="111111"/>
                          </a:solidFill>
                        </a:rPr>
                        <a:t>Analysis</a:t>
                      </a:r>
                    </a:p>
                  </a:txBody>
                  <a:tcPr/>
                </a:tc>
                <a:tc>
                  <a:txBody>
                    <a:bodyPr/>
                    <a:lstStyle/>
                    <a:p>
                      <a:r>
                        <a:rPr sz="892" b="0">
                          <a:solidFill>
                            <a:srgbClr val="111111"/>
                          </a:solidFill>
                        </a:rPr>
                        <a:t>estimator</a:t>
                      </a:r>
                    </a:p>
                  </a:txBody>
                  <a:tcPr/>
                </a:tc>
                <a:tc>
                  <a:txBody>
                    <a:bodyPr/>
                    <a:lstStyle/>
                    <a:p>
                      <a:r>
                        <a:rPr sz="892" b="0">
                          <a:solidFill>
                            <a:srgbClr val="111111"/>
                          </a:solidFill>
                        </a:rPr>
                        <a:t>ANCOVA (OLS on change, baseline-adjusted)</a:t>
                      </a:r>
                    </a:p>
                  </a:txBody>
                  <a:tcPr/>
                </a:tc>
              </a:tr>
              <a:tr h="256540">
                <a:tc>
                  <a:txBody>
                    <a:bodyPr/>
                    <a:lstStyle/>
                    <a:p>
                      <a:r>
                        <a:rPr sz="892" b="0">
                          <a:solidFill>
                            <a:srgbClr val="111111"/>
                          </a:solidFill>
                        </a:rPr>
                        <a:t>Analysis</a:t>
                      </a:r>
                    </a:p>
                  </a:txBody>
                  <a:tcPr/>
                </a:tc>
                <a:tc>
                  <a:txBody>
                    <a:bodyPr/>
                    <a:lstStyle/>
                    <a:p>
                      <a:r>
                        <a:rPr sz="892" b="0">
                          <a:solidFill>
                            <a:srgbClr val="111111"/>
                          </a:solidFill>
                        </a:rPr>
                        <a:t>interval mass</a:t>
                      </a:r>
                    </a:p>
                  </a:txBody>
                  <a:tcPr/>
                </a:tc>
                <a:tc>
                  <a:txBody>
                    <a:bodyPr/>
                    <a:lstStyle/>
                    <a:p>
                      <a:r>
                        <a:rPr sz="892" b="0">
                          <a:solidFill>
                            <a:srgbClr val="111111"/>
                          </a:solidFill>
                        </a:rPr>
                        <a:t>90%</a:t>
                      </a:r>
                    </a:p>
                  </a:txBody>
                  <a:tcPr/>
                </a:tc>
              </a:tr>
              <a:tr h="256540">
                <a:tc>
                  <a:txBody>
                    <a:bodyPr/>
                    <a:lstStyle/>
                    <a:p>
                      <a:r>
                        <a:rPr sz="892" b="0">
                          <a:solidFill>
                            <a:srgbClr val="111111"/>
                          </a:solidFill>
                        </a:rPr>
                        <a:t>Analysis</a:t>
                      </a:r>
                    </a:p>
                  </a:txBody>
                  <a:tcPr/>
                </a:tc>
                <a:tc>
                  <a:txBody>
                    <a:bodyPr/>
                    <a:lstStyle/>
                    <a:p>
                      <a:r>
                        <a:rPr sz="892" b="0">
                          <a:solidFill>
                            <a:srgbClr val="111111"/>
                          </a:solidFill>
                        </a:rPr>
                        <a:t>pooled covariates</a:t>
                      </a:r>
                    </a:p>
                  </a:txBody>
                  <a:tcPr/>
                </a:tc>
                <a:tc>
                  <a:txBody>
                    <a:bodyPr/>
                    <a:lstStyle/>
                    <a:p>
                      <a:r>
                        <a:rPr sz="892" b="0">
                          <a:solidFill>
                            <a:srgbClr val="111111"/>
                          </a:solidFill>
                        </a:rPr>
                        <a:t>baseline_centred, is_age_36_50, is_age_51_plus</a:t>
                      </a:r>
                    </a:p>
                  </a:txBody>
                  <a:tcPr/>
                </a:tc>
              </a:tr>
              <a:tr h="256540">
                <a:tc>
                  <a:txBody>
                    <a:bodyPr/>
                    <a:lstStyle/>
                    <a:p>
                      <a:r>
                        <a:rPr sz="892" b="0">
                          <a:solidFill>
                            <a:srgbClr val="111111"/>
                          </a:solidFill>
                        </a:rPr>
                        <a:t>Analysis</a:t>
                      </a:r>
                    </a:p>
                  </a:txBody>
                  <a:tcPr/>
                </a:tc>
                <a:tc>
                  <a:txBody>
                    <a:bodyPr/>
                    <a:lstStyle/>
                    <a:p>
                      <a:r>
                        <a:rPr sz="892" b="0">
                          <a:solidFill>
                            <a:srgbClr val="111111"/>
                          </a:solidFill>
                        </a:rPr>
                        <a:t>within-stratum covariates</a:t>
                      </a:r>
                    </a:p>
                  </a:txBody>
                  <a:tcPr/>
                </a:tc>
                <a:tc>
                  <a:txBody>
                    <a:bodyPr/>
                    <a:lstStyle/>
                    <a:p>
                      <a:r>
                        <a:rPr sz="892" b="0">
                          <a:solidFill>
                            <a:srgbClr val="111111"/>
                          </a:solidFill>
                        </a:rPr>
                        <a:t>baseline_centred</a:t>
                      </a:r>
                    </a:p>
                  </a:txBody>
                  <a:tcPr/>
                </a:tc>
              </a:tr>
              <a:tr h="256540">
                <a:tc>
                  <a:txBody>
                    <a:bodyPr/>
                    <a:lstStyle/>
                    <a:p>
                      <a:r>
                        <a:rPr sz="892" b="0">
                          <a:solidFill>
                            <a:srgbClr val="111111"/>
                          </a:solidFill>
                        </a:rPr>
                        <a:t>Safety monitoring</a:t>
                      </a:r>
                    </a:p>
                  </a:txBody>
                  <a:tcPr/>
                </a:tc>
                <a:tc>
                  <a:txBody>
                    <a:bodyPr/>
                    <a:lstStyle/>
                    <a:p>
                      <a:r>
                        <a:rPr sz="892" b="0">
                          <a:solidFill>
                            <a:srgbClr val="111111"/>
                          </a:solidFill>
                        </a:rPr>
                        <a:t>clinical margin (mmHg)</a:t>
                      </a:r>
                    </a:p>
                  </a:txBody>
                  <a:tcPr/>
                </a:tc>
                <a:tc>
                  <a:txBody>
                    <a:bodyPr/>
                    <a:lstStyle/>
                    <a:p>
                      <a:r>
                        <a:rPr sz="892" b="0">
                          <a:solidFill>
                            <a:srgbClr val="111111"/>
                          </a:solidFill>
                        </a:rPr>
                        <a:t>2</a:t>
                      </a:r>
                    </a:p>
                  </a:txBody>
                  <a:tcPr/>
                </a:tc>
              </a:tr>
              <a:tr h="256540">
                <a:tc>
                  <a:txBody>
                    <a:bodyPr/>
                    <a:lstStyle/>
                    <a:p>
                      <a:r>
                        <a:rPr sz="892" b="0">
                          <a:solidFill>
                            <a:srgbClr val="111111"/>
                          </a:solidFill>
                        </a:rPr>
                        <a:t>Safety monitoring</a:t>
                      </a:r>
                    </a:p>
                  </a:txBody>
                  <a:tcPr/>
                </a:tc>
                <a:tc>
                  <a:txBody>
                    <a:bodyPr/>
                    <a:lstStyle/>
                    <a:p>
                      <a:r>
                        <a:rPr sz="892" b="0">
                          <a:solidFill>
                            <a:srgbClr val="111111"/>
                          </a:solidFill>
                        </a:rPr>
                        <a:t>monitored contrasts</a:t>
                      </a:r>
                    </a:p>
                  </a:txBody>
                  <a:tcPr/>
                </a:tc>
                <a:tc>
                  <a:txBody>
                    <a:bodyPr/>
                    <a:lstStyle/>
                    <a:p>
                      <a:r>
                        <a:rPr sz="892" b="0">
                          <a:solidFill>
                            <a:srgbClr val="111111"/>
                          </a:solidFill>
                        </a:rPr>
                        <a:t>12</a:t>
                      </a:r>
                    </a:p>
                  </a:txBody>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3. Results</a:t>
            </a:r>
          </a:p>
        </p:txBody>
      </p:sp>
      <p:sp>
        <p:nvSpPr>
          <p:cNvPr id="3" name="TextBox 2"/>
          <p:cNvSpPr txBox="1"/>
          <p:nvPr/>
        </p:nvSpPr>
        <p:spPr>
          <a:xfrm>
            <a:off x="812800" y="914400"/>
            <a:ext cx="2540000" cy="889000"/>
          </a:xfrm>
          <a:prstGeom prst="rect">
            <a:avLst/>
          </a:prstGeom>
          <a:noFill/>
        </p:spPr>
        <p:txBody>
          <a:bodyPr wrap="square">
            <a:spAutoFit/>
          </a:bodyPr>
          <a:lstStyle/>
          <a:p>
            <a:r>
              <a:rPr sz="892" b="0">
                <a:solidFill>
                  <a:srgbClr val="555555"/>
                </a:solidFill>
              </a:rPr>
              <a:t>40 MG VS CONTROL, POOLED</a:t>
            </a:r>
          </a:p>
          <a:p>
            <a:r>
              <a:rPr sz="1520" b="1">
                <a:solidFill>
                  <a:srgbClr val="1A1A1A"/>
                </a:solidFill>
              </a:rPr>
              <a:t>-1.53 mmHg</a:t>
            </a:r>
          </a:p>
          <a:p>
            <a:r>
              <a:rPr sz="892" b="0">
                <a:solidFill>
                  <a:srgbClr val="555555"/>
                </a:solidFill>
              </a:rPr>
              <a:t>[-3.0, -0.1] (90% WALD)</a:t>
            </a:r>
          </a:p>
        </p:txBody>
      </p:sp>
      <p:sp>
        <p:nvSpPr>
          <p:cNvPr id="4" name="TextBox 3"/>
          <p:cNvSpPr txBox="1"/>
          <p:nvPr/>
        </p:nvSpPr>
        <p:spPr>
          <a:xfrm>
            <a:off x="3454400" y="914400"/>
            <a:ext cx="2540000" cy="889000"/>
          </a:xfrm>
          <a:prstGeom prst="rect">
            <a:avLst/>
          </a:prstGeom>
          <a:noFill/>
        </p:spPr>
        <p:txBody>
          <a:bodyPr wrap="square">
            <a:spAutoFit/>
          </a:bodyPr>
          <a:lstStyle/>
          <a:p>
            <a:r>
              <a:rPr sz="892" b="0">
                <a:solidFill>
                  <a:srgbClr val="555555"/>
                </a:solidFill>
              </a:rPr>
              <a:t>20 MG VS CONTROL, POOLED</a:t>
            </a:r>
          </a:p>
          <a:p>
            <a:r>
              <a:rPr sz="1520" b="1">
                <a:solidFill>
                  <a:srgbClr val="1A1A1A"/>
                </a:solidFill>
              </a:rPr>
              <a:t>-4.80 mmHg</a:t>
            </a:r>
          </a:p>
          <a:p>
            <a:r>
              <a:rPr sz="892" b="0">
                <a:solidFill>
                  <a:srgbClr val="555555"/>
                </a:solidFill>
              </a:rPr>
              <a:t>[-6.2, -3.4] (90% WALD)</a:t>
            </a:r>
          </a:p>
        </p:txBody>
      </p:sp>
      <p:sp>
        <p:nvSpPr>
          <p:cNvPr id="5" name="TextBox 4"/>
          <p:cNvSpPr txBox="1"/>
          <p:nvPr/>
        </p:nvSpPr>
        <p:spPr>
          <a:xfrm>
            <a:off x="6096000" y="914400"/>
            <a:ext cx="2540000" cy="889000"/>
          </a:xfrm>
          <a:prstGeom prst="rect">
            <a:avLst/>
          </a:prstGeom>
          <a:noFill/>
        </p:spPr>
        <p:txBody>
          <a:bodyPr wrap="square">
            <a:spAutoFit/>
          </a:bodyPr>
          <a:lstStyle/>
          <a:p>
            <a:r>
              <a:rPr sz="892" b="0">
                <a:solidFill>
                  <a:srgbClr val="555555"/>
                </a:solidFill>
              </a:rPr>
              <a:t>10 MG VS CONTROL, POOLED</a:t>
            </a:r>
          </a:p>
          <a:p>
            <a:r>
              <a:rPr sz="1520" b="1">
                <a:solidFill>
                  <a:srgbClr val="1A1A1A"/>
                </a:solidFill>
              </a:rPr>
              <a:t>-5.27 mmHg</a:t>
            </a:r>
          </a:p>
          <a:p>
            <a:r>
              <a:rPr sz="892" b="0">
                <a:solidFill>
                  <a:srgbClr val="555555"/>
                </a:solidFill>
              </a:rPr>
              <a:t>[-6.6, -3.9] (90% WALD)</a:t>
            </a:r>
          </a:p>
        </p:txBody>
      </p:sp>
      <p:sp>
        <p:nvSpPr>
          <p:cNvPr id="6" name="TextBox 5"/>
          <p:cNvSpPr txBox="1"/>
          <p:nvPr/>
        </p:nvSpPr>
        <p:spPr>
          <a:xfrm>
            <a:off x="8737600" y="914400"/>
            <a:ext cx="2540000" cy="889000"/>
          </a:xfrm>
          <a:prstGeom prst="rect">
            <a:avLst/>
          </a:prstGeom>
          <a:noFill/>
        </p:spPr>
        <p:txBody>
          <a:bodyPr wrap="square">
            <a:spAutoFit/>
          </a:bodyPr>
          <a:lstStyle/>
          <a:p>
            <a:r>
              <a:rPr sz="892" b="0">
                <a:solidFill>
                  <a:srgbClr val="555555"/>
                </a:solidFill>
              </a:rPr>
              <a:t>40 MG VS CONTROL, AGE 51+</a:t>
            </a:r>
          </a:p>
          <a:p>
            <a:r>
              <a:rPr sz="1520" b="1">
                <a:solidFill>
                  <a:srgbClr val="1A1A1A"/>
                </a:solidFill>
              </a:rPr>
              <a:t>6.20 mmHg</a:t>
            </a:r>
          </a:p>
          <a:p>
            <a:r>
              <a:rPr sz="892" b="0">
                <a:solidFill>
                  <a:srgbClr val="555555"/>
                </a:solidFill>
              </a:rPr>
              <a:t>[4.0, 8.4] (90% WALD)</a:t>
            </a:r>
          </a:p>
        </p:txBody>
      </p:sp>
      <p:sp>
        <p:nvSpPr>
          <p:cNvPr id="7" name="TextBox 6"/>
          <p:cNvSpPr txBox="1"/>
          <p:nvPr/>
        </p:nvSpPr>
        <p:spPr>
          <a:xfrm>
            <a:off x="812800" y="1955800"/>
            <a:ext cx="10566400" cy="508000"/>
          </a:xfrm>
          <a:prstGeom prst="rect">
            <a:avLst/>
          </a:prstGeom>
          <a:noFill/>
        </p:spPr>
        <p:txBody>
          <a:bodyPr wrap="square">
            <a:spAutoFit/>
          </a:bodyPr>
          <a:lstStyle/>
          <a:p>
            <a:r>
              <a:rPr sz="1050" b="0">
                <a:solidFill>
                  <a:srgbClr val="111111"/>
                </a:solidFill>
              </a:rPr>
              <a:t>The HYPER-3 results evaluate the dose comparisons relative to control under the identification strategy established in the methods. The estimated quantities are presented in Table 4. For 40 mg vs control, the pooled estimate is -1.53 mmHg (90% WALD -2.97 to -0.10 mmHg). For 20 mg vs control, the pooled estimate is -4.80 mmHg (90% WALD -6.17 to -3.44 mmHg). For 10 mg vs control, the pooled estimate is -5.27 mmHg (90% WALD -6.63 to -3.91 mmHg). The analysis of the 40 mg dose also reports estimates by age stratum. For 40 mg vs control, age 51+, the estimate is 6.20 mmHg (90% WALD 3.98 to 8.42 mmHg). For 40 mg vs control, age 25-35, the estimate is -5.26 mmHg (90% WALD -8.17 to -2.36 mmHg). The estimated quantities with their intervals are shown in Figure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3. Results (cont.)</a:t>
            </a:r>
          </a:p>
        </p:txBody>
      </p:sp>
      <p:sp>
        <p:nvSpPr>
          <p:cNvPr id="3" name="TextBox 2"/>
          <p:cNvSpPr txBox="1"/>
          <p:nvPr/>
        </p:nvSpPr>
        <p:spPr>
          <a:xfrm>
            <a:off x="812800" y="914400"/>
            <a:ext cx="10464800" cy="889000"/>
          </a:xfrm>
          <a:prstGeom prst="rect">
            <a:avLst/>
          </a:prstGeom>
          <a:noFill/>
        </p:spPr>
        <p:txBody>
          <a:bodyPr wrap="square">
            <a:spAutoFit/>
          </a:bodyPr>
          <a:lstStyle/>
          <a:p>
            <a:r>
              <a:rPr sz="892" b="0">
                <a:solidFill>
                  <a:srgbClr val="555555"/>
                </a:solidFill>
              </a:rPr>
              <a:t>40 MG VS CONTROL, AGE 25-35</a:t>
            </a:r>
          </a:p>
          <a:p>
            <a:r>
              <a:rPr sz="1520" b="1">
                <a:solidFill>
                  <a:srgbClr val="1A1A1A"/>
                </a:solidFill>
              </a:rPr>
              <a:t>-5.26 mmHg</a:t>
            </a:r>
          </a:p>
          <a:p>
            <a:r>
              <a:rPr sz="892" b="0">
                <a:solidFill>
                  <a:srgbClr val="555555"/>
                </a:solidFill>
              </a:rPr>
              <a:t>[-8.2, -2.4] (90% WALD)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3. Results (cont.)</a:t>
            </a:r>
          </a:p>
        </p:txBody>
      </p:sp>
      <p:pic>
        <p:nvPicPr>
          <p:cNvPr id="3" name="Picture 2" descr="image.png"/>
          <p:cNvPicPr>
            <a:picLocks noChangeAspect="1"/>
          </p:cNvPicPr>
          <p:nvPr/>
        </p:nvPicPr>
        <p:blipFill>
          <a:blip r:embed="rId2"/>
          <a:stretch>
            <a:fillRect/>
          </a:stretch>
        </p:blipFill>
        <p:spPr>
          <a:xfrm>
            <a:off x="812800" y="914400"/>
            <a:ext cx="9122190" cy="5130800"/>
          </a:xfrm>
          <a:prstGeom prst="rect">
            <a:avLst/>
          </a:prstGeom>
        </p:spPr>
      </p:pic>
      <p:sp>
        <p:nvSpPr>
          <p:cNvPr id="4" name="TextBox 3"/>
          <p:cNvSpPr txBox="1"/>
          <p:nvPr/>
        </p:nvSpPr>
        <p:spPr>
          <a:xfrm>
            <a:off x="812800" y="6126480"/>
            <a:ext cx="10566400" cy="254000"/>
          </a:xfrm>
          <a:prstGeom prst="rect">
            <a:avLst/>
          </a:prstGeom>
          <a:noFill/>
        </p:spPr>
        <p:txBody>
          <a:bodyPr wrap="square">
            <a:spAutoFit/>
          </a:bodyPr>
          <a:lstStyle/>
          <a:p>
            <a:r>
              <a:rPr sz="892" b="0">
                <a:solidFill>
                  <a:srgbClr val="555555"/>
                </a:solidFill>
              </a:rPr>
              <a:t>Figure 2. Estimated quantities with their intervals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3. Results (cont.)</a:t>
            </a:r>
          </a:p>
        </p:txBody>
      </p:sp>
      <p:graphicFrame>
        <p:nvGraphicFramePr>
          <p:cNvPr id="3" name="Table 2"/>
          <p:cNvGraphicFramePr>
            <a:graphicFrameLocks noGrp="1"/>
          </p:cNvGraphicFramePr>
          <p:nvPr/>
        </p:nvGraphicFramePr>
        <p:xfrm>
          <a:off x="812800" y="914400"/>
          <a:ext cx="10566400" cy="1828800"/>
        </p:xfrm>
        <a:graphic>
          <a:graphicData uri="http://schemas.openxmlformats.org/drawingml/2006/table">
            <a:tbl>
              <a:tblPr firstRow="1" bandRow="1">
                <a:tableStyleId>{5C22544A-7EE6-4342-B048-85BDC9FD1C3A}</a:tableStyleId>
              </a:tblPr>
              <a:tblGrid>
                <a:gridCol w="1761066"/>
                <a:gridCol w="1761066"/>
                <a:gridCol w="1761066"/>
                <a:gridCol w="1761066"/>
                <a:gridCol w="1761066"/>
                <a:gridCol w="1761070"/>
              </a:tblGrid>
              <a:tr h="304800">
                <a:tc>
                  <a:txBody>
                    <a:bodyPr/>
                    <a:lstStyle/>
                    <a:p>
                      <a:r>
                        <a:rPr sz="892" b="1">
                          <a:solidFill>
                            <a:srgbClr val="111111"/>
                          </a:solidFill>
                        </a:rPr>
                        <a:t>Quantity</a:t>
                      </a:r>
                    </a:p>
                  </a:txBody>
                  <a:tcPr/>
                </a:tc>
                <a:tc>
                  <a:txBody>
                    <a:bodyPr/>
                    <a:lstStyle/>
                    <a:p>
                      <a:r>
                        <a:rPr sz="892" b="1">
                          <a:solidFill>
                            <a:srgbClr val="111111"/>
                          </a:solidFill>
                        </a:rPr>
                        <a:t>Estimate</a:t>
                      </a:r>
                    </a:p>
                  </a:txBody>
                  <a:tcPr/>
                </a:tc>
                <a:tc>
                  <a:txBody>
                    <a:bodyPr/>
                    <a:lstStyle/>
                    <a:p>
                      <a:r>
                        <a:rPr sz="892" b="1">
                          <a:solidFill>
                            <a:srgbClr val="111111"/>
                          </a:solidFill>
                        </a:rPr>
                        <a:t>Unit</a:t>
                      </a:r>
                    </a:p>
                  </a:txBody>
                  <a:tcPr/>
                </a:tc>
                <a:tc>
                  <a:txBody>
                    <a:bodyPr/>
                    <a:lstStyle/>
                    <a:p>
                      <a:r>
                        <a:rPr sz="892" b="1">
                          <a:solidFill>
                            <a:srgbClr val="111111"/>
                          </a:solidFill>
                        </a:rPr>
                        <a:t>Interval</a:t>
                      </a:r>
                    </a:p>
                  </a:txBody>
                  <a:tcPr/>
                </a:tc>
                <a:tc>
                  <a:txBody>
                    <a:bodyPr/>
                    <a:lstStyle/>
                    <a:p>
                      <a:r>
                        <a:rPr sz="892" b="1">
                          <a:solidFill>
                            <a:srgbClr val="111111"/>
                          </a:solidFill>
                        </a:rPr>
                        <a:t>Threshold</a:t>
                      </a:r>
                    </a:p>
                  </a:txBody>
                  <a:tcPr/>
                </a:tc>
                <a:tc>
                  <a:txBody>
                    <a:bodyPr/>
                    <a:lstStyle/>
                    <a:p>
                      <a:r>
                        <a:rPr sz="892" b="1">
                          <a:solidFill>
                            <a:srgbClr val="111111"/>
                          </a:solidFill>
                        </a:rPr>
                        <a:t>Relative to threshold</a:t>
                      </a:r>
                    </a:p>
                  </a:txBody>
                  <a:tcPr/>
                </a:tc>
              </a:tr>
              <a:tr h="304800">
                <a:tc>
                  <a:txBody>
                    <a:bodyPr/>
                    <a:lstStyle/>
                    <a:p>
                      <a:r>
                        <a:rPr sz="892" b="0">
                          <a:solidFill>
                            <a:srgbClr val="111111"/>
                          </a:solidFill>
                        </a:rPr>
                        <a:t>40 mg vs control, pooled</a:t>
                      </a:r>
                    </a:p>
                  </a:txBody>
                  <a:tcPr/>
                </a:tc>
                <a:tc>
                  <a:txBody>
                    <a:bodyPr/>
                    <a:lstStyle/>
                    <a:p>
                      <a:r>
                        <a:rPr sz="892" b="0">
                          <a:solidFill>
                            <a:srgbClr val="111111"/>
                          </a:solidFill>
                        </a:rPr>
                        <a:t>-1.53</a:t>
                      </a:r>
                    </a:p>
                  </a:txBody>
                  <a:tcPr/>
                </a:tc>
                <a:tc>
                  <a:txBody>
                    <a:bodyPr/>
                    <a:lstStyle/>
                    <a:p>
                      <a:r>
                        <a:rPr sz="892" b="0">
                          <a:solidFill>
                            <a:srgbClr val="111111"/>
                          </a:solidFill>
                        </a:rPr>
                        <a:t>mmHg</a:t>
                      </a:r>
                    </a:p>
                  </a:txBody>
                  <a:tcPr/>
                </a:tc>
                <a:tc>
                  <a:txBody>
                    <a:bodyPr/>
                    <a:lstStyle/>
                    <a:p>
                      <a:r>
                        <a:rPr sz="892" b="0">
                          <a:solidFill>
                            <a:srgbClr val="111111"/>
                          </a:solidFill>
                        </a:rPr>
                        <a:t>-2.97 to -0.10 (90% WALD)</a:t>
                      </a:r>
                    </a:p>
                  </a:txBody>
                  <a:tcPr/>
                </a:tc>
                <a:tc>
                  <a:txBody>
                    <a:bodyPr/>
                    <a:lstStyle/>
                    <a:p>
                      <a:r>
                        <a:rPr sz="892" b="0">
                          <a:solidFill>
                            <a:srgbClr val="111111"/>
                          </a:solidFill>
                        </a:rPr>
                        <a:t>0.00</a:t>
                      </a:r>
                    </a:p>
                  </a:txBody>
                  <a:tcPr/>
                </a:tc>
                <a:tc>
                  <a:txBody>
                    <a:bodyPr/>
                    <a:lstStyle/>
                    <a:p>
                      <a:r>
                        <a:rPr sz="892" b="0">
                          <a:solidFill>
                            <a:srgbClr val="111111"/>
                          </a:solidFill>
                        </a:rPr>
                        <a:t>below threshold</a:t>
                      </a:r>
                    </a:p>
                  </a:txBody>
                  <a:tcPr/>
                </a:tc>
              </a:tr>
              <a:tr h="304800">
                <a:tc>
                  <a:txBody>
                    <a:bodyPr/>
                    <a:lstStyle/>
                    <a:p>
                      <a:r>
                        <a:rPr sz="892" b="0">
                          <a:solidFill>
                            <a:srgbClr val="111111"/>
                          </a:solidFill>
                        </a:rPr>
                        <a:t>20 mg vs control, pooled</a:t>
                      </a:r>
                    </a:p>
                  </a:txBody>
                  <a:tcPr/>
                </a:tc>
                <a:tc>
                  <a:txBody>
                    <a:bodyPr/>
                    <a:lstStyle/>
                    <a:p>
                      <a:r>
                        <a:rPr sz="892" b="0">
                          <a:solidFill>
                            <a:srgbClr val="111111"/>
                          </a:solidFill>
                        </a:rPr>
                        <a:t>-4.80</a:t>
                      </a:r>
                    </a:p>
                  </a:txBody>
                  <a:tcPr/>
                </a:tc>
                <a:tc>
                  <a:txBody>
                    <a:bodyPr/>
                    <a:lstStyle/>
                    <a:p>
                      <a:r>
                        <a:rPr sz="892" b="0">
                          <a:solidFill>
                            <a:srgbClr val="111111"/>
                          </a:solidFill>
                        </a:rPr>
                        <a:t>mmHg</a:t>
                      </a:r>
                    </a:p>
                  </a:txBody>
                  <a:tcPr/>
                </a:tc>
                <a:tc>
                  <a:txBody>
                    <a:bodyPr/>
                    <a:lstStyle/>
                    <a:p>
                      <a:r>
                        <a:rPr sz="892" b="0">
                          <a:solidFill>
                            <a:srgbClr val="111111"/>
                          </a:solidFill>
                        </a:rPr>
                        <a:t>-6.17 to -3.44 (90% WALD)</a:t>
                      </a:r>
                    </a:p>
                  </a:txBody>
                  <a:tcPr/>
                </a:tc>
                <a:tc>
                  <a:txBody>
                    <a:bodyPr/>
                    <a:lstStyle/>
                    <a:p>
                      <a:r>
                        <a:rPr sz="892" b="0">
                          <a:solidFill>
                            <a:srgbClr val="111111"/>
                          </a:solidFill>
                        </a:rPr>
                        <a:t>0.00</a:t>
                      </a:r>
                    </a:p>
                  </a:txBody>
                  <a:tcPr/>
                </a:tc>
                <a:tc>
                  <a:txBody>
                    <a:bodyPr/>
                    <a:lstStyle/>
                    <a:p>
                      <a:r>
                        <a:rPr sz="892" b="0">
                          <a:solidFill>
                            <a:srgbClr val="111111"/>
                          </a:solidFill>
                        </a:rPr>
                        <a:t>below threshold</a:t>
                      </a:r>
                    </a:p>
                  </a:txBody>
                  <a:tcPr/>
                </a:tc>
              </a:tr>
              <a:tr h="304800">
                <a:tc>
                  <a:txBody>
                    <a:bodyPr/>
                    <a:lstStyle/>
                    <a:p>
                      <a:r>
                        <a:rPr sz="892" b="0">
                          <a:solidFill>
                            <a:srgbClr val="111111"/>
                          </a:solidFill>
                        </a:rPr>
                        <a:t>10 mg vs control, pooled</a:t>
                      </a:r>
                    </a:p>
                  </a:txBody>
                  <a:tcPr/>
                </a:tc>
                <a:tc>
                  <a:txBody>
                    <a:bodyPr/>
                    <a:lstStyle/>
                    <a:p>
                      <a:r>
                        <a:rPr sz="892" b="0">
                          <a:solidFill>
                            <a:srgbClr val="111111"/>
                          </a:solidFill>
                        </a:rPr>
                        <a:t>-5.27</a:t>
                      </a:r>
                    </a:p>
                  </a:txBody>
                  <a:tcPr/>
                </a:tc>
                <a:tc>
                  <a:txBody>
                    <a:bodyPr/>
                    <a:lstStyle/>
                    <a:p>
                      <a:r>
                        <a:rPr sz="892" b="0">
                          <a:solidFill>
                            <a:srgbClr val="111111"/>
                          </a:solidFill>
                        </a:rPr>
                        <a:t>mmHg</a:t>
                      </a:r>
                    </a:p>
                  </a:txBody>
                  <a:tcPr/>
                </a:tc>
                <a:tc>
                  <a:txBody>
                    <a:bodyPr/>
                    <a:lstStyle/>
                    <a:p>
                      <a:r>
                        <a:rPr sz="892" b="0">
                          <a:solidFill>
                            <a:srgbClr val="111111"/>
                          </a:solidFill>
                        </a:rPr>
                        <a:t>-6.63 to -3.91 (90% WALD)</a:t>
                      </a:r>
                    </a:p>
                  </a:txBody>
                  <a:tcPr/>
                </a:tc>
                <a:tc>
                  <a:txBody>
                    <a:bodyPr/>
                    <a:lstStyle/>
                    <a:p>
                      <a:r>
                        <a:rPr sz="892" b="0">
                          <a:solidFill>
                            <a:srgbClr val="111111"/>
                          </a:solidFill>
                        </a:rPr>
                        <a:t>0.00</a:t>
                      </a:r>
                    </a:p>
                  </a:txBody>
                  <a:tcPr/>
                </a:tc>
                <a:tc>
                  <a:txBody>
                    <a:bodyPr/>
                    <a:lstStyle/>
                    <a:p>
                      <a:r>
                        <a:rPr sz="892" b="0">
                          <a:solidFill>
                            <a:srgbClr val="111111"/>
                          </a:solidFill>
                        </a:rPr>
                        <a:t>below threshold</a:t>
                      </a:r>
                    </a:p>
                  </a:txBody>
                  <a:tcPr/>
                </a:tc>
              </a:tr>
              <a:tr h="304800">
                <a:tc>
                  <a:txBody>
                    <a:bodyPr/>
                    <a:lstStyle/>
                    <a:p>
                      <a:r>
                        <a:rPr sz="892" b="0">
                          <a:solidFill>
                            <a:srgbClr val="111111"/>
                          </a:solidFill>
                        </a:rPr>
                        <a:t>40 mg vs control, age 51+</a:t>
                      </a:r>
                    </a:p>
                  </a:txBody>
                  <a:tcPr/>
                </a:tc>
                <a:tc>
                  <a:txBody>
                    <a:bodyPr/>
                    <a:lstStyle/>
                    <a:p>
                      <a:r>
                        <a:rPr sz="892" b="0">
                          <a:solidFill>
                            <a:srgbClr val="111111"/>
                          </a:solidFill>
                        </a:rPr>
                        <a:t>6.20</a:t>
                      </a:r>
                    </a:p>
                  </a:txBody>
                  <a:tcPr/>
                </a:tc>
                <a:tc>
                  <a:txBody>
                    <a:bodyPr/>
                    <a:lstStyle/>
                    <a:p>
                      <a:r>
                        <a:rPr sz="892" b="0">
                          <a:solidFill>
                            <a:srgbClr val="111111"/>
                          </a:solidFill>
                        </a:rPr>
                        <a:t>mmHg</a:t>
                      </a:r>
                    </a:p>
                  </a:txBody>
                  <a:tcPr/>
                </a:tc>
                <a:tc>
                  <a:txBody>
                    <a:bodyPr/>
                    <a:lstStyle/>
                    <a:p>
                      <a:r>
                        <a:rPr sz="892" b="0">
                          <a:solidFill>
                            <a:srgbClr val="111111"/>
                          </a:solidFill>
                        </a:rPr>
                        <a:t>3.98 to 8.42 (90% WALD)</a:t>
                      </a:r>
                    </a:p>
                  </a:txBody>
                  <a:tcPr/>
                </a:tc>
                <a:tc>
                  <a:txBody>
                    <a:bodyPr/>
                    <a:lstStyle/>
                    <a:p>
                      <a:r>
                        <a:rPr sz="892" b="0">
                          <a:solidFill>
                            <a:srgbClr val="111111"/>
                          </a:solidFill>
                        </a:rPr>
                        <a:t>0.00</a:t>
                      </a:r>
                    </a:p>
                  </a:txBody>
                  <a:tcPr/>
                </a:tc>
                <a:tc>
                  <a:txBody>
                    <a:bodyPr/>
                    <a:lstStyle/>
                    <a:p>
                      <a:r>
                        <a:rPr sz="892" b="0">
                          <a:solidFill>
                            <a:srgbClr val="111111"/>
                          </a:solidFill>
                        </a:rPr>
                        <a:t>above threshold</a:t>
                      </a:r>
                    </a:p>
                  </a:txBody>
                  <a:tcPr/>
                </a:tc>
              </a:tr>
              <a:tr h="304800">
                <a:tc>
                  <a:txBody>
                    <a:bodyPr/>
                    <a:lstStyle/>
                    <a:p>
                      <a:r>
                        <a:rPr sz="892" b="0">
                          <a:solidFill>
                            <a:srgbClr val="111111"/>
                          </a:solidFill>
                        </a:rPr>
                        <a:t>40 mg vs control, age 25-35</a:t>
                      </a:r>
                    </a:p>
                  </a:txBody>
                  <a:tcPr/>
                </a:tc>
                <a:tc>
                  <a:txBody>
                    <a:bodyPr/>
                    <a:lstStyle/>
                    <a:p>
                      <a:r>
                        <a:rPr sz="892" b="0">
                          <a:solidFill>
                            <a:srgbClr val="111111"/>
                          </a:solidFill>
                        </a:rPr>
                        <a:t>-5.26</a:t>
                      </a:r>
                    </a:p>
                  </a:txBody>
                  <a:tcPr/>
                </a:tc>
                <a:tc>
                  <a:txBody>
                    <a:bodyPr/>
                    <a:lstStyle/>
                    <a:p>
                      <a:r>
                        <a:rPr sz="892" b="0">
                          <a:solidFill>
                            <a:srgbClr val="111111"/>
                          </a:solidFill>
                        </a:rPr>
                        <a:t>mmHg</a:t>
                      </a:r>
                    </a:p>
                  </a:txBody>
                  <a:tcPr/>
                </a:tc>
                <a:tc>
                  <a:txBody>
                    <a:bodyPr/>
                    <a:lstStyle/>
                    <a:p>
                      <a:r>
                        <a:rPr sz="892" b="0">
                          <a:solidFill>
                            <a:srgbClr val="111111"/>
                          </a:solidFill>
                        </a:rPr>
                        <a:t>-8.17 to -2.36 (90% WALD)</a:t>
                      </a:r>
                    </a:p>
                  </a:txBody>
                  <a:tcPr/>
                </a:tc>
                <a:tc>
                  <a:txBody>
                    <a:bodyPr/>
                    <a:lstStyle/>
                    <a:p>
                      <a:r>
                        <a:rPr sz="892" b="0">
                          <a:solidFill>
                            <a:srgbClr val="111111"/>
                          </a:solidFill>
                        </a:rPr>
                        <a:t>0.00</a:t>
                      </a:r>
                    </a:p>
                  </a:txBody>
                  <a:tcPr/>
                </a:tc>
                <a:tc>
                  <a:txBody>
                    <a:bodyPr/>
                    <a:lstStyle/>
                    <a:p>
                      <a:r>
                        <a:rPr sz="892" b="0">
                          <a:solidFill>
                            <a:srgbClr val="111111"/>
                          </a:solidFill>
                        </a:rPr>
                        <a:t>below threshold</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4. Model checking</a:t>
            </a:r>
          </a:p>
        </p:txBody>
      </p:sp>
      <p:sp>
        <p:nvSpPr>
          <p:cNvPr id="3" name="TextBox 2"/>
          <p:cNvSpPr txBox="1"/>
          <p:nvPr/>
        </p:nvSpPr>
        <p:spPr>
          <a:xfrm>
            <a:off x="812800" y="914400"/>
            <a:ext cx="2540000" cy="889000"/>
          </a:xfrm>
          <a:prstGeom prst="rect">
            <a:avLst/>
          </a:prstGeom>
          <a:noFill/>
        </p:spPr>
        <p:txBody>
          <a:bodyPr wrap="square">
            <a:spAutoFit/>
          </a:bodyPr>
          <a:lstStyle/>
          <a:p>
            <a:r>
              <a:rPr sz="892" b="0">
                <a:solidFill>
                  <a:srgbClr val="555555"/>
                </a:solidFill>
              </a:rPr>
              <a:t>UNITS STILL ON STUDY AT THE FINAL WEEK</a:t>
            </a:r>
          </a:p>
          <a:p>
            <a:r>
              <a:rPr sz="1520" b="1">
                <a:solidFill>
                  <a:srgbClr val="1A1A1A"/>
                </a:solidFill>
              </a:rPr>
              <a:t>0.797</a:t>
            </a:r>
          </a:p>
        </p:txBody>
      </p:sp>
      <p:sp>
        <p:nvSpPr>
          <p:cNvPr id="4" name="TextBox 3"/>
          <p:cNvSpPr txBox="1"/>
          <p:nvPr/>
        </p:nvSpPr>
        <p:spPr>
          <a:xfrm>
            <a:off x="3454400" y="914400"/>
            <a:ext cx="2540000" cy="889000"/>
          </a:xfrm>
          <a:prstGeom prst="rect">
            <a:avLst/>
          </a:prstGeom>
          <a:noFill/>
        </p:spPr>
        <p:txBody>
          <a:bodyPr wrap="square">
            <a:spAutoFit/>
          </a:bodyPr>
          <a:lstStyle/>
          <a:p>
            <a:r>
              <a:rPr sz="892" b="0">
                <a:solidFill>
                  <a:srgbClr val="555555"/>
                </a:solidFill>
              </a:rPr>
              <a:t>UNITS CONTRIBUTING TO THE PRIMARY ENDPOINT</a:t>
            </a:r>
          </a:p>
          <a:p>
            <a:r>
              <a:rPr sz="1520" b="1">
                <a:solidFill>
                  <a:srgbClr val="1A1A1A"/>
                </a:solidFill>
              </a:rPr>
              <a:t>372</a:t>
            </a:r>
          </a:p>
        </p:txBody>
      </p:sp>
      <p:sp>
        <p:nvSpPr>
          <p:cNvPr id="5" name="TextBox 4"/>
          <p:cNvSpPr txBox="1"/>
          <p:nvPr/>
        </p:nvSpPr>
        <p:spPr>
          <a:xfrm>
            <a:off x="6096000" y="914400"/>
            <a:ext cx="2540000" cy="889000"/>
          </a:xfrm>
          <a:prstGeom prst="rect">
            <a:avLst/>
          </a:prstGeom>
          <a:noFill/>
        </p:spPr>
        <p:txBody>
          <a:bodyPr wrap="square">
            <a:spAutoFit/>
          </a:bodyPr>
          <a:lstStyle/>
          <a:p>
            <a:r>
              <a:rPr sz="892" b="0">
                <a:solidFill>
                  <a:srgbClr val="555555"/>
                </a:solidFill>
              </a:rPr>
              <a:t>UNITS RANDOMIZED IN BAND AGE 25 35</a:t>
            </a:r>
          </a:p>
          <a:p>
            <a:r>
              <a:rPr sz="1520" b="1">
                <a:solidFill>
                  <a:srgbClr val="1A1A1A"/>
                </a:solidFill>
              </a:rPr>
              <a:t>100</a:t>
            </a:r>
          </a:p>
        </p:txBody>
      </p:sp>
      <p:sp>
        <p:nvSpPr>
          <p:cNvPr id="6" name="TextBox 5"/>
          <p:cNvSpPr txBox="1"/>
          <p:nvPr/>
        </p:nvSpPr>
        <p:spPr>
          <a:xfrm>
            <a:off x="8737600" y="914400"/>
            <a:ext cx="2540000" cy="889000"/>
          </a:xfrm>
          <a:prstGeom prst="rect">
            <a:avLst/>
          </a:prstGeom>
          <a:noFill/>
        </p:spPr>
        <p:txBody>
          <a:bodyPr wrap="square">
            <a:spAutoFit/>
          </a:bodyPr>
          <a:lstStyle/>
          <a:p>
            <a:r>
              <a:rPr sz="892" b="0">
                <a:solidFill>
                  <a:srgbClr val="555555"/>
                </a:solidFill>
              </a:rPr>
              <a:t>UNITS RANDOMIZED IN BAND AGE 36 50</a:t>
            </a:r>
          </a:p>
          <a:p>
            <a:r>
              <a:rPr sz="1520" b="1">
                <a:solidFill>
                  <a:srgbClr val="1A1A1A"/>
                </a:solidFill>
              </a:rPr>
              <a:t>160</a:t>
            </a:r>
          </a:p>
        </p:txBody>
      </p:sp>
      <p:sp>
        <p:nvSpPr>
          <p:cNvPr id="7" name="TextBox 6"/>
          <p:cNvSpPr txBox="1"/>
          <p:nvPr/>
        </p:nvSpPr>
        <p:spPr>
          <a:xfrm>
            <a:off x="812800" y="1955800"/>
            <a:ext cx="10566400" cy="508000"/>
          </a:xfrm>
          <a:prstGeom prst="rect">
            <a:avLst/>
          </a:prstGeom>
          <a:noFill/>
        </p:spPr>
        <p:txBody>
          <a:bodyPr wrap="square">
            <a:spAutoFit/>
          </a:bodyPr>
          <a:lstStyle/>
          <a:p>
            <a:r>
              <a:rPr sz="1050" b="0">
                <a:solidFill>
                  <a:srgbClr val="111111"/>
                </a:solidFill>
              </a:rPr>
              <a:t>Diagnostic checks assess sample retention and age distribution across the study. A check of this kind can lower confidence in an estimate and can never establish one. Recorded diagnostics for HYPER-3 are reported in Table 5. The units still on study at the final week is 0.797. The units contributing to the primary endpoint is 372. Across the age groupings, the units randomized in band age 25 35 is 100. The units randomized in band age 36 50 is 160. The units randomized in band age 51 plus is 140. These measures examine sample retention and cohort allocation, leaving identification conditions unexamined by these numbers.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4. Model checking (cont.)</a:t>
            </a:r>
          </a:p>
        </p:txBody>
      </p:sp>
      <p:sp>
        <p:nvSpPr>
          <p:cNvPr id="3" name="TextBox 2"/>
          <p:cNvSpPr txBox="1"/>
          <p:nvPr/>
        </p:nvSpPr>
        <p:spPr>
          <a:xfrm>
            <a:off x="812800" y="914400"/>
            <a:ext cx="10464800" cy="889000"/>
          </a:xfrm>
          <a:prstGeom prst="rect">
            <a:avLst/>
          </a:prstGeom>
          <a:noFill/>
        </p:spPr>
        <p:txBody>
          <a:bodyPr wrap="square">
            <a:spAutoFit/>
          </a:bodyPr>
          <a:lstStyle/>
          <a:p>
            <a:r>
              <a:rPr sz="892" b="0">
                <a:solidFill>
                  <a:srgbClr val="555555"/>
                </a:solidFill>
              </a:rPr>
              <a:t>UNITS RANDOMIZED IN BAND AGE 51 PLUS</a:t>
            </a:r>
          </a:p>
          <a:p>
            <a:r>
              <a:rPr sz="1520" b="1">
                <a:solidFill>
                  <a:srgbClr val="1A1A1A"/>
                </a:solidFill>
              </a:rPr>
              <a:t>140</a:t>
            </a:r>
          </a:p>
        </p:txBody>
      </p:sp>
      <p:graphicFrame>
        <p:nvGraphicFramePr>
          <p:cNvPr id="4" name="Table 3"/>
          <p:cNvGraphicFramePr>
            <a:graphicFrameLocks noGrp="1"/>
          </p:cNvGraphicFramePr>
          <p:nvPr/>
        </p:nvGraphicFramePr>
        <p:xfrm>
          <a:off x="812800" y="1955800"/>
          <a:ext cx="10566400" cy="1828800"/>
        </p:xfrm>
        <a:graphic>
          <a:graphicData uri="http://schemas.openxmlformats.org/drawingml/2006/table">
            <a:tbl>
              <a:tblPr firstRow="1" bandRow="1">
                <a:tableStyleId>{5C22544A-7EE6-4342-B048-85BDC9FD1C3A}</a:tableStyleId>
              </a:tblPr>
              <a:tblGrid>
                <a:gridCol w="2641600"/>
                <a:gridCol w="2641600"/>
                <a:gridCol w="2641600"/>
                <a:gridCol w="2641600"/>
              </a:tblGrid>
              <a:tr h="304800">
                <a:tc>
                  <a:txBody>
                    <a:bodyPr/>
                    <a:lstStyle/>
                    <a:p>
                      <a:r>
                        <a:rPr sz="892" b="1">
                          <a:solidFill>
                            <a:srgbClr val="111111"/>
                          </a:solidFill>
                        </a:rPr>
                        <a:t>Check</a:t>
                      </a:r>
                    </a:p>
                  </a:txBody>
                  <a:tcPr/>
                </a:tc>
                <a:tc>
                  <a:txBody>
                    <a:bodyPr/>
                    <a:lstStyle/>
                    <a:p>
                      <a:r>
                        <a:rPr sz="892" b="1">
                          <a:solidFill>
                            <a:srgbClr val="111111"/>
                          </a:solidFill>
                        </a:rPr>
                        <a:t>Value</a:t>
                      </a:r>
                    </a:p>
                  </a:txBody>
                  <a:tcPr/>
                </a:tc>
                <a:tc>
                  <a:txBody>
                    <a:bodyPr/>
                    <a:lstStyle/>
                    <a:p>
                      <a:r>
                        <a:rPr sz="892" b="1">
                          <a:solidFill>
                            <a:srgbClr val="111111"/>
                          </a:solidFill>
                        </a:rPr>
                        <a:t>Unit</a:t>
                      </a:r>
                    </a:p>
                  </a:txBody>
                  <a:tcPr/>
                </a:tc>
                <a:tc>
                  <a:txBody>
                    <a:bodyPr/>
                    <a:lstStyle/>
                    <a:p>
                      <a:r>
                        <a:rPr sz="892" b="1">
                          <a:solidFill>
                            <a:srgbClr val="111111"/>
                          </a:solidFill>
                        </a:rPr>
                        <a:t>Interval</a:t>
                      </a:r>
                    </a:p>
                  </a:txBody>
                  <a:tcPr/>
                </a:tc>
              </a:tr>
              <a:tr h="304800">
                <a:tc>
                  <a:txBody>
                    <a:bodyPr/>
                    <a:lstStyle/>
                    <a:p>
                      <a:r>
                        <a:rPr sz="892" b="0">
                          <a:solidFill>
                            <a:srgbClr val="111111"/>
                          </a:solidFill>
                        </a:rPr>
                        <a:t>Units still on study at the final week</a:t>
                      </a:r>
                    </a:p>
                  </a:txBody>
                  <a:tcPr/>
                </a:tc>
                <a:tc>
                  <a:txBody>
                    <a:bodyPr/>
                    <a:lstStyle/>
                    <a:p>
                      <a:r>
                        <a:rPr sz="892" b="0">
                          <a:solidFill>
                            <a:srgbClr val="111111"/>
                          </a:solidFill>
                        </a:rPr>
                        <a:t>0.797</a:t>
                      </a:r>
                    </a:p>
                  </a:txBody>
                  <a:tcPr/>
                </a:tc>
                <a:tc>
                  <a:txBody>
                    <a:bodyPr/>
                    <a:lstStyle/>
                    <a:p>
                      <a:r>
                        <a:rPr sz="892" b="0">
                          <a:solidFill>
                            <a:srgbClr val="111111"/>
                          </a:solidFill>
                        </a:rPr>
                        <a:t>—</a:t>
                      </a:r>
                    </a:p>
                  </a:txBody>
                  <a:tcPr/>
                </a:tc>
                <a:tc>
                  <a:txBody>
                    <a:bodyPr/>
                    <a:lstStyle/>
                    <a:p>
                      <a:r>
                        <a:rPr sz="892" b="0">
                          <a:solidFill>
                            <a:srgbClr val="111111"/>
                          </a:solidFill>
                        </a:rPr>
                        <a:t>—</a:t>
                      </a:r>
                    </a:p>
                  </a:txBody>
                  <a:tcPr/>
                </a:tc>
              </a:tr>
              <a:tr h="304800">
                <a:tc>
                  <a:txBody>
                    <a:bodyPr/>
                    <a:lstStyle/>
                    <a:p>
                      <a:r>
                        <a:rPr sz="892" b="0">
                          <a:solidFill>
                            <a:srgbClr val="111111"/>
                          </a:solidFill>
                        </a:rPr>
                        <a:t>Units contributing to the primary endpoint</a:t>
                      </a:r>
                    </a:p>
                  </a:txBody>
                  <a:tcPr/>
                </a:tc>
                <a:tc>
                  <a:txBody>
                    <a:bodyPr/>
                    <a:lstStyle/>
                    <a:p>
                      <a:r>
                        <a:rPr sz="892" b="0">
                          <a:solidFill>
                            <a:srgbClr val="111111"/>
                          </a:solidFill>
                        </a:rPr>
                        <a:t>372</a:t>
                      </a:r>
                    </a:p>
                  </a:txBody>
                  <a:tcPr/>
                </a:tc>
                <a:tc>
                  <a:txBody>
                    <a:bodyPr/>
                    <a:lstStyle/>
                    <a:p>
                      <a:r>
                        <a:rPr sz="892" b="0">
                          <a:solidFill>
                            <a:srgbClr val="111111"/>
                          </a:solidFill>
                        </a:rPr>
                        <a:t>—</a:t>
                      </a:r>
                    </a:p>
                  </a:txBody>
                  <a:tcPr/>
                </a:tc>
                <a:tc>
                  <a:txBody>
                    <a:bodyPr/>
                    <a:lstStyle/>
                    <a:p>
                      <a:r>
                        <a:rPr sz="892" b="0">
                          <a:solidFill>
                            <a:srgbClr val="111111"/>
                          </a:solidFill>
                        </a:rPr>
                        <a:t>—</a:t>
                      </a:r>
                    </a:p>
                  </a:txBody>
                  <a:tcPr/>
                </a:tc>
              </a:tr>
              <a:tr h="304800">
                <a:tc>
                  <a:txBody>
                    <a:bodyPr/>
                    <a:lstStyle/>
                    <a:p>
                      <a:r>
                        <a:rPr sz="892" b="0">
                          <a:solidFill>
                            <a:srgbClr val="111111"/>
                          </a:solidFill>
                        </a:rPr>
                        <a:t>Units randomized in band age 25 35</a:t>
                      </a:r>
                    </a:p>
                  </a:txBody>
                  <a:tcPr/>
                </a:tc>
                <a:tc>
                  <a:txBody>
                    <a:bodyPr/>
                    <a:lstStyle/>
                    <a:p>
                      <a:r>
                        <a:rPr sz="892" b="0">
                          <a:solidFill>
                            <a:srgbClr val="111111"/>
                          </a:solidFill>
                        </a:rPr>
                        <a:t>100</a:t>
                      </a:r>
                    </a:p>
                  </a:txBody>
                  <a:tcPr/>
                </a:tc>
                <a:tc>
                  <a:txBody>
                    <a:bodyPr/>
                    <a:lstStyle/>
                    <a:p>
                      <a:r>
                        <a:rPr sz="892" b="0">
                          <a:solidFill>
                            <a:srgbClr val="111111"/>
                          </a:solidFill>
                        </a:rPr>
                        <a:t>—</a:t>
                      </a:r>
                    </a:p>
                  </a:txBody>
                  <a:tcPr/>
                </a:tc>
                <a:tc>
                  <a:txBody>
                    <a:bodyPr/>
                    <a:lstStyle/>
                    <a:p>
                      <a:r>
                        <a:rPr sz="892" b="0">
                          <a:solidFill>
                            <a:srgbClr val="111111"/>
                          </a:solidFill>
                        </a:rPr>
                        <a:t>—</a:t>
                      </a:r>
                    </a:p>
                  </a:txBody>
                  <a:tcPr/>
                </a:tc>
              </a:tr>
              <a:tr h="304800">
                <a:tc>
                  <a:txBody>
                    <a:bodyPr/>
                    <a:lstStyle/>
                    <a:p>
                      <a:r>
                        <a:rPr sz="892" b="0">
                          <a:solidFill>
                            <a:srgbClr val="111111"/>
                          </a:solidFill>
                        </a:rPr>
                        <a:t>Units randomized in band age 36 50</a:t>
                      </a:r>
                    </a:p>
                  </a:txBody>
                  <a:tcPr/>
                </a:tc>
                <a:tc>
                  <a:txBody>
                    <a:bodyPr/>
                    <a:lstStyle/>
                    <a:p>
                      <a:r>
                        <a:rPr sz="892" b="0">
                          <a:solidFill>
                            <a:srgbClr val="111111"/>
                          </a:solidFill>
                        </a:rPr>
                        <a:t>160</a:t>
                      </a:r>
                    </a:p>
                  </a:txBody>
                  <a:tcPr/>
                </a:tc>
                <a:tc>
                  <a:txBody>
                    <a:bodyPr/>
                    <a:lstStyle/>
                    <a:p>
                      <a:r>
                        <a:rPr sz="892" b="0">
                          <a:solidFill>
                            <a:srgbClr val="111111"/>
                          </a:solidFill>
                        </a:rPr>
                        <a:t>—</a:t>
                      </a:r>
                    </a:p>
                  </a:txBody>
                  <a:tcPr/>
                </a:tc>
                <a:tc>
                  <a:txBody>
                    <a:bodyPr/>
                    <a:lstStyle/>
                    <a:p>
                      <a:r>
                        <a:rPr sz="892" b="0">
                          <a:solidFill>
                            <a:srgbClr val="111111"/>
                          </a:solidFill>
                        </a:rPr>
                        <a:t>—</a:t>
                      </a:r>
                    </a:p>
                  </a:txBody>
                  <a:tcPr/>
                </a:tc>
              </a:tr>
              <a:tr h="304800">
                <a:tc>
                  <a:txBody>
                    <a:bodyPr/>
                    <a:lstStyle/>
                    <a:p>
                      <a:r>
                        <a:rPr sz="892" b="0">
                          <a:solidFill>
                            <a:srgbClr val="111111"/>
                          </a:solidFill>
                        </a:rPr>
                        <a:t>Units randomized in band age 51 plus</a:t>
                      </a:r>
                    </a:p>
                  </a:txBody>
                  <a:tcPr/>
                </a:tc>
                <a:tc>
                  <a:txBody>
                    <a:bodyPr/>
                    <a:lstStyle/>
                    <a:p>
                      <a:r>
                        <a:rPr sz="892" b="0">
                          <a:solidFill>
                            <a:srgbClr val="111111"/>
                          </a:solidFill>
                        </a:rPr>
                        <a:t>140</a:t>
                      </a:r>
                    </a:p>
                  </a:txBody>
                  <a:tcPr/>
                </a:tc>
                <a:tc>
                  <a:txBody>
                    <a:bodyPr/>
                    <a:lstStyle/>
                    <a:p>
                      <a:r>
                        <a:rPr sz="892" b="0">
                          <a:solidFill>
                            <a:srgbClr val="111111"/>
                          </a:solidFill>
                        </a:rPr>
                        <a:t>—</a:t>
                      </a:r>
                    </a:p>
                  </a:txBody>
                  <a:tcPr/>
                </a:tc>
                <a:tc>
                  <a:txBody>
                    <a:bodyPr/>
                    <a:lstStyle/>
                    <a:p>
                      <a:r>
                        <a:rPr sz="892" b="0">
                          <a:solidFill>
                            <a:srgbClr val="111111"/>
                          </a:solidFill>
                        </a:rPr>
                        <a:t>—</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5. Discussion</a:t>
            </a:r>
          </a:p>
        </p:txBody>
      </p:sp>
      <p:sp>
        <p:nvSpPr>
          <p:cNvPr id="3" name="TextBox 2"/>
          <p:cNvSpPr txBox="1"/>
          <p:nvPr/>
        </p:nvSpPr>
        <p:spPr>
          <a:xfrm>
            <a:off x="812800" y="914400"/>
            <a:ext cx="10566400" cy="508000"/>
          </a:xfrm>
          <a:prstGeom prst="rect">
            <a:avLst/>
          </a:prstGeom>
          <a:noFill/>
        </p:spPr>
        <p:txBody>
          <a:bodyPr wrap="square">
            <a:spAutoFit/>
          </a:bodyPr>
          <a:lstStyle/>
          <a:p>
            <a:r>
              <a:rPr sz="1050" b="0">
                <a:solidFill>
                  <a:srgbClr val="111111"/>
                </a:solidFill>
              </a:rPr>
              <a:t>For 40 mg vs control, age 51+, the estimate settled above the threshold, on the unfavourable side. This contrasts with the pooled estimates for 40 mg vs control, 20 mg vs control, and 10 mg vs control, each of which settled below the threshold, on the favourable side. The estimate for 40 mg vs control, age 25-35, likewise settled below the threshold on the favourable side. While the pooled comparisons for all three daily doses agree in falling on the favourable side of the decision boundary, the age-stratified results reveal a clear split at the highest dose. The pooled estimate for 40 mg conceals the unfavourable direction observed specifically in the older cohort. This divergence raises the question of whether the 40 mg dose poses a risk to older participants even as younger cohorts show favourable outcomes. Through the backdoor route identified in the methods, the results license reading these quantities as treatment effects rather than unadjusted associations. They do not license inferences beyond the conditions specified by that identification strategy. Finally, these interpretations remain subject to 2 unresolved assumptions, the details and challenges of which are stated in the limitations section.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6. Conclusions</a:t>
            </a:r>
          </a:p>
        </p:txBody>
      </p:sp>
      <p:sp>
        <p:nvSpPr>
          <p:cNvPr id="3" name="TextBox 2"/>
          <p:cNvSpPr txBox="1"/>
          <p:nvPr/>
        </p:nvSpPr>
        <p:spPr>
          <a:xfrm>
            <a:off x="812800" y="914400"/>
            <a:ext cx="10566400" cy="508000"/>
          </a:xfrm>
          <a:prstGeom prst="rect">
            <a:avLst/>
          </a:prstGeom>
          <a:noFill/>
        </p:spPr>
        <p:txBody>
          <a:bodyPr wrap="square">
            <a:spAutoFit/>
          </a:bodyPr>
          <a:lstStyle/>
          <a:p>
            <a:r>
              <a:rPr sz="1050" b="0">
                <a:solidFill>
                  <a:srgbClr val="111111"/>
                </a:solidFill>
              </a:rPr>
              <a:t>The choice of a daily dose for phase III must account for evidence of harm at the highest dose within older age groups. Across the pooled analyses, the 10 mg, 20 mg, and 40 mg doses versus control all settled below the decision threshold on the favourable side. The 40 mg dose versus control also settled on the favourable side for participants aged 25 to 35. For participants aged 51 and older, however, the 40 mg dose versus control settled on the unfavourable side of the threshold at 6.20 mmHg (90% WALD 3.98 to 8.42 mmHg). A phase III recommendation therefore cannot rely on the pooled results without addressing this subgroup harm. The identified effects follow the identification strategy established in the methods. These conclusions remain conditional on two unresolved assumptions: that dropout is ignorable given baseline, and that the pooled contrast answers the question. What each assumption claims is detailed in the limitations section.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7. Limitations</a:t>
            </a:r>
          </a:p>
        </p:txBody>
      </p:sp>
      <p:sp>
        <p:nvSpPr>
          <p:cNvPr id="3" name="TextBox 2"/>
          <p:cNvSpPr txBox="1"/>
          <p:nvPr/>
        </p:nvSpPr>
        <p:spPr>
          <a:xfrm>
            <a:off x="812800" y="914400"/>
            <a:ext cx="10566400" cy="508000"/>
          </a:xfrm>
          <a:prstGeom prst="rect">
            <a:avLst/>
          </a:prstGeom>
          <a:noFill/>
        </p:spPr>
        <p:txBody>
          <a:bodyPr wrap="square">
            <a:spAutoFit/>
          </a:bodyPr>
          <a:lstStyle/>
          <a:p>
            <a:r>
              <a:rPr sz="1050" b="0">
                <a:solidFill>
                  <a:srgbClr val="111111"/>
                </a:solidFill>
              </a:rPr>
              <a:t>The analysis relies on two structural assumptions, the first of which is known to fail: that the pooled contrast answers the question. This assumption claims that a single number over all age bands describes the effect the decision is about, licensing an aggregate summary across the entire sample. It is challenged by heterogeneity across the pre-specified strata. Second, the analysis leaves unverified the assumption that dropout is ignorable given baseline. That assumption claims that units who left the study differ from those who stayed only through what was measured before randomization, licensing the identification of the effect despite study attrition. This ignorability condition would be challenged by a tipping-point analysis over plausible departures from ignorability. These two conditions define where the empirical framework holds and what specific evidence would challenge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12800" y="406400"/>
            <a:ext cx="10566400" cy="431800"/>
          </a:xfrm>
          <a:prstGeom prst="rect">
            <a:avLst/>
          </a:prstGeom>
          <a:noFill/>
        </p:spPr>
        <p:txBody>
          <a:bodyPr wrap="square">
            <a:spAutoFit/>
          </a:bodyPr>
          <a:lstStyle/>
          <a:p>
            <a:r>
              <a:rPr sz="1350" b="1">
                <a:solidFill>
                  <a:srgbClr val="111111"/>
                </a:solidFill>
              </a:rPr>
              <a:t>8. Provenance</a:t>
            </a:r>
          </a:p>
        </p:txBody>
      </p:sp>
      <p:sp>
        <p:nvSpPr>
          <p:cNvPr id="3" name="TextBox 2"/>
          <p:cNvSpPr txBox="1"/>
          <p:nvPr/>
        </p:nvSpPr>
        <p:spPr>
          <a:xfrm>
            <a:off x="812800" y="914400"/>
            <a:ext cx="10566400" cy="508000"/>
          </a:xfrm>
          <a:prstGeom prst="rect">
            <a:avLst/>
          </a:prstGeom>
          <a:noFill/>
        </p:spPr>
        <p:txBody>
          <a:bodyPr wrap="square">
            <a:spAutoFit/>
          </a:bodyPr>
          <a:lstStyle/>
          <a:p>
            <a:r>
              <a:rPr sz="1050" b="0">
                <a:solidFill>
                  <a:srgbClr val="111111"/>
                </a:solidFill>
              </a:rPr>
              <a:t>Every number in this document resolves to a quantity in the evidence record below. Prose was checked against that record: any numeral not traceable to it, and any claim the record does not itself make, is reported rather than published.</a:t>
            </a:r>
          </a:p>
        </p:txBody>
      </p:sp>
      <p:graphicFrame>
        <p:nvGraphicFramePr>
          <p:cNvPr id="4" name="Table 3"/>
          <p:cNvGraphicFramePr>
            <a:graphicFrameLocks noGrp="1"/>
          </p:cNvGraphicFramePr>
          <p:nvPr/>
        </p:nvGraphicFramePr>
        <p:xfrm>
          <a:off x="812800" y="1320800"/>
          <a:ext cx="10566400" cy="3352800"/>
        </p:xfrm>
        <a:graphic>
          <a:graphicData uri="http://schemas.openxmlformats.org/drawingml/2006/table">
            <a:tbl>
              <a:tblPr firstRow="1" bandRow="1">
                <a:tableStyleId>{5C22544A-7EE6-4342-B048-85BDC9FD1C3A}</a:tableStyleId>
              </a:tblPr>
              <a:tblGrid>
                <a:gridCol w="2641600"/>
                <a:gridCol w="2641600"/>
                <a:gridCol w="2641600"/>
                <a:gridCol w="2641600"/>
              </a:tblGrid>
              <a:tr h="304800">
                <a:tc>
                  <a:txBody>
                    <a:bodyPr/>
                    <a:lstStyle/>
                    <a:p>
                      <a:r>
                        <a:rPr sz="892" b="1">
                          <a:solidFill>
                            <a:srgbClr val="111111"/>
                          </a:solidFill>
                        </a:rPr>
                        <a:t>Quantity</a:t>
                      </a:r>
                    </a:p>
                  </a:txBody>
                  <a:tcPr/>
                </a:tc>
                <a:tc>
                  <a:txBody>
                    <a:bodyPr/>
                    <a:lstStyle/>
                    <a:p>
                      <a:r>
                        <a:rPr sz="892" b="1">
                          <a:solidFill>
                            <a:srgbClr val="111111"/>
                          </a:solidFill>
                        </a:rPr>
                        <a:t>Key</a:t>
                      </a:r>
                    </a:p>
                  </a:txBody>
                  <a:tcPr/>
                </a:tc>
                <a:tc>
                  <a:txBody>
                    <a:bodyPr/>
                    <a:lstStyle/>
                    <a:p>
                      <a:r>
                        <a:rPr sz="892" b="1">
                          <a:solidFill>
                            <a:srgbClr val="111111"/>
                          </a:solidFill>
                        </a:rPr>
                        <a:t>Value</a:t>
                      </a:r>
                    </a:p>
                  </a:txBody>
                  <a:tcPr/>
                </a:tc>
                <a:tc>
                  <a:txBody>
                    <a:bodyPr/>
                    <a:lstStyle/>
                    <a:p>
                      <a:r>
                        <a:rPr sz="892" b="1">
                          <a:solidFill>
                            <a:srgbClr val="111111"/>
                          </a:solidFill>
                        </a:rPr>
                        <a:t>Produced by</a:t>
                      </a:r>
                    </a:p>
                  </a:txBody>
                  <a:tcPr/>
                </a:tc>
              </a:tr>
              <a:tr h="304800">
                <a:tc>
                  <a:txBody>
                    <a:bodyPr/>
                    <a:lstStyle/>
                    <a:p>
                      <a:r>
                        <a:rPr sz="892" b="0">
                          <a:solidFill>
                            <a:srgbClr val="111111"/>
                          </a:solidFill>
                        </a:rPr>
                        <a:t>40 mg vs control, pooled</a:t>
                      </a:r>
                    </a:p>
                  </a:txBody>
                  <a:tcPr/>
                </a:tc>
                <a:tc>
                  <a:txBody>
                    <a:bodyPr/>
                    <a:lstStyle/>
                    <a:p>
                      <a:r>
                        <a:rPr sz="892" b="0">
                          <a:solidFill>
                            <a:srgbClr val="111111"/>
                          </a:solidFill>
                        </a:rPr>
                        <a:t>pooled_40</a:t>
                      </a:r>
                    </a:p>
                  </a:txBody>
                  <a:tcPr/>
                </a:tc>
                <a:tc>
                  <a:txBody>
                    <a:bodyPr/>
                    <a:lstStyle/>
                    <a:p>
                      <a:r>
                        <a:rPr sz="892" b="0">
                          <a:solidFill>
                            <a:srgbClr val="111111"/>
                          </a:solidFill>
                        </a:rPr>
                        <a:t>-1.53 mmHg (90% WALD -2.97 to -0.10 mmHg)</a:t>
                      </a:r>
                    </a:p>
                  </a:txBody>
                  <a:tcPr/>
                </a:tc>
                <a:tc>
                  <a:txBody>
                    <a:bodyPr/>
                    <a:lstStyle/>
                    <a:p>
                      <a:r>
                        <a:rPr sz="892" b="0">
                          <a:solidFill>
                            <a:srgbClr val="111111"/>
                          </a:solidFill>
                        </a:rPr>
                        <a:t>identify.ols (ANCOVA)</a:t>
                      </a:r>
                    </a:p>
                  </a:txBody>
                  <a:tcPr/>
                </a:tc>
              </a:tr>
              <a:tr h="304800">
                <a:tc>
                  <a:txBody>
                    <a:bodyPr/>
                    <a:lstStyle/>
                    <a:p>
                      <a:r>
                        <a:rPr sz="892" b="0">
                          <a:solidFill>
                            <a:srgbClr val="111111"/>
                          </a:solidFill>
                        </a:rPr>
                        <a:t>20 mg vs control, pooled</a:t>
                      </a:r>
                    </a:p>
                  </a:txBody>
                  <a:tcPr/>
                </a:tc>
                <a:tc>
                  <a:txBody>
                    <a:bodyPr/>
                    <a:lstStyle/>
                    <a:p>
                      <a:r>
                        <a:rPr sz="892" b="0">
                          <a:solidFill>
                            <a:srgbClr val="111111"/>
                          </a:solidFill>
                        </a:rPr>
                        <a:t>pooled_20</a:t>
                      </a:r>
                    </a:p>
                  </a:txBody>
                  <a:tcPr/>
                </a:tc>
                <a:tc>
                  <a:txBody>
                    <a:bodyPr/>
                    <a:lstStyle/>
                    <a:p>
                      <a:r>
                        <a:rPr sz="892" b="0">
                          <a:solidFill>
                            <a:srgbClr val="111111"/>
                          </a:solidFill>
                        </a:rPr>
                        <a:t>-4.80 mmHg (90% WALD -6.17 to -3.44 mmHg)</a:t>
                      </a:r>
                    </a:p>
                  </a:txBody>
                  <a:tcPr/>
                </a:tc>
                <a:tc>
                  <a:txBody>
                    <a:bodyPr/>
                    <a:lstStyle/>
                    <a:p>
                      <a:r>
                        <a:rPr sz="892" b="0">
                          <a:solidFill>
                            <a:srgbClr val="111111"/>
                          </a:solidFill>
                        </a:rPr>
                        <a:t>identify.ols (ANCOVA)</a:t>
                      </a:r>
                    </a:p>
                  </a:txBody>
                  <a:tcPr/>
                </a:tc>
              </a:tr>
              <a:tr h="304800">
                <a:tc>
                  <a:txBody>
                    <a:bodyPr/>
                    <a:lstStyle/>
                    <a:p>
                      <a:r>
                        <a:rPr sz="892" b="0">
                          <a:solidFill>
                            <a:srgbClr val="111111"/>
                          </a:solidFill>
                        </a:rPr>
                        <a:t>10 mg vs control, pooled</a:t>
                      </a:r>
                    </a:p>
                  </a:txBody>
                  <a:tcPr/>
                </a:tc>
                <a:tc>
                  <a:txBody>
                    <a:bodyPr/>
                    <a:lstStyle/>
                    <a:p>
                      <a:r>
                        <a:rPr sz="892" b="0">
                          <a:solidFill>
                            <a:srgbClr val="111111"/>
                          </a:solidFill>
                        </a:rPr>
                        <a:t>pooled_10</a:t>
                      </a:r>
                    </a:p>
                  </a:txBody>
                  <a:tcPr/>
                </a:tc>
                <a:tc>
                  <a:txBody>
                    <a:bodyPr/>
                    <a:lstStyle/>
                    <a:p>
                      <a:r>
                        <a:rPr sz="892" b="0">
                          <a:solidFill>
                            <a:srgbClr val="111111"/>
                          </a:solidFill>
                        </a:rPr>
                        <a:t>-5.27 mmHg (90% WALD -6.63 to -3.91 mmHg)</a:t>
                      </a:r>
                    </a:p>
                  </a:txBody>
                  <a:tcPr/>
                </a:tc>
                <a:tc>
                  <a:txBody>
                    <a:bodyPr/>
                    <a:lstStyle/>
                    <a:p>
                      <a:r>
                        <a:rPr sz="892" b="0">
                          <a:solidFill>
                            <a:srgbClr val="111111"/>
                          </a:solidFill>
                        </a:rPr>
                        <a:t>identify.ols (ANCOVA)</a:t>
                      </a:r>
                    </a:p>
                  </a:txBody>
                  <a:tcPr/>
                </a:tc>
              </a:tr>
              <a:tr h="304800">
                <a:tc>
                  <a:txBody>
                    <a:bodyPr/>
                    <a:lstStyle/>
                    <a:p>
                      <a:r>
                        <a:rPr sz="892" b="0">
                          <a:solidFill>
                            <a:srgbClr val="111111"/>
                          </a:solidFill>
                        </a:rPr>
                        <a:t>40 mg vs control, age 51+</a:t>
                      </a:r>
                    </a:p>
                  </a:txBody>
                  <a:tcPr/>
                </a:tc>
                <a:tc>
                  <a:txBody>
                    <a:bodyPr/>
                    <a:lstStyle/>
                    <a:p>
                      <a:r>
                        <a:rPr sz="892" b="0">
                          <a:solidFill>
                            <a:srgbClr val="111111"/>
                          </a:solidFill>
                        </a:rPr>
                        <a:t>oldest_40</a:t>
                      </a:r>
                    </a:p>
                  </a:txBody>
                  <a:tcPr/>
                </a:tc>
                <a:tc>
                  <a:txBody>
                    <a:bodyPr/>
                    <a:lstStyle/>
                    <a:p>
                      <a:r>
                        <a:rPr sz="892" b="0">
                          <a:solidFill>
                            <a:srgbClr val="111111"/>
                          </a:solidFill>
                        </a:rPr>
                        <a:t>6.20 mmHg (90% WALD 3.98 to 8.42 mmHg)</a:t>
                      </a:r>
                    </a:p>
                  </a:txBody>
                  <a:tcPr/>
                </a:tc>
                <a:tc>
                  <a:txBody>
                    <a:bodyPr/>
                    <a:lstStyle/>
                    <a:p>
                      <a:r>
                        <a:rPr sz="892" b="0">
                          <a:solidFill>
                            <a:srgbClr val="111111"/>
                          </a:solidFill>
                        </a:rPr>
                        <a:t>identify.ols (ANCOVA)</a:t>
                      </a:r>
                    </a:p>
                  </a:txBody>
                  <a:tcPr/>
                </a:tc>
              </a:tr>
              <a:tr h="304800">
                <a:tc>
                  <a:txBody>
                    <a:bodyPr/>
                    <a:lstStyle/>
                    <a:p>
                      <a:r>
                        <a:rPr sz="892" b="0">
                          <a:solidFill>
                            <a:srgbClr val="111111"/>
                          </a:solidFill>
                        </a:rPr>
                        <a:t>40 mg vs control, age 25-35</a:t>
                      </a:r>
                    </a:p>
                  </a:txBody>
                  <a:tcPr/>
                </a:tc>
                <a:tc>
                  <a:txBody>
                    <a:bodyPr/>
                    <a:lstStyle/>
                    <a:p>
                      <a:r>
                        <a:rPr sz="892" b="0">
                          <a:solidFill>
                            <a:srgbClr val="111111"/>
                          </a:solidFill>
                        </a:rPr>
                        <a:t>youngest_40</a:t>
                      </a:r>
                    </a:p>
                  </a:txBody>
                  <a:tcPr/>
                </a:tc>
                <a:tc>
                  <a:txBody>
                    <a:bodyPr/>
                    <a:lstStyle/>
                    <a:p>
                      <a:r>
                        <a:rPr sz="892" b="0">
                          <a:solidFill>
                            <a:srgbClr val="111111"/>
                          </a:solidFill>
                        </a:rPr>
                        <a:t>-5.26 mmHg (90% WALD -8.17 to -2.36 mmHg)</a:t>
                      </a:r>
                    </a:p>
                  </a:txBody>
                  <a:tcPr/>
                </a:tc>
                <a:tc>
                  <a:txBody>
                    <a:bodyPr/>
                    <a:lstStyle/>
                    <a:p>
                      <a:r>
                        <a:rPr sz="892" b="0">
                          <a:solidFill>
                            <a:srgbClr val="111111"/>
                          </a:solidFill>
                        </a:rPr>
                        <a:t>identify.ols (ANCOVA)</a:t>
                      </a:r>
                    </a:p>
                  </a:txBody>
                  <a:tcPr/>
                </a:tc>
              </a:tr>
              <a:tr h="304800">
                <a:tc>
                  <a:txBody>
                    <a:bodyPr/>
                    <a:lstStyle/>
                    <a:p>
                      <a:r>
                        <a:rPr sz="892" b="0">
                          <a:solidFill>
                            <a:srgbClr val="111111"/>
                          </a:solidFill>
                        </a:rPr>
                        <a:t>Units still on study at the final week</a:t>
                      </a:r>
                    </a:p>
                  </a:txBody>
                  <a:tcPr/>
                </a:tc>
                <a:tc>
                  <a:txBody>
                    <a:bodyPr/>
                    <a:lstStyle/>
                    <a:p>
                      <a:r>
                        <a:rPr sz="892" b="0">
                          <a:solidFill>
                            <a:srgbClr val="111111"/>
                          </a:solidFill>
                        </a:rPr>
                        <a:t>retention</a:t>
                      </a:r>
                    </a:p>
                  </a:txBody>
                  <a:tcPr/>
                </a:tc>
                <a:tc>
                  <a:txBody>
                    <a:bodyPr/>
                    <a:lstStyle/>
                    <a:p>
                      <a:r>
                        <a:rPr sz="892" b="0">
                          <a:solidFill>
                            <a:srgbClr val="111111"/>
                          </a:solidFill>
                        </a:rPr>
                        <a:t>0.797</a:t>
                      </a:r>
                    </a:p>
                  </a:txBody>
                  <a:tcPr/>
                </a:tc>
                <a:tc>
                  <a:txBody>
                    <a:bodyPr/>
                    <a:lstStyle/>
                    <a:p>
                      <a:r>
                        <a:rPr sz="892" b="0">
                          <a:solidFill>
                            <a:srgbClr val="111111"/>
                          </a:solidFill>
                        </a:rPr>
                        <a:t>—</a:t>
                      </a:r>
                    </a:p>
                  </a:txBody>
                  <a:tcPr/>
                </a:tc>
              </a:tr>
              <a:tr h="304800">
                <a:tc>
                  <a:txBody>
                    <a:bodyPr/>
                    <a:lstStyle/>
                    <a:p>
                      <a:r>
                        <a:rPr sz="892" b="0">
                          <a:solidFill>
                            <a:srgbClr val="111111"/>
                          </a:solidFill>
                        </a:rPr>
                        <a:t>Units contributing to the primary endpoint</a:t>
                      </a:r>
                    </a:p>
                  </a:txBody>
                  <a:tcPr/>
                </a:tc>
                <a:tc>
                  <a:txBody>
                    <a:bodyPr/>
                    <a:lstStyle/>
                    <a:p>
                      <a:r>
                        <a:rPr sz="892" b="0">
                          <a:solidFill>
                            <a:srgbClr val="111111"/>
                          </a:solidFill>
                        </a:rPr>
                        <a:t>analysed</a:t>
                      </a:r>
                    </a:p>
                  </a:txBody>
                  <a:tcPr/>
                </a:tc>
                <a:tc>
                  <a:txBody>
                    <a:bodyPr/>
                    <a:lstStyle/>
                    <a:p>
                      <a:r>
                        <a:rPr sz="892" b="0">
                          <a:solidFill>
                            <a:srgbClr val="111111"/>
                          </a:solidFill>
                        </a:rPr>
                        <a:t>372</a:t>
                      </a:r>
                    </a:p>
                  </a:txBody>
                  <a:tcPr/>
                </a:tc>
                <a:tc>
                  <a:txBody>
                    <a:bodyPr/>
                    <a:lstStyle/>
                    <a:p>
                      <a:r>
                        <a:rPr sz="892" b="0">
                          <a:solidFill>
                            <a:srgbClr val="111111"/>
                          </a:solidFill>
                        </a:rPr>
                        <a:t>—</a:t>
                      </a:r>
                    </a:p>
                  </a:txBody>
                  <a:tcPr/>
                </a:tc>
              </a:tr>
              <a:tr h="304800">
                <a:tc>
                  <a:txBody>
                    <a:bodyPr/>
                    <a:lstStyle/>
                    <a:p>
                      <a:r>
                        <a:rPr sz="892" b="0">
                          <a:solidFill>
                            <a:srgbClr val="111111"/>
                          </a:solidFill>
                        </a:rPr>
                        <a:t>Units randomized in band age 25 35</a:t>
                      </a:r>
                    </a:p>
                  </a:txBody>
                  <a:tcPr/>
                </a:tc>
                <a:tc>
                  <a:txBody>
                    <a:bodyPr/>
                    <a:lstStyle/>
                    <a:p>
                      <a:r>
                        <a:rPr sz="892" b="0">
                          <a:solidFill>
                            <a:srgbClr val="111111"/>
                          </a:solidFill>
                        </a:rPr>
                        <a:t>n_age_25_35</a:t>
                      </a:r>
                    </a:p>
                  </a:txBody>
                  <a:tcPr/>
                </a:tc>
                <a:tc>
                  <a:txBody>
                    <a:bodyPr/>
                    <a:lstStyle/>
                    <a:p>
                      <a:r>
                        <a:rPr sz="892" b="0">
                          <a:solidFill>
                            <a:srgbClr val="111111"/>
                          </a:solidFill>
                        </a:rPr>
                        <a:t>100</a:t>
                      </a:r>
                    </a:p>
                  </a:txBody>
                  <a:tcPr/>
                </a:tc>
                <a:tc>
                  <a:txBody>
                    <a:bodyPr/>
                    <a:lstStyle/>
                    <a:p>
                      <a:r>
                        <a:rPr sz="892" b="0">
                          <a:solidFill>
                            <a:srgbClr val="111111"/>
                          </a:solidFill>
                        </a:rPr>
                        <a:t>—</a:t>
                      </a:r>
                    </a:p>
                  </a:txBody>
                  <a:tcPr/>
                </a:tc>
              </a:tr>
              <a:tr h="304800">
                <a:tc>
                  <a:txBody>
                    <a:bodyPr/>
                    <a:lstStyle/>
                    <a:p>
                      <a:r>
                        <a:rPr sz="892" b="0">
                          <a:solidFill>
                            <a:srgbClr val="111111"/>
                          </a:solidFill>
                        </a:rPr>
                        <a:t>Units randomized in band age 36 50</a:t>
                      </a:r>
                    </a:p>
                  </a:txBody>
                  <a:tcPr/>
                </a:tc>
                <a:tc>
                  <a:txBody>
                    <a:bodyPr/>
                    <a:lstStyle/>
                    <a:p>
                      <a:r>
                        <a:rPr sz="892" b="0">
                          <a:solidFill>
                            <a:srgbClr val="111111"/>
                          </a:solidFill>
                        </a:rPr>
                        <a:t>n_age_36_50</a:t>
                      </a:r>
                    </a:p>
                  </a:txBody>
                  <a:tcPr/>
                </a:tc>
                <a:tc>
                  <a:txBody>
                    <a:bodyPr/>
                    <a:lstStyle/>
                    <a:p>
                      <a:r>
                        <a:rPr sz="892" b="0">
                          <a:solidFill>
                            <a:srgbClr val="111111"/>
                          </a:solidFill>
                        </a:rPr>
                        <a:t>160</a:t>
                      </a:r>
                    </a:p>
                  </a:txBody>
                  <a:tcPr/>
                </a:tc>
                <a:tc>
                  <a:txBody>
                    <a:bodyPr/>
                    <a:lstStyle/>
                    <a:p>
                      <a:r>
                        <a:rPr sz="892" b="0">
                          <a:solidFill>
                            <a:srgbClr val="111111"/>
                          </a:solidFill>
                        </a:rPr>
                        <a:t>—</a:t>
                      </a:r>
                    </a:p>
                  </a:txBody>
                  <a:tcPr/>
                </a:tc>
              </a:tr>
              <a:tr h="304800">
                <a:tc>
                  <a:txBody>
                    <a:bodyPr/>
                    <a:lstStyle/>
                    <a:p>
                      <a:r>
                        <a:rPr sz="892" b="0">
                          <a:solidFill>
                            <a:srgbClr val="111111"/>
                          </a:solidFill>
                        </a:rPr>
                        <a:t>Units randomized in band age 51 plus</a:t>
                      </a:r>
                    </a:p>
                  </a:txBody>
                  <a:tcPr/>
                </a:tc>
                <a:tc>
                  <a:txBody>
                    <a:bodyPr/>
                    <a:lstStyle/>
                    <a:p>
                      <a:r>
                        <a:rPr sz="892" b="0">
                          <a:solidFill>
                            <a:srgbClr val="111111"/>
                          </a:solidFill>
                        </a:rPr>
                        <a:t>n_age_51_plus</a:t>
                      </a:r>
                    </a:p>
                  </a:txBody>
                  <a:tcPr/>
                </a:tc>
                <a:tc>
                  <a:txBody>
                    <a:bodyPr/>
                    <a:lstStyle/>
                    <a:p>
                      <a:r>
                        <a:rPr sz="892" b="0">
                          <a:solidFill>
                            <a:srgbClr val="111111"/>
                          </a:solidFill>
                        </a:rPr>
                        <a:t>140</a:t>
                      </a:r>
                    </a:p>
                  </a:txBody>
                  <a:tcPr/>
                </a:tc>
                <a:tc>
                  <a:txBody>
                    <a:bodyPr/>
                    <a:lstStyle/>
                    <a:p>
                      <a:r>
                        <a:rPr sz="892" b="0">
                          <a:solidFill>
                            <a:srgbClr val="111111"/>
                          </a:solidFill>
                        </a:rPr>
                        <a:t>—</a:t>
                      </a:r>
                    </a:p>
                  </a:txBody>
                  <a:tcPr/>
                </a:tc>
              </a:tr>
            </a:tbl>
          </a:graphicData>
        </a:graphic>
      </p:graphicFrame>
      <p:graphicFrame>
        <p:nvGraphicFramePr>
          <p:cNvPr id="5" name="Table 4"/>
          <p:cNvGraphicFramePr>
            <a:graphicFrameLocks noGrp="1"/>
          </p:cNvGraphicFramePr>
          <p:nvPr/>
        </p:nvGraphicFramePr>
        <p:xfrm>
          <a:off x="812800" y="4826000"/>
          <a:ext cx="10566400" cy="1219200"/>
        </p:xfrm>
        <a:graphic>
          <a:graphicData uri="http://schemas.openxmlformats.org/drawingml/2006/table">
            <a:tbl>
              <a:tblPr firstRow="1" bandRow="1">
                <a:tableStyleId>{5C22544A-7EE6-4342-B048-85BDC9FD1C3A}</a:tableStyleId>
              </a:tblPr>
              <a:tblGrid>
                <a:gridCol w="5283200"/>
                <a:gridCol w="5283200"/>
              </a:tblGrid>
              <a:tr h="87085">
                <a:tc>
                  <a:txBody>
                    <a:bodyPr/>
                    <a:lstStyle/>
                    <a:p>
                      <a:r>
                        <a:rPr sz="892" b="1">
                          <a:solidFill>
                            <a:srgbClr val="111111"/>
                          </a:solidFill>
                        </a:rPr>
                        <a:t>Field</a:t>
                      </a:r>
                    </a:p>
                  </a:txBody>
                  <a:tcPr/>
                </a:tc>
                <a:tc>
                  <a:txBody>
                    <a:bodyPr/>
                    <a:lstStyle/>
                    <a:p>
                      <a:r>
                        <a:rPr sz="892" b="1">
                          <a:solidFill>
                            <a:srgbClr val="111111"/>
                          </a:solidFill>
                        </a:rPr>
                        <a:t>Value</a:t>
                      </a:r>
                    </a:p>
                  </a:txBody>
                  <a:tcPr/>
                </a:tc>
              </a:tr>
              <a:tr h="87085">
                <a:tc>
                  <a:txBody>
                    <a:bodyPr/>
                    <a:lstStyle/>
                    <a:p>
                      <a:r>
                        <a:rPr sz="892" b="0">
                          <a:solidFill>
                            <a:srgbClr val="111111"/>
                          </a:solidFill>
                        </a:rPr>
                        <a:t>endpoint</a:t>
                      </a:r>
                    </a:p>
                  </a:txBody>
                  <a:tcPr/>
                </a:tc>
                <a:tc>
                  <a:txBody>
                    <a:bodyPr/>
                    <a:lstStyle/>
                    <a:p>
                      <a:r>
                        <a:rPr sz="892" b="0">
                          <a:solidFill>
                            <a:srgbClr val="111111"/>
                          </a:solidFill>
                        </a:rPr>
                        <a:t>mean change, weeks 9-12</a:t>
                      </a:r>
                    </a:p>
                  </a:txBody>
                  <a:tcPr/>
                </a:tc>
              </a:tr>
              <a:tr h="87085">
                <a:tc>
                  <a:txBody>
                    <a:bodyPr/>
                    <a:lstStyle/>
                    <a:p>
                      <a:r>
                        <a:rPr sz="892" b="0">
                          <a:solidFill>
                            <a:srgbClr val="111111"/>
                          </a:solidFill>
                        </a:rPr>
                        <a:t>interval_mass</a:t>
                      </a:r>
                    </a:p>
                  </a:txBody>
                  <a:tcPr/>
                </a:tc>
                <a:tc>
                  <a:txBody>
                    <a:bodyPr/>
                    <a:lstStyle/>
                    <a:p>
                      <a:r>
                        <a:rPr sz="892" b="0">
                          <a:solidFill>
                            <a:srgbClr val="111111"/>
                          </a:solidFill>
                        </a:rPr>
                        <a:t>90%</a:t>
                      </a:r>
                    </a:p>
                  </a:txBody>
                  <a:tcPr/>
                </a:tc>
              </a:tr>
              <a:tr h="87085">
                <a:tc>
                  <a:txBody>
                    <a:bodyPr/>
                    <a:lstStyle/>
                    <a:p>
                      <a:r>
                        <a:rPr sz="892" b="0">
                          <a:solidFill>
                            <a:srgbClr val="111111"/>
                          </a:solidFill>
                        </a:rPr>
                        <a:t>seed</a:t>
                      </a:r>
                    </a:p>
                  </a:txBody>
                  <a:tcPr/>
                </a:tc>
                <a:tc>
                  <a:txBody>
                    <a:bodyPr/>
                    <a:lstStyle/>
                    <a:p>
                      <a:r>
                        <a:rPr sz="892" b="0">
                          <a:solidFill>
                            <a:srgbClr val="111111"/>
                          </a:solidFill>
                        </a:rPr>
                        <a:t>20260821</a:t>
                      </a:r>
                    </a:p>
                  </a:txBody>
                  <a:tcPr/>
                </a:tc>
              </a:tr>
              <a:tr h="87085">
                <a:tc>
                  <a:txBody>
                    <a:bodyPr/>
                    <a:lstStyle/>
                    <a:p>
                      <a:r>
                        <a:rPr sz="892" b="0">
                          <a:solidFill>
                            <a:srgbClr val="111111"/>
                          </a:solidFill>
                        </a:rPr>
                        <a:t>world</a:t>
                      </a:r>
                    </a:p>
                  </a:txBody>
                  <a:tcPr/>
                </a:tc>
                <a:tc>
                  <a:txBody>
                    <a:bodyPr/>
                    <a:lstStyle/>
                    <a:p>
                      <a:r>
                        <a:rPr sz="892" b="0">
                          <a:solidFill>
                            <a:srgbClr val="111111"/>
                          </a:solidFill>
                        </a:rPr>
                        <a:t>nbs/case-studies/hypertension/hyper3.py</a:t>
                      </a:r>
                    </a:p>
                  </a:txBody>
                  <a:tcPr/>
                </a:tc>
              </a:tr>
              <a:tr h="87085">
                <a:tc>
                  <a:txBody>
                    <a:bodyPr/>
                    <a:lstStyle/>
                    <a:p>
                      <a:r>
                        <a:rPr sz="892" b="0">
                          <a:solidFill>
                            <a:srgbClr val="111111"/>
                          </a:solidFill>
                        </a:rPr>
                        <a:t>evidence hash</a:t>
                      </a:r>
                    </a:p>
                  </a:txBody>
                  <a:tcPr/>
                </a:tc>
                <a:tc>
                  <a:txBody>
                    <a:bodyPr/>
                    <a:lstStyle/>
                    <a:p>
                      <a:r>
                        <a:rPr sz="892" b="0">
                          <a:solidFill>
                            <a:srgbClr val="111111"/>
                          </a:solidFill>
                        </a:rPr>
                        <a:t>f6c953a837c79459cb14b031868abf7f0b1adb6e235b32abca19246ffd9d5ecc</a:t>
                      </a:r>
                    </a:p>
                  </a:txBody>
                  <a:tcPr/>
                </a:tc>
              </a:tr>
              <a:tr h="87085">
                <a:tc>
                  <a:txBody>
                    <a:bodyPr/>
                    <a:lstStyle/>
                    <a:p>
                      <a:r>
                        <a:rPr sz="892" b="0">
                          <a:solidFill>
                            <a:srgbClr val="111111"/>
                          </a:solidFill>
                        </a:rPr>
                        <a:t>narration: abstract</a:t>
                      </a:r>
                    </a:p>
                  </a:txBody>
                  <a:tcPr/>
                </a:tc>
                <a:tc>
                  <a:txBody>
                    <a:bodyPr/>
                    <a:lstStyle/>
                    <a:p>
                      <a:r>
                        <a:rPr sz="892" b="0">
                          <a:solidFill>
                            <a:srgbClr val="111111"/>
                          </a:solidFill>
                        </a:rPr>
                        <a:t>gemini-3.5-flash-lite — verified</a:t>
                      </a:r>
                    </a:p>
                  </a:txBody>
                  <a:tcPr/>
                </a:tc>
              </a:tr>
              <a:tr h="87085">
                <a:tc>
                  <a:txBody>
                    <a:bodyPr/>
                    <a:lstStyle/>
                    <a:p>
                      <a:r>
                        <a:rPr sz="892" b="0">
                          <a:solidFill>
                            <a:srgbClr val="111111"/>
                          </a:solidFill>
                        </a:rPr>
                        <a:t>narration: introduction</a:t>
                      </a:r>
                    </a:p>
                  </a:txBody>
                  <a:tcPr/>
                </a:tc>
                <a:tc>
                  <a:txBody>
                    <a:bodyPr/>
                    <a:lstStyle/>
                    <a:p>
                      <a:r>
                        <a:rPr sz="892" b="0">
                          <a:solidFill>
                            <a:srgbClr val="111111"/>
                          </a:solidFill>
                        </a:rPr>
                        <a:t>gemini-3.7-flash — verified</a:t>
                      </a:r>
                    </a:p>
                  </a:txBody>
                  <a:tcPr/>
                </a:tc>
              </a:tr>
              <a:tr h="87085">
                <a:tc>
                  <a:txBody>
                    <a:bodyPr/>
                    <a:lstStyle/>
                    <a:p>
                      <a:r>
                        <a:rPr sz="892" b="0">
                          <a:solidFill>
                            <a:srgbClr val="111111"/>
                          </a:solidFill>
                        </a:rPr>
                        <a:t>narration: methods</a:t>
                      </a:r>
                    </a:p>
                  </a:txBody>
                  <a:tcPr/>
                </a:tc>
                <a:tc>
                  <a:txBody>
                    <a:bodyPr/>
                    <a:lstStyle/>
                    <a:p>
                      <a:r>
                        <a:rPr sz="892" b="0">
                          <a:solidFill>
                            <a:srgbClr val="111111"/>
                          </a:solidFill>
                        </a:rPr>
                        <a:t>gemini-3.7-flash — verified</a:t>
                      </a:r>
                    </a:p>
                  </a:txBody>
                  <a:tcPr/>
                </a:tc>
              </a:tr>
              <a:tr h="87085">
                <a:tc>
                  <a:txBody>
                    <a:bodyPr/>
                    <a:lstStyle/>
                    <a:p>
                      <a:r>
                        <a:rPr sz="892" b="0">
                          <a:solidFill>
                            <a:srgbClr val="111111"/>
                          </a:solidFill>
                        </a:rPr>
                        <a:t>narration: results</a:t>
                      </a:r>
                    </a:p>
                  </a:txBody>
                  <a:tcPr/>
                </a:tc>
                <a:tc>
                  <a:txBody>
                    <a:bodyPr/>
                    <a:lstStyle/>
                    <a:p>
                      <a:r>
                        <a:rPr sz="892" b="0">
                          <a:solidFill>
                            <a:srgbClr val="111111"/>
                          </a:solidFill>
                        </a:rPr>
                        <a:t>gemini-3.7-flash — verified</a:t>
                      </a:r>
                    </a:p>
                  </a:txBody>
                  <a:tcPr/>
                </a:tc>
              </a:tr>
              <a:tr h="87085">
                <a:tc>
                  <a:txBody>
                    <a:bodyPr/>
                    <a:lstStyle/>
                    <a:p>
                      <a:r>
                        <a:rPr sz="892" b="0">
                          <a:solidFill>
                            <a:srgbClr val="111111"/>
                          </a:solidFill>
                        </a:rPr>
                        <a:t>narration: diagnostics</a:t>
                      </a:r>
                    </a:p>
                  </a:txBody>
                  <a:tcPr/>
                </a:tc>
                <a:tc>
                  <a:txBody>
                    <a:bodyPr/>
                    <a:lstStyle/>
                    <a:p>
                      <a:r>
                        <a:rPr sz="892" b="0">
                          <a:solidFill>
                            <a:srgbClr val="111111"/>
                          </a:solidFill>
                        </a:rPr>
                        <a:t>gemini-3.7-flash — verified</a:t>
                      </a:r>
                    </a:p>
                  </a:txBody>
                  <a:tcPr/>
                </a:tc>
              </a:tr>
              <a:tr h="87085">
                <a:tc>
                  <a:txBody>
                    <a:bodyPr/>
                    <a:lstStyle/>
                    <a:p>
                      <a:r>
                        <a:rPr sz="892" b="0">
                          <a:solidFill>
                            <a:srgbClr val="111111"/>
                          </a:solidFill>
                        </a:rPr>
                        <a:t>narration: discussion</a:t>
                      </a:r>
                    </a:p>
                  </a:txBody>
                  <a:tcPr/>
                </a:tc>
                <a:tc>
                  <a:txBody>
                    <a:bodyPr/>
                    <a:lstStyle/>
                    <a:p>
                      <a:r>
                        <a:rPr sz="892" b="0">
                          <a:solidFill>
                            <a:srgbClr val="111111"/>
                          </a:solidFill>
                        </a:rPr>
                        <a:t>gemini-3.7-flash — verified</a:t>
                      </a:r>
                    </a:p>
                  </a:txBody>
                  <a:tcPr/>
                </a:tc>
              </a:tr>
              <a:tr h="87085">
                <a:tc>
                  <a:txBody>
                    <a:bodyPr/>
                    <a:lstStyle/>
                    <a:p>
                      <a:r>
                        <a:rPr sz="892" b="0">
                          <a:solidFill>
                            <a:srgbClr val="111111"/>
                          </a:solidFill>
                        </a:rPr>
                        <a:t>narration: conclusions</a:t>
                      </a:r>
                    </a:p>
                  </a:txBody>
                  <a:tcPr/>
                </a:tc>
                <a:tc>
                  <a:txBody>
                    <a:bodyPr/>
                    <a:lstStyle/>
                    <a:p>
                      <a:r>
                        <a:rPr sz="892" b="0">
                          <a:solidFill>
                            <a:srgbClr val="111111"/>
                          </a:solidFill>
                        </a:rPr>
                        <a:t>gemini-3.7-flash — verified</a:t>
                      </a:r>
                    </a:p>
                  </a:txBody>
                  <a:tcPr/>
                </a:tc>
              </a:tr>
              <a:tr h="87095">
                <a:tc>
                  <a:txBody>
                    <a:bodyPr/>
                    <a:lstStyle/>
                    <a:p>
                      <a:r>
                        <a:rPr sz="892" b="0">
                          <a:solidFill>
                            <a:srgbClr val="111111"/>
                          </a:solidFill>
                        </a:rPr>
                        <a:t>narration: limitations</a:t>
                      </a:r>
                    </a:p>
                  </a:txBody>
                  <a:tcPr/>
                </a:tc>
                <a:tc>
                  <a:txBody>
                    <a:bodyPr/>
                    <a:lstStyle/>
                    <a:p>
                      <a:r>
                        <a:rPr sz="892" b="0">
                          <a:solidFill>
                            <a:srgbClr val="111111"/>
                          </a:solidFill>
                        </a:rPr>
                        <a:t>gemini-3.7-flash — verified</a:t>
                      </a:r>
                    </a:p>
                  </a:txBody>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