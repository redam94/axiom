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331720"/>
            <a:ext cx="10363200" cy="2057400"/>
          </a:xfrm>
          <a:prstGeom prst="rect">
            <a:avLst/>
          </a:prstGeom>
          <a:noFill/>
        </p:spPr>
        <p:txBody>
          <a:bodyPr wrap="square">
            <a:spAutoFit/>
          </a:bodyPr>
          <a:lstStyle/>
          <a:p>
            <a:r>
              <a:rPr sz="1200" b="1">
                <a:solidFill>
                  <a:srgbClr val="000000"/>
                </a:solidFill>
              </a:rPr>
              <a:t>TUTOR-60</a:t>
            </a:r>
          </a:p>
          <a:p>
            <a:r>
              <a:rPr sz="1560" b="0">
                <a:solidFill>
                  <a:srgbClr val="000000"/>
                </a:solidFill>
              </a:rPr>
              <a:t>Matthew Reda · axiom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Author Note</a:t>
            </a:r>
          </a:p>
        </p:txBody>
      </p:sp>
      <p:sp>
        <p:nvSpPr>
          <p:cNvPr id="3" name="TextBox 2"/>
          <p:cNvSpPr txBox="1"/>
          <p:nvPr/>
        </p:nvSpPr>
        <p:spPr>
          <a:xfrm>
            <a:off x="914400" y="965200"/>
            <a:ext cx="10363200" cy="508000"/>
          </a:xfrm>
          <a:prstGeom prst="rect">
            <a:avLst/>
          </a:prstGeom>
          <a:noFill/>
        </p:spPr>
        <p:txBody>
          <a:bodyPr wrap="square">
            <a:spAutoFit/>
          </a:bodyPr>
          <a:lstStyle/>
          <a:p>
            <a:r>
              <a:rPr sz="1200" b="0">
                <a:solidFill>
                  <a:srgbClr val="000000"/>
                </a:solidFill>
              </a:rPr>
              <a:t>In a trial randomizing 120 schools to different dose allocations, the analysis addresses whether buying fewer tutoring minutes for every eligible student yields higher gains than the pilot allocation of ninety weekly minutes. With the effect of tutoring on gain identified via the backdoor route, a spline response model evaluated over 4000 posterior draws shows that the recommended allocation costing 745 USD per student reaches 12000 students, whereas the pilot allocation reaches 4878 students. Relative to the pilot allocation, the recommended allocation delivers an estimated 13838 cohort reading points per year over the pilot allocation (90% HDI 6163 to 22036 points/year) against a decision threshold of 0 points/year. The posterior probability that the recommendation beats the pilot is 0.997. At the department's valuation, the value of the difference is 19372837 USD (90% HDI 8627873 to 30850017 USD).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Abstract</a:t>
            </a:r>
          </a:p>
        </p:txBody>
      </p:sp>
      <p:sp>
        <p:nvSpPr>
          <p:cNvPr id="3" name="TextBox 2"/>
          <p:cNvSpPr txBox="1"/>
          <p:nvPr/>
        </p:nvSpPr>
        <p:spPr>
          <a:xfrm>
            <a:off x="914400" y="965200"/>
            <a:ext cx="10363200" cy="508000"/>
          </a:xfrm>
          <a:prstGeom prst="rect">
            <a:avLst/>
          </a:prstGeom>
          <a:noFill/>
        </p:spPr>
        <p:txBody>
          <a:bodyPr wrap="square">
            <a:spAutoFit/>
          </a:bodyPr>
          <a:lstStyle/>
          <a:p>
            <a:r>
              <a:rPr sz="1200" b="0">
                <a:solidFill>
                  <a:srgbClr val="000000"/>
                </a:solidFill>
              </a:rPr>
              <a:t>The study examined whether buying fewer tutoring minutes for every eligible student beats buying the pilot allocation for the fraction of them the budget reaches. The question is answered by cohort reading points over the pilot allocation, against a decision threshold of 0 points/year. The effect is identified via the backdoor route as described in the methods. A randomized trial of 120 schools provided the panel data for fitting spline responses through PyMC. The comparison yielded cohort reading points over the pilot allocation of 13838 points/year (90% HDI 6163 to 22036 points/year). The value of the difference at the department's own valuation settled above the threshold, on the favourable side. The strongest standing assumption is that a reading point has the value the state assigns it, which is asserted. Spreading a fixed budget across more students by reducing per-student intensity delivers larger total cohort gains than concentrating resources at the pilot level.</a:t>
            </a:r>
          </a:p>
        </p:txBody>
      </p:sp>
      <p:sp>
        <p:nvSpPr>
          <p:cNvPr id="4" name="TextBox 3"/>
          <p:cNvSpPr txBox="1"/>
          <p:nvPr/>
        </p:nvSpPr>
        <p:spPr>
          <a:xfrm>
            <a:off x="914400" y="1828800"/>
            <a:ext cx="10363200" cy="508000"/>
          </a:xfrm>
          <a:prstGeom prst="rect">
            <a:avLst/>
          </a:prstGeom>
          <a:noFill/>
        </p:spPr>
        <p:txBody>
          <a:bodyPr wrap="square">
            <a:spAutoFit/>
          </a:bodyPr>
          <a:lstStyle/>
          <a:p>
            <a:r>
              <a:rPr sz="1200" b="0">
                <a:solidFill>
                  <a:srgbClr val="000000"/>
                </a:solidFill>
              </a:rPr>
              <a:t>Reported quantities: Cohort reading points over the pilot allocation; Value of the difference at the department's own valuation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Introduction</a:t>
            </a:r>
          </a:p>
        </p:txBody>
      </p:sp>
      <p:sp>
        <p:nvSpPr>
          <p:cNvPr id="3" name="TextBox 2"/>
          <p:cNvSpPr txBox="1"/>
          <p:nvPr/>
        </p:nvSpPr>
        <p:spPr>
          <a:xfrm>
            <a:off x="914400" y="965200"/>
            <a:ext cx="10363200" cy="508000"/>
          </a:xfrm>
          <a:prstGeom prst="rect">
            <a:avLst/>
          </a:prstGeom>
          <a:noFill/>
        </p:spPr>
        <p:txBody>
          <a:bodyPr wrap="square">
            <a:spAutoFit/>
          </a:bodyPr>
          <a:lstStyle/>
          <a:p>
            <a:r>
              <a:rPr sz="1200" b="0">
                <a:solidFill>
                  <a:srgbClr val="000000"/>
                </a:solidFill>
              </a:rPr>
              <a:t>This report addresses whether buying fewer tutoring minutes for every eligible student beats buying the pilot's ninety weekly minutes for the fraction of them the budget reaches. The question is answered by cohort reading points over the pilot allocation. This quantity is identified. The decision turns against a threshold of 0 points/year. An interval estimate lying wholly on one side of 0 points/year settles the question. An interval that spans 0 points/year leaves the question unsettled. A spanning interval does not indicate an absence of an effect.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Methods</a:t>
            </a:r>
          </a:p>
        </p:txBody>
      </p:sp>
      <p:sp>
        <p:nvSpPr>
          <p:cNvPr id="3" name="TextBox 2"/>
          <p:cNvSpPr txBox="1"/>
          <p:nvPr/>
        </p:nvSpPr>
        <p:spPr>
          <a:xfrm>
            <a:off x="914400" y="965200"/>
            <a:ext cx="10363200" cy="508000"/>
          </a:xfrm>
          <a:prstGeom prst="rect">
            <a:avLst/>
          </a:prstGeom>
          <a:noFill/>
        </p:spPr>
        <p:txBody>
          <a:bodyPr wrap="square">
            <a:spAutoFit/>
          </a:bodyPr>
          <a:lstStyle/>
          <a:p>
            <a:r>
              <a:rPr sz="1200" b="0">
                <a:solidFill>
                  <a:srgbClr val="000000"/>
                </a:solidFill>
              </a:rPr>
              <a:t>To evaluate the question identified in the introduction, the analysis targets the effect of tutoring on gain, which is identified via the backdoor route. The identification graph includes arrows from poverty share to gain, resources to gain, resources to poverty share, and tutoring to gain, where resources are unmeasured, as shown in Figure 1. With 9,000,000 USD for one school year across 12,000 students reading two or more grade levels behind, or 750 USD per student if all are reached, both treatments are dosed in dollars per eligible student per year, setting 20 USD per weekly tutoring minute and 9 USD per weekly caregiver message up to a cap of 5 messages. Dosing tutoring in minutes and messaging in messages was considered and rejected because the two cannot then be traded against one another under the budget constraint. The trial randomized 120 schools to allocations drawn from a lattice over the two doses, with 3 messaging levels and tutoring spread across the decision range, as recorded in Table 1. Randomizing schools removes the arrows from poverty share to tutoring and resources to tutoring that downgrade observational records from 240 schools, while spreading allocations captures the shape of the response curve rather than conducting a two-arm trial at 90 minutes. A penalized spline response in each dose was fitted to the school-level panel through PyMC across 4,000 posterior draws. Within each draw, the per-student gain was multiplied by the number of students served at that allocation price to calculate total cohort reading points. Reporting the per-student response alone was rejected because multiplying post hoc drops the covariance across posterior draws and misstates the interval. The allocation that maximizes expected cohort points is compared with funding the pilot's 90 weekly minutes for the 4,878 students reached by that budget, pairing the comparison inside each draw to report the distribution of the difference rather than comparing against a baseline of no program. The procedure relies on two unresolved assumptions, named that a reading point has the value the state assigns it and that the cohort average answers the question.</a:t>
            </a:r>
          </a:p>
        </p:txBody>
      </p:sp>
      <p:sp>
        <p:nvSpPr>
          <p:cNvPr id="4" name="TextBox 3"/>
          <p:cNvSpPr txBox="1"/>
          <p:nvPr/>
        </p:nvSpPr>
        <p:spPr>
          <a:xfrm>
            <a:off x="914400" y="2667000"/>
            <a:ext cx="10363200" cy="508000"/>
          </a:xfrm>
          <a:prstGeom prst="rect">
            <a:avLst/>
          </a:prstGeom>
          <a:noFill/>
        </p:spPr>
        <p:txBody>
          <a:bodyPr wrap="square">
            <a:spAutoFit/>
          </a:bodyPr>
          <a:lstStyle/>
          <a:p>
            <a:r>
              <a:rPr sz="1200" b="1">
                <a:solidFill>
                  <a:srgbClr val="000000"/>
                </a:solidFill>
              </a:rPr>
              <a:t>Planning the trial</a:t>
            </a:r>
          </a:p>
        </p:txBody>
      </p:sp>
      <p:sp>
        <p:nvSpPr>
          <p:cNvPr id="5" name="TextBox 4"/>
          <p:cNvSpPr txBox="1"/>
          <p:nvPr/>
        </p:nvSpPr>
        <p:spPr>
          <a:xfrm>
            <a:off x="914400" y="2921000"/>
            <a:ext cx="10363200" cy="508000"/>
          </a:xfrm>
          <a:prstGeom prst="rect">
            <a:avLst/>
          </a:prstGeom>
          <a:noFill/>
        </p:spPr>
        <p:txBody>
          <a:bodyPr wrap="square">
            <a:spAutoFit/>
          </a:bodyPr>
          <a:lstStyle/>
          <a:p>
            <a:r>
              <a:rPr sz="1200" b="0">
                <a:solidFill>
                  <a:srgbClr val="000000"/>
                </a:solidFill>
              </a:rPr>
              <a:t>`assignment: (tutoring_s, messaging_s) ~ Uniform(lattice)   per school s`
`observational graph : poverty_share -&gt; gain, poverty_share -&gt; tutoring, resources -&gt; gain, resources -&gt; poverty_share, resources -&gt; tutoring, tutoring -&gt; gain`
`  status downgraded - requires the unmeasured node`
`randomized graph    : poverty_share -&gt; gain, resources -&gt; gain, resources -&gt; poverty_share, tutoring -&gt; gain`
`  status identified via backdoor`</a:t>
            </a:r>
          </a:p>
        </p:txBody>
      </p:sp>
      <p:sp>
        <p:nvSpPr>
          <p:cNvPr id="6" name="TextBox 5"/>
          <p:cNvSpPr txBox="1"/>
          <p:nvPr/>
        </p:nvSpPr>
        <p:spPr>
          <a:xfrm>
            <a:off x="914400" y="3708400"/>
            <a:ext cx="10363200" cy="508000"/>
          </a:xfrm>
          <a:prstGeom prst="rect">
            <a:avLst/>
          </a:prstGeom>
          <a:noFill/>
        </p:spPr>
        <p:txBody>
          <a:bodyPr wrap="square">
            <a:spAutoFit/>
          </a:bodyPr>
          <a:lstStyle/>
          <a:p>
            <a:r>
              <a:rPr sz="1200" b="1">
                <a:solidFill>
                  <a:srgbClr val="000000"/>
                </a:solidFill>
              </a:rPr>
              <a:t>Estimating the response</a:t>
            </a:r>
          </a:p>
        </p:txBody>
      </p:sp>
      <p:sp>
        <p:nvSpPr>
          <p:cNvPr id="7" name="TextBox 6"/>
          <p:cNvSpPr txBox="1"/>
          <p:nvPr/>
        </p:nvSpPr>
        <p:spPr>
          <a:xfrm>
            <a:off x="914400" y="3962400"/>
            <a:ext cx="10363200" cy="508000"/>
          </a:xfrm>
          <a:prstGeom prst="rect">
            <a:avLst/>
          </a:prstGeom>
          <a:noFill/>
        </p:spPr>
        <p:txBody>
          <a:bodyPr wrap="square">
            <a:spAutoFit/>
          </a:bodyPr>
          <a:lstStyle/>
          <a:p>
            <a:r>
              <a:rPr sz="1200" b="0">
                <a:solidFill>
                  <a:srgbClr val="000000"/>
                </a:solidFill>
              </a:rPr>
              <a:t>`gain_s = f(tutoring_s) + g(messaging_s) + eps_s`
`  f, g   = penalised splines, one per dose, on the school-level panel`
`effect(a) = E[gain | dose = a] - E[gain | dose = 0]     within each draw`
`served(a) = min(N_eligible, Budget / cost(a))`
`cohort(a) = served(a) * effect(a)                       the objective`
`cost(a)   = a_tutoring + a_messaging   (USD per eligible student-year)`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Methods (cont.)</a:t>
            </a:r>
          </a:p>
        </p:txBody>
      </p:sp>
      <p:sp>
        <p:nvSpPr>
          <p:cNvPr id="3" name="TextBox 2"/>
          <p:cNvSpPr txBox="1"/>
          <p:nvPr/>
        </p:nvSpPr>
        <p:spPr>
          <a:xfrm>
            <a:off x="914400" y="965200"/>
            <a:ext cx="10363200" cy="508000"/>
          </a:xfrm>
          <a:prstGeom prst="rect">
            <a:avLst/>
          </a:prstGeom>
          <a:noFill/>
        </p:spPr>
        <p:txBody>
          <a:bodyPr wrap="square">
            <a:spAutoFit/>
          </a:bodyPr>
          <a:lstStyle/>
          <a:p>
            <a:r>
              <a:rPr sz="1200" b="1">
                <a:solidFill>
                  <a:srgbClr val="000000"/>
                </a:solidFill>
              </a:rPr>
              <a:t>Choosing the allocation</a:t>
            </a:r>
          </a:p>
        </p:txBody>
      </p:sp>
      <p:sp>
        <p:nvSpPr>
          <p:cNvPr id="4" name="TextBox 3"/>
          <p:cNvSpPr txBox="1"/>
          <p:nvPr/>
        </p:nvSpPr>
        <p:spPr>
          <a:xfrm>
            <a:off x="914400" y="1219200"/>
            <a:ext cx="10363200" cy="508000"/>
          </a:xfrm>
          <a:prstGeom prst="rect">
            <a:avLst/>
          </a:prstGeom>
          <a:noFill/>
        </p:spPr>
        <p:txBody>
          <a:bodyPr wrap="square">
            <a:spAutoFit/>
          </a:bodyPr>
          <a:lstStyle/>
          <a:p>
            <a:r>
              <a:rPr sz="1200" b="0">
                <a:solidFill>
                  <a:srgbClr val="000000"/>
                </a:solidFill>
              </a:rPr>
              <a:t>`a*      = argmax_a  mean_draws cohort(a)`
`Delta   = cohort(a*) - cohort(a_pilot)      paired inside each draw`
`P       = Pr(Delta &gt; 0)`
`value   = Delta * VALUE_PER_POINT`</a:t>
            </a:r>
          </a:p>
        </p:txBody>
      </p:sp>
      <p:sp>
        <p:nvSpPr>
          <p:cNvPr id="5" name="TextBox 4"/>
          <p:cNvSpPr txBox="1"/>
          <p:nvPr/>
        </p:nvSpPr>
        <p:spPr>
          <a:xfrm>
            <a:off x="914400" y="1778000"/>
            <a:ext cx="10363200" cy="508000"/>
          </a:xfrm>
          <a:prstGeom prst="rect">
            <a:avLst/>
          </a:prstGeom>
          <a:noFill/>
        </p:spPr>
        <p:txBody>
          <a:bodyPr wrap="square">
            <a:spAutoFit/>
          </a:bodyPr>
          <a:lstStyle/>
          <a:p>
            <a:r>
              <a:rPr sz="1200" b="1">
                <a:solidFill>
                  <a:srgbClr val="000000"/>
                </a:solidFill>
              </a:rPr>
              <a:t>The identification graph</a:t>
            </a:r>
          </a:p>
        </p:txBody>
      </p:sp>
      <p:graphicFrame>
        <p:nvGraphicFramePr>
          <p:cNvPr id="6" name="Table 5"/>
          <p:cNvGraphicFramePr>
            <a:graphicFrameLocks noGrp="1"/>
          </p:cNvGraphicFramePr>
          <p:nvPr/>
        </p:nvGraphicFramePr>
        <p:xfrm>
          <a:off x="914400" y="2032000"/>
          <a:ext cx="10363200" cy="1828800"/>
        </p:xfrm>
        <a:graphic>
          <a:graphicData uri="http://schemas.openxmlformats.org/drawingml/2006/table">
            <a:tbl>
              <a:tblPr firstRow="1" bandRow="1">
                <a:tableStyleId>{5C22544A-7EE6-4342-B048-85BDC9FD1C3A}</a:tableStyleId>
              </a:tblPr>
              <a:tblGrid>
                <a:gridCol w="2590800"/>
                <a:gridCol w="2590800"/>
                <a:gridCol w="2590800"/>
                <a:gridCol w="2590800"/>
              </a:tblGrid>
              <a:tr h="304800">
                <a:tc>
                  <a:txBody>
                    <a:bodyPr/>
                    <a:lstStyle/>
                    <a:p>
                      <a:r>
                        <a:rPr sz="1019" b="1">
                          <a:solidFill>
                            <a:srgbClr val="000000"/>
                          </a:solidFill>
                        </a:rPr>
                        <a:t>From</a:t>
                      </a:r>
                    </a:p>
                  </a:txBody>
                  <a:tcPr/>
                </a:tc>
                <a:tc>
                  <a:txBody>
                    <a:bodyPr/>
                    <a:lstStyle/>
                    <a:p>
                      <a:r>
                        <a:rPr sz="1019" b="1">
                          <a:solidFill>
                            <a:srgbClr val="000000"/>
                          </a:solidFill>
                        </a:rPr>
                        <a:t>Arrow</a:t>
                      </a:r>
                    </a:p>
                  </a:txBody>
                  <a:tcPr/>
                </a:tc>
                <a:tc>
                  <a:txBody>
                    <a:bodyPr/>
                    <a:lstStyle/>
                    <a:p>
                      <a:r>
                        <a:rPr sz="1019" b="1">
                          <a:solidFill>
                            <a:srgbClr val="000000"/>
                          </a:solidFill>
                        </a:rPr>
                        <a:t>To</a:t>
                      </a:r>
                    </a:p>
                  </a:txBody>
                  <a:tcPr/>
                </a:tc>
                <a:tc>
                  <a:txBody>
                    <a:bodyPr/>
                    <a:lstStyle/>
                    <a:p>
                      <a:r>
                        <a:rPr sz="1019" b="1">
                          <a:solidFill>
                            <a:srgbClr val="000000"/>
                          </a:solidFill>
                        </a:rPr>
                        <a:t>Kind</a:t>
                      </a:r>
                    </a:p>
                  </a:txBody>
                  <a:tcPr/>
                </a:tc>
              </a:tr>
              <a:tr h="304800">
                <a:tc>
                  <a:txBody>
                    <a:bodyPr/>
                    <a:lstStyle/>
                    <a:p>
                      <a:r>
                        <a:rPr sz="1019" b="0">
                          <a:solidFill>
                            <a:srgbClr val="000000"/>
                          </a:solidFill>
                        </a:rPr>
                        <a:t>poverty_share</a:t>
                      </a:r>
                    </a:p>
                  </a:txBody>
                  <a:tcPr/>
                </a:tc>
                <a:tc>
                  <a:txBody>
                    <a:bodyPr/>
                    <a:lstStyle/>
                    <a:p>
                      <a:r>
                        <a:rPr sz="1019" b="0">
                          <a:solidFill>
                            <a:srgbClr val="000000"/>
                          </a:solidFill>
                        </a:rPr>
                        <a:t>→</a:t>
                      </a:r>
                    </a:p>
                  </a:txBody>
                  <a:tcPr/>
                </a:tc>
                <a:tc>
                  <a:txBody>
                    <a:bodyPr/>
                    <a:lstStyle/>
                    <a:p>
                      <a:r>
                        <a:rPr sz="1019" b="0">
                          <a:solidFill>
                            <a:srgbClr val="000000"/>
                          </a:solidFill>
                        </a:rPr>
                        <a:t>gain</a:t>
                      </a:r>
                    </a:p>
                  </a:txBody>
                  <a:tcPr/>
                </a:tc>
                <a:tc>
                  <a:txBody>
                    <a:bodyPr/>
                    <a:lstStyle/>
                    <a:p>
                      <a:r>
                        <a:rPr sz="1019" b="0">
                          <a:solidFill>
                            <a:srgbClr val="000000"/>
                          </a:solidFill>
                        </a:rPr>
                        <a:t>direct effect</a:t>
                      </a:r>
                    </a:p>
                  </a:txBody>
                  <a:tcPr/>
                </a:tc>
              </a:tr>
              <a:tr h="304800">
                <a:tc>
                  <a:txBody>
                    <a:bodyPr/>
                    <a:lstStyle/>
                    <a:p>
                      <a:r>
                        <a:rPr sz="1019" b="0">
                          <a:solidFill>
                            <a:srgbClr val="000000"/>
                          </a:solidFill>
                        </a:rPr>
                        <a:t>resources</a:t>
                      </a:r>
                    </a:p>
                  </a:txBody>
                  <a:tcPr/>
                </a:tc>
                <a:tc>
                  <a:txBody>
                    <a:bodyPr/>
                    <a:lstStyle/>
                    <a:p>
                      <a:r>
                        <a:rPr sz="1019" b="0">
                          <a:solidFill>
                            <a:srgbClr val="000000"/>
                          </a:solidFill>
                        </a:rPr>
                        <a:t>→</a:t>
                      </a:r>
                    </a:p>
                  </a:txBody>
                  <a:tcPr/>
                </a:tc>
                <a:tc>
                  <a:txBody>
                    <a:bodyPr/>
                    <a:lstStyle/>
                    <a:p>
                      <a:r>
                        <a:rPr sz="1019" b="0">
                          <a:solidFill>
                            <a:srgbClr val="000000"/>
                          </a:solidFill>
                        </a:rPr>
                        <a:t>gain</a:t>
                      </a:r>
                    </a:p>
                  </a:txBody>
                  <a:tcPr/>
                </a:tc>
                <a:tc>
                  <a:txBody>
                    <a:bodyPr/>
                    <a:lstStyle/>
                    <a:p>
                      <a:r>
                        <a:rPr sz="1019" b="0">
                          <a:solidFill>
                            <a:srgbClr val="000000"/>
                          </a:solidFill>
                        </a:rPr>
                        <a:t>direct effect</a:t>
                      </a:r>
                    </a:p>
                  </a:txBody>
                  <a:tcPr/>
                </a:tc>
              </a:tr>
              <a:tr h="304800">
                <a:tc>
                  <a:txBody>
                    <a:bodyPr/>
                    <a:lstStyle/>
                    <a:p>
                      <a:r>
                        <a:rPr sz="1019" b="0">
                          <a:solidFill>
                            <a:srgbClr val="000000"/>
                          </a:solidFill>
                        </a:rPr>
                        <a:t>resources</a:t>
                      </a:r>
                    </a:p>
                  </a:txBody>
                  <a:tcPr/>
                </a:tc>
                <a:tc>
                  <a:txBody>
                    <a:bodyPr/>
                    <a:lstStyle/>
                    <a:p>
                      <a:r>
                        <a:rPr sz="1019" b="0">
                          <a:solidFill>
                            <a:srgbClr val="000000"/>
                          </a:solidFill>
                        </a:rPr>
                        <a:t>→</a:t>
                      </a:r>
                    </a:p>
                  </a:txBody>
                  <a:tcPr/>
                </a:tc>
                <a:tc>
                  <a:txBody>
                    <a:bodyPr/>
                    <a:lstStyle/>
                    <a:p>
                      <a:r>
                        <a:rPr sz="1019" b="0">
                          <a:solidFill>
                            <a:srgbClr val="000000"/>
                          </a:solidFill>
                        </a:rPr>
                        <a:t>poverty_share</a:t>
                      </a:r>
                    </a:p>
                  </a:txBody>
                  <a:tcPr/>
                </a:tc>
                <a:tc>
                  <a:txBody>
                    <a:bodyPr/>
                    <a:lstStyle/>
                    <a:p>
                      <a:r>
                        <a:rPr sz="1019" b="0">
                          <a:solidFill>
                            <a:srgbClr val="000000"/>
                          </a:solidFill>
                        </a:rPr>
                        <a:t>direct effect</a:t>
                      </a:r>
                    </a:p>
                  </a:txBody>
                  <a:tcPr/>
                </a:tc>
              </a:tr>
              <a:tr h="304800">
                <a:tc>
                  <a:txBody>
                    <a:bodyPr/>
                    <a:lstStyle/>
                    <a:p>
                      <a:r>
                        <a:rPr sz="1019" b="0">
                          <a:solidFill>
                            <a:srgbClr val="000000"/>
                          </a:solidFill>
                        </a:rPr>
                        <a:t>tutoring</a:t>
                      </a:r>
                    </a:p>
                  </a:txBody>
                  <a:tcPr/>
                </a:tc>
                <a:tc>
                  <a:txBody>
                    <a:bodyPr/>
                    <a:lstStyle/>
                    <a:p>
                      <a:r>
                        <a:rPr sz="1019" b="0">
                          <a:solidFill>
                            <a:srgbClr val="000000"/>
                          </a:solidFill>
                        </a:rPr>
                        <a:t>→</a:t>
                      </a:r>
                    </a:p>
                  </a:txBody>
                  <a:tcPr/>
                </a:tc>
                <a:tc>
                  <a:txBody>
                    <a:bodyPr/>
                    <a:lstStyle/>
                    <a:p>
                      <a:r>
                        <a:rPr sz="1019" b="0">
                          <a:solidFill>
                            <a:srgbClr val="000000"/>
                          </a:solidFill>
                        </a:rPr>
                        <a:t>gain</a:t>
                      </a:r>
                    </a:p>
                  </a:txBody>
                  <a:tcPr/>
                </a:tc>
                <a:tc>
                  <a:txBody>
                    <a:bodyPr/>
                    <a:lstStyle/>
                    <a:p>
                      <a:r>
                        <a:rPr sz="1019" b="0">
                          <a:solidFill>
                            <a:srgbClr val="000000"/>
                          </a:solidFill>
                        </a:rPr>
                        <a:t>direct effect</a:t>
                      </a:r>
                    </a:p>
                  </a:txBody>
                  <a:tcPr/>
                </a:tc>
              </a:tr>
              <a:tr h="304800">
                <a:tc>
                  <a:txBody>
                    <a:bodyPr/>
                    <a:lstStyle/>
                    <a:p>
                      <a:r>
                        <a:rPr sz="1019" b="0">
                          <a:solidFill>
                            <a:srgbClr val="000000"/>
                          </a:solidFill>
                        </a:rPr>
                        <a:t>resources</a:t>
                      </a:r>
                    </a:p>
                  </a:txBody>
                  <a:tcPr/>
                </a:tc>
                <a:tc>
                  <a:txBody>
                    <a:bodyPr/>
                    <a:lstStyle/>
                    <a:p/>
                  </a:txBody>
                  <a:tcPr/>
                </a:tc>
                <a:tc>
                  <a:txBody>
                    <a:bodyPr/>
                    <a:lstStyle/>
                    <a:p/>
                  </a:txBody>
                  <a:tcPr/>
                </a:tc>
                <a:tc>
                  <a:txBody>
                    <a:bodyPr/>
                    <a:lstStyle/>
                    <a:p>
                      <a:r>
                        <a:rPr sz="1019" b="0">
                          <a:solidFill>
                            <a:srgbClr val="000000"/>
                          </a:solidFill>
                        </a:rPr>
                        <a:t>unmeasured node</a:t>
                      </a:r>
                    </a:p>
                  </a:txBody>
                  <a:tcPr/>
                </a:tc>
              </a:tr>
            </a:tbl>
          </a:graphicData>
        </a:graphic>
      </p:graphicFrame>
      <p:sp>
        <p:nvSpPr>
          <p:cNvPr id="7" name="TextBox 6"/>
          <p:cNvSpPr txBox="1"/>
          <p:nvPr/>
        </p:nvSpPr>
        <p:spPr>
          <a:xfrm>
            <a:off x="914400" y="4013200"/>
            <a:ext cx="10363200" cy="508000"/>
          </a:xfrm>
          <a:prstGeom prst="rect">
            <a:avLst/>
          </a:prstGeom>
          <a:noFill/>
        </p:spPr>
        <p:txBody>
          <a:bodyPr wrap="square">
            <a:spAutoFit/>
          </a:bodyPr>
          <a:lstStyle/>
          <a:p>
            <a:r>
              <a:rPr sz="1200" b="1">
                <a:solidFill>
                  <a:srgbClr val="000000"/>
                </a:solidFill>
              </a:rPr>
              <a:t>Assumptions this analysis rests 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Methods (cont.)</a:t>
            </a:r>
          </a:p>
        </p:txBody>
      </p:sp>
      <p:graphicFrame>
        <p:nvGraphicFramePr>
          <p:cNvPr id="3" name="Table 2"/>
          <p:cNvGraphicFramePr>
            <a:graphicFrameLocks noGrp="1"/>
          </p:cNvGraphicFramePr>
          <p:nvPr/>
        </p:nvGraphicFramePr>
        <p:xfrm>
          <a:off x="914400" y="965200"/>
          <a:ext cx="10363200" cy="914400"/>
        </p:xfrm>
        <a:graphic>
          <a:graphicData uri="http://schemas.openxmlformats.org/drawingml/2006/table">
            <a:tbl>
              <a:tblPr firstRow="1" bandRow="1">
                <a:tableStyleId>{5C22544A-7EE6-4342-B048-85BDC9FD1C3A}</a:tableStyleId>
              </a:tblPr>
              <a:tblGrid>
                <a:gridCol w="2590800"/>
                <a:gridCol w="2590800"/>
                <a:gridCol w="2590800"/>
                <a:gridCol w="2590800"/>
              </a:tblGrid>
              <a:tr h="304800">
                <a:tc>
                  <a:txBody>
                    <a:bodyPr/>
                    <a:lstStyle/>
                    <a:p>
                      <a:r>
                        <a:rPr sz="1019" b="1">
                          <a:solidFill>
                            <a:srgbClr val="000000"/>
                          </a:solidFill>
                        </a:rPr>
                        <a:t>Assumption</a:t>
                      </a:r>
                    </a:p>
                  </a:txBody>
                  <a:tcPr/>
                </a:tc>
                <a:tc>
                  <a:txBody>
                    <a:bodyPr/>
                    <a:lstStyle/>
                    <a:p>
                      <a:r>
                        <a:rPr sz="1019" b="1">
                          <a:solidFill>
                            <a:srgbClr val="000000"/>
                          </a:solidFill>
                        </a:rPr>
                        <a:t>Statement</a:t>
                      </a:r>
                    </a:p>
                  </a:txBody>
                  <a:tcPr/>
                </a:tc>
                <a:tc>
                  <a:txBody>
                    <a:bodyPr/>
                    <a:lstStyle/>
                    <a:p>
                      <a:r>
                        <a:rPr sz="1019" b="1">
                          <a:solidFill>
                            <a:srgbClr val="000000"/>
                          </a:solidFill>
                        </a:rPr>
                        <a:t>Status</a:t>
                      </a:r>
                    </a:p>
                  </a:txBody>
                  <a:tcPr/>
                </a:tc>
                <a:tc>
                  <a:txBody>
                    <a:bodyPr/>
                    <a:lstStyle/>
                    <a:p>
                      <a:r>
                        <a:rPr sz="1019" b="1">
                          <a:solidFill>
                            <a:srgbClr val="000000"/>
                          </a:solidFill>
                        </a:rPr>
                        <a:t>Challenged by</a:t>
                      </a:r>
                    </a:p>
                  </a:txBody>
                  <a:tcPr/>
                </a:tc>
              </a:tr>
              <a:tr h="304800">
                <a:tc>
                  <a:txBody>
                    <a:bodyPr/>
                    <a:lstStyle/>
                    <a:p>
                      <a:r>
                        <a:rPr sz="1019" b="0">
                          <a:solidFill>
                            <a:srgbClr val="000000"/>
                          </a:solidFill>
                        </a:rPr>
                        <a:t>a reading point has the value the state assigns it</a:t>
                      </a:r>
                    </a:p>
                  </a:txBody>
                  <a:tcPr/>
                </a:tc>
                <a:tc>
                  <a:txBody>
                    <a:bodyPr/>
                    <a:lstStyle/>
                    <a:p>
                      <a:r>
                        <a:rPr sz="1019" b="0">
                          <a:solidFill>
                            <a:srgbClr val="000000"/>
                          </a:solidFill>
                        </a:rPr>
                        <a:t>a reading point is valued at 1,400 USD; the recommendation does not depend on this number, only on whether to fund at all</a:t>
                      </a:r>
                    </a:p>
                  </a:txBody>
                  <a:tcPr/>
                </a:tc>
                <a:tc>
                  <a:txBody>
                    <a:bodyPr/>
                    <a:lstStyle/>
                    <a:p>
                      <a:r>
                        <a:rPr sz="1019" b="0">
                          <a:solidFill>
                            <a:srgbClr val="000000"/>
                          </a:solidFill>
                        </a:rPr>
                        <a:t>was asserted without a check</a:t>
                      </a:r>
                    </a:p>
                  </a:txBody>
                  <a:tcPr/>
                </a:tc>
                <a:tc>
                  <a:txBody>
                    <a:bodyPr/>
                    <a:lstStyle/>
                    <a:p>
                      <a:r>
                        <a:rPr sz="1019" b="0">
                          <a:solidFill>
                            <a:srgbClr val="000000"/>
                          </a:solidFill>
                        </a:rPr>
                        <a:t>a valuation low enough to make the whole program not worth funding</a:t>
                      </a:r>
                    </a:p>
                  </a:txBody>
                  <a:tcPr/>
                </a:tc>
              </a:tr>
              <a:tr h="304800">
                <a:tc>
                  <a:txBody>
                    <a:bodyPr/>
                    <a:lstStyle/>
                    <a:p>
                      <a:r>
                        <a:rPr sz="1019" b="0">
                          <a:solidFill>
                            <a:srgbClr val="000000"/>
                          </a:solidFill>
                        </a:rPr>
                        <a:t>the cohort average answers the question</a:t>
                      </a:r>
                    </a:p>
                  </a:txBody>
                  <a:tcPr/>
                </a:tc>
                <a:tc>
                  <a:txBody>
                    <a:bodyPr/>
                    <a:lstStyle/>
                    <a:p>
                      <a:r>
                        <a:rPr sz="1019" b="0">
                          <a:solidFill>
                            <a:srgbClr val="000000"/>
                          </a:solidFill>
                        </a:rPr>
                        <a:t>the recommendation is made on the cohort average; the grade-band breakdown the program office asked for is not estimable from a school-randomized trial</a:t>
                      </a:r>
                    </a:p>
                  </a:txBody>
                  <a:tcPr/>
                </a:tc>
                <a:tc>
                  <a:txBody>
                    <a:bodyPr/>
                    <a:lstStyle/>
                    <a:p>
                      <a:r>
                        <a:rPr sz="1019" b="0">
                          <a:solidFill>
                            <a:srgbClr val="000000"/>
                          </a:solidFill>
                        </a:rPr>
                        <a:t>is assumed and has not been checked</a:t>
                      </a:r>
                    </a:p>
                  </a:txBody>
                  <a:tcPr/>
                </a:tc>
                <a:tc>
                  <a:txBody>
                    <a:bodyPr/>
                    <a:lstStyle/>
                    <a:p>
                      <a:r>
                        <a:rPr sz="1019" b="0">
                          <a:solidFill>
                            <a:srgbClr val="000000"/>
                          </a:solidFill>
                        </a:rPr>
                        <a:t>a response that differs across grade bands enough to change the allocation</a:t>
                      </a:r>
                    </a:p>
                  </a:txBody>
                  <a:tcPr/>
                </a:tc>
              </a:tr>
            </a:tbl>
          </a:graphicData>
        </a:graphic>
      </p:graphicFrame>
      <p:sp>
        <p:nvSpPr>
          <p:cNvPr id="4" name="TextBox 3"/>
          <p:cNvSpPr txBox="1"/>
          <p:nvPr/>
        </p:nvSpPr>
        <p:spPr>
          <a:xfrm>
            <a:off x="914400" y="2032000"/>
            <a:ext cx="10363200" cy="3911600"/>
          </a:xfrm>
          <a:prstGeom prst="rect">
            <a:avLst/>
          </a:prstGeom>
          <a:noFill/>
        </p:spPr>
        <p:txBody>
          <a:bodyPr wrap="square">
            <a:spAutoFit/>
          </a:bodyPr>
          <a:lstStyle/>
          <a:p>
            <a:r>
              <a:rPr sz="1019" b="1">
                <a:solidFill>
                  <a:srgbClr val="000000"/>
                </a:solidFill>
              </a:rPr>
              <a:t>identification  </a:t>
            </a:r>
            <a:r>
              <a:rPr sz="1080" b="0">
                <a:solidFill>
                  <a:srgbClr val="000000"/>
                </a:solidFill>
              </a:rPr>
              <a:t>Schools were randomized to allocations; the adjustment set is empty.</a:t>
            </a:r>
          </a:p>
          <a:p>
            <a:r>
              <a:rPr sz="1019" b="1">
                <a:solidFill>
                  <a:srgbClr val="000000"/>
                </a:solidFill>
              </a:rPr>
              <a:t>estimand  </a:t>
            </a:r>
            <a:r>
              <a:rPr sz="1080" b="0">
                <a:solidFill>
                  <a:srgbClr val="000000"/>
                </a:solidFill>
              </a:rPr>
              <a:t>The recommendation is over assigned allocations. Schools delivered 93% of assigned minutes, and that shortfall is inside the estimate rather than corrected out of it.</a:t>
            </a:r>
          </a:p>
          <a:p>
            <a:r>
              <a:rPr sz="1019" b="1">
                <a:solidFill>
                  <a:srgbClr val="000000"/>
                </a:solidFill>
              </a:rPr>
              <a:t>interval  </a:t>
            </a:r>
            <a:r>
              <a:rPr sz="1080" b="0">
                <a:solidFill>
                  <a:srgbClr val="000000"/>
                </a:solidFill>
              </a:rPr>
              <a:t>Every figure and quantity at 90% over 4,000 posterior draws.</a:t>
            </a:r>
          </a:p>
          <a:p>
            <a:r>
              <a:rPr sz="1019" b="1">
                <a:solidFill>
                  <a:srgbClr val="000000"/>
                </a:solidFill>
              </a:rPr>
              <a:t>limitation  </a:t>
            </a:r>
            <a:r>
              <a:rPr sz="1080" b="0">
                <a:solidFill>
                  <a:srgbClr val="000000"/>
                </a:solidFill>
              </a:rPr>
              <a:t>The grade-band breakdown the program office asked for is not estimable from a school-randomized trial, and is not reported.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Results</a:t>
            </a:r>
          </a:p>
        </p:txBody>
      </p:sp>
      <p:sp>
        <p:nvSpPr>
          <p:cNvPr id="3" name="TextBox 2"/>
          <p:cNvSpPr txBox="1"/>
          <p:nvPr/>
        </p:nvSpPr>
        <p:spPr>
          <a:xfrm>
            <a:off x="914400" y="965200"/>
            <a:ext cx="5080000" cy="889000"/>
          </a:xfrm>
          <a:prstGeom prst="rect">
            <a:avLst/>
          </a:prstGeom>
          <a:noFill/>
        </p:spPr>
        <p:txBody>
          <a:bodyPr wrap="square">
            <a:spAutoFit/>
          </a:bodyPr>
          <a:lstStyle/>
          <a:p>
            <a:r>
              <a:rPr sz="1019" b="0">
                <a:solidFill>
                  <a:srgbClr val="000000"/>
                </a:solidFill>
              </a:rPr>
              <a:t>COHORT READING POINTS OVER THE PILOT ALLOCATION</a:t>
            </a:r>
          </a:p>
          <a:p>
            <a:r>
              <a:rPr sz="960" b="1">
                <a:solidFill>
                  <a:srgbClr val="000000"/>
                </a:solidFill>
              </a:rPr>
              <a:t>13,838 points/year</a:t>
            </a:r>
          </a:p>
          <a:p>
            <a:r>
              <a:rPr sz="1019" b="0">
                <a:solidFill>
                  <a:srgbClr val="000000"/>
                </a:solidFill>
              </a:rPr>
              <a:t>[6,200, 22,000] (90% HDI)</a:t>
            </a:r>
          </a:p>
        </p:txBody>
      </p:sp>
      <p:sp>
        <p:nvSpPr>
          <p:cNvPr id="4" name="TextBox 3"/>
          <p:cNvSpPr txBox="1"/>
          <p:nvPr/>
        </p:nvSpPr>
        <p:spPr>
          <a:xfrm>
            <a:off x="6096000" y="965200"/>
            <a:ext cx="5080000" cy="889000"/>
          </a:xfrm>
          <a:prstGeom prst="rect">
            <a:avLst/>
          </a:prstGeom>
          <a:noFill/>
        </p:spPr>
        <p:txBody>
          <a:bodyPr wrap="square">
            <a:spAutoFit/>
          </a:bodyPr>
          <a:lstStyle/>
          <a:p>
            <a:r>
              <a:rPr sz="1019" b="0">
                <a:solidFill>
                  <a:srgbClr val="000000"/>
                </a:solidFill>
              </a:rPr>
              <a:t>VALUE OF THE DIFFERENCE AT THE DEPARTMENT'S OWN VALUATION</a:t>
            </a:r>
          </a:p>
          <a:p>
            <a:r>
              <a:rPr sz="960" b="1">
                <a:solidFill>
                  <a:srgbClr val="000000"/>
                </a:solidFill>
              </a:rPr>
              <a:t>19,372,837 USD</a:t>
            </a:r>
          </a:p>
          <a:p>
            <a:r>
              <a:rPr sz="1019" b="0">
                <a:solidFill>
                  <a:srgbClr val="000000"/>
                </a:solidFill>
              </a:rPr>
              <a:t>[9,000,000, 3.1e+07] (90% HDI)</a:t>
            </a:r>
          </a:p>
        </p:txBody>
      </p:sp>
      <p:sp>
        <p:nvSpPr>
          <p:cNvPr id="5" name="TextBox 4"/>
          <p:cNvSpPr txBox="1"/>
          <p:nvPr/>
        </p:nvSpPr>
        <p:spPr>
          <a:xfrm>
            <a:off x="914400" y="2006600"/>
            <a:ext cx="10363200" cy="508000"/>
          </a:xfrm>
          <a:prstGeom prst="rect">
            <a:avLst/>
          </a:prstGeom>
          <a:noFill/>
        </p:spPr>
        <p:txBody>
          <a:bodyPr wrap="square">
            <a:spAutoFit/>
          </a:bodyPr>
          <a:lstStyle/>
          <a:p>
            <a:r>
              <a:rPr sz="1200" b="0">
                <a:solidFill>
                  <a:srgbClr val="000000"/>
                </a:solidFill>
              </a:rPr>
              <a:t>The analysis evaluates TUTOR-60 relative to the pilot allocation using the design and identification assumptions established in the methods. Table 2 reports the estimated quantities with their intervals and thresholds. Cohort reading points over the pilot allocation are 13838 points/year (90% HDI 6163 to 22036 points/year). This outcome measures performance against the pilot allocation rather than an absence of tutoring. The value of the difference at the department's own valuation is 19372837 USD (90% HDI 8627873 to 30850017 USD). This economic measure reflects the decision value introduced earlier in the report. The estimated quantities with their intervals are shown in Figure 2. The dashed rule in Figure 2 marks the decision threshold, where any interval crossing the line represents an unsettled result rather than a null effect.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What the run showed</a:t>
            </a:r>
          </a:p>
        </p:txBody>
      </p:sp>
      <p:sp>
        <p:nvSpPr>
          <p:cNvPr id="3" name="TextBox 2"/>
          <p:cNvSpPr txBox="1"/>
          <p:nvPr/>
        </p:nvSpPr>
        <p:spPr>
          <a:xfrm>
            <a:off x="914400" y="965200"/>
            <a:ext cx="10363200" cy="508000"/>
          </a:xfrm>
          <a:prstGeom prst="rect">
            <a:avLst/>
          </a:prstGeom>
          <a:noFill/>
        </p:spPr>
        <p:txBody>
          <a:bodyPr wrap="square">
            <a:spAutoFit/>
          </a:bodyPr>
          <a:lstStyle/>
          <a:p>
            <a:r>
              <a:rPr sz="1200" b="0">
                <a:solidFill>
                  <a:srgbClr val="000000"/>
                </a:solidFill>
              </a:rPr>
              <a:t>Written by the analyst after seeing the output, and reproduced unchanged. Nothing in this section is generated.</a:t>
            </a:r>
          </a:p>
        </p:txBody>
      </p:sp>
      <p:sp>
        <p:nvSpPr>
          <p:cNvPr id="4" name="TextBox 3"/>
          <p:cNvSpPr txBox="1"/>
          <p:nvPr/>
        </p:nvSpPr>
        <p:spPr>
          <a:xfrm>
            <a:off x="914400" y="1295400"/>
            <a:ext cx="10363200" cy="508000"/>
          </a:xfrm>
          <a:prstGeom prst="rect">
            <a:avLst/>
          </a:prstGeom>
          <a:noFill/>
        </p:spPr>
        <p:txBody>
          <a:bodyPr wrap="square">
            <a:spAutoFit/>
          </a:bodyPr>
          <a:lstStyle/>
          <a:p>
            <a:r>
              <a:rPr sz="1200" b="0">
                <a:solidFill>
                  <a:srgbClr val="000000"/>
                </a:solidFill>
              </a:rPr>
              <a:t>The recommendation is flat between 700 and 750 USD — 35 to 38 weekly minutes are all within two per cent of the best. The decision that matters is not the exact figure, it is not funding 90 minutes.</a:t>
            </a:r>
          </a:p>
        </p:txBody>
      </p:sp>
      <p:sp>
        <p:nvSpPr>
          <p:cNvPr id="5" name="TextBox 4"/>
          <p:cNvSpPr txBox="1"/>
          <p:nvPr/>
        </p:nvSpPr>
        <p:spPr>
          <a:xfrm>
            <a:off x="914400" y="1625600"/>
            <a:ext cx="10363200" cy="508000"/>
          </a:xfrm>
          <a:prstGeom prst="rect">
            <a:avLst/>
          </a:prstGeom>
          <a:noFill/>
        </p:spPr>
        <p:txBody>
          <a:bodyPr wrap="square">
            <a:spAutoFit/>
          </a:bodyPr>
          <a:lstStyle/>
          <a:p>
            <a:r>
              <a:rPr sz="1200" b="0">
                <a:solidFill>
                  <a:srgbClr val="000000"/>
                </a:solidFill>
              </a:rPr>
              <a:t>For the pilot to be the better buy, the advantage would have to be overstated by 100% of itself — that is, essentially the whole of it would have to be an artefact of the fit rather than a real difference between the two allocations.</a:t>
            </a:r>
          </a:p>
        </p:txBody>
      </p:sp>
      <p:sp>
        <p:nvSpPr>
          <p:cNvPr id="6" name="TextBox 5"/>
          <p:cNvSpPr txBox="1"/>
          <p:nvPr/>
        </p:nvSpPr>
        <p:spPr>
          <a:xfrm>
            <a:off x="914400" y="2032000"/>
            <a:ext cx="10363200" cy="508000"/>
          </a:xfrm>
          <a:prstGeom prst="rect">
            <a:avLst/>
          </a:prstGeom>
          <a:noFill/>
        </p:spPr>
        <p:txBody>
          <a:bodyPr wrap="square">
            <a:spAutoFit/>
          </a:bodyPr>
          <a:lstStyle/>
          <a:p>
            <a:r>
              <a:rPr sz="1200" b="0">
                <a:solidFill>
                  <a:srgbClr val="000000"/>
                </a:solidFill>
              </a:rPr>
              <a:t>The reason the recommendation is not 90 minutes is not that 90 minutes fails. It is that the response is steep at the bottom, the budget is fixed, and every extra dollar a student is a student not served.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Model checking</a:t>
            </a:r>
          </a:p>
        </p:txBody>
      </p:sp>
      <p:sp>
        <p:nvSpPr>
          <p:cNvPr id="3" name="TextBox 2"/>
          <p:cNvSpPr txBox="1"/>
          <p:nvPr/>
        </p:nvSpPr>
        <p:spPr>
          <a:xfrm>
            <a:off x="914400" y="965200"/>
            <a:ext cx="2489200" cy="889000"/>
          </a:xfrm>
          <a:prstGeom prst="rect">
            <a:avLst/>
          </a:prstGeom>
          <a:noFill/>
        </p:spPr>
        <p:txBody>
          <a:bodyPr wrap="square">
            <a:spAutoFit/>
          </a:bodyPr>
          <a:lstStyle/>
          <a:p>
            <a:r>
              <a:rPr sz="1019" b="0">
                <a:solidFill>
                  <a:srgbClr val="000000"/>
                </a:solidFill>
              </a:rPr>
              <a:t>POSTERIOR PROBABILITY THE RECOMMENDATION BEATS THE PILOT</a:t>
            </a:r>
          </a:p>
          <a:p>
            <a:r>
              <a:rPr sz="960" b="1">
                <a:solidFill>
                  <a:srgbClr val="000000"/>
                </a:solidFill>
              </a:rPr>
              <a:t>0.997</a:t>
            </a:r>
          </a:p>
        </p:txBody>
      </p:sp>
      <p:sp>
        <p:nvSpPr>
          <p:cNvPr id="4" name="TextBox 3"/>
          <p:cNvSpPr txBox="1"/>
          <p:nvPr/>
        </p:nvSpPr>
        <p:spPr>
          <a:xfrm>
            <a:off x="3505200" y="965200"/>
            <a:ext cx="2489200" cy="889000"/>
          </a:xfrm>
          <a:prstGeom prst="rect">
            <a:avLst/>
          </a:prstGeom>
          <a:noFill/>
        </p:spPr>
        <p:txBody>
          <a:bodyPr wrap="square">
            <a:spAutoFit/>
          </a:bodyPr>
          <a:lstStyle/>
          <a:p>
            <a:r>
              <a:rPr sz="1019" b="0">
                <a:solidFill>
                  <a:srgbClr val="000000"/>
                </a:solidFill>
              </a:rPr>
              <a:t>STUDENTS THE RECOMMENDATION REACHES</a:t>
            </a:r>
          </a:p>
          <a:p>
            <a:r>
              <a:rPr sz="960" b="1">
                <a:solidFill>
                  <a:srgbClr val="000000"/>
                </a:solidFill>
              </a:rPr>
              <a:t>12,000</a:t>
            </a:r>
          </a:p>
        </p:txBody>
      </p:sp>
      <p:sp>
        <p:nvSpPr>
          <p:cNvPr id="5" name="TextBox 4"/>
          <p:cNvSpPr txBox="1"/>
          <p:nvPr/>
        </p:nvSpPr>
        <p:spPr>
          <a:xfrm>
            <a:off x="6096000" y="965200"/>
            <a:ext cx="2489200" cy="889000"/>
          </a:xfrm>
          <a:prstGeom prst="rect">
            <a:avLst/>
          </a:prstGeom>
          <a:noFill/>
        </p:spPr>
        <p:txBody>
          <a:bodyPr wrap="square">
            <a:spAutoFit/>
          </a:bodyPr>
          <a:lstStyle/>
          <a:p>
            <a:r>
              <a:rPr sz="1019" b="0">
                <a:solidFill>
                  <a:srgbClr val="000000"/>
                </a:solidFill>
              </a:rPr>
              <a:t>STUDENTS THE PILOT ALLOCATION WOULD REACH</a:t>
            </a:r>
          </a:p>
          <a:p>
            <a:r>
              <a:rPr sz="960" b="1">
                <a:solidFill>
                  <a:srgbClr val="000000"/>
                </a:solidFill>
              </a:rPr>
              <a:t>4,878</a:t>
            </a:r>
          </a:p>
        </p:txBody>
      </p:sp>
      <p:sp>
        <p:nvSpPr>
          <p:cNvPr id="6" name="TextBox 5"/>
          <p:cNvSpPr txBox="1"/>
          <p:nvPr/>
        </p:nvSpPr>
        <p:spPr>
          <a:xfrm>
            <a:off x="8686800" y="965200"/>
            <a:ext cx="2489200" cy="889000"/>
          </a:xfrm>
          <a:prstGeom prst="rect">
            <a:avLst/>
          </a:prstGeom>
          <a:noFill/>
        </p:spPr>
        <p:txBody>
          <a:bodyPr wrap="square">
            <a:spAutoFit/>
          </a:bodyPr>
          <a:lstStyle/>
          <a:p>
            <a:r>
              <a:rPr sz="1019" b="0">
                <a:solidFill>
                  <a:srgbClr val="000000"/>
                </a:solidFill>
              </a:rPr>
              <a:t>COST OF THE RECOMMENDED ALLOCATION PER STUDENT</a:t>
            </a:r>
          </a:p>
          <a:p>
            <a:r>
              <a:rPr sz="960" b="1">
                <a:solidFill>
                  <a:srgbClr val="000000"/>
                </a:solidFill>
              </a:rPr>
              <a:t>745 USD</a:t>
            </a:r>
          </a:p>
        </p:txBody>
      </p:sp>
      <p:sp>
        <p:nvSpPr>
          <p:cNvPr id="7" name="TextBox 6"/>
          <p:cNvSpPr txBox="1"/>
          <p:nvPr/>
        </p:nvSpPr>
        <p:spPr>
          <a:xfrm>
            <a:off x="914400" y="2006600"/>
            <a:ext cx="10363200" cy="508000"/>
          </a:xfrm>
          <a:prstGeom prst="rect">
            <a:avLst/>
          </a:prstGeom>
          <a:noFill/>
        </p:spPr>
        <p:txBody>
          <a:bodyPr wrap="square">
            <a:spAutoFit/>
          </a:bodyPr>
          <a:lstStyle/>
          <a:p>
            <a:r>
              <a:rPr sz="1200" b="0">
                <a:solidFill>
                  <a:srgbClr val="000000"/>
                </a:solidFill>
              </a:rPr>
              <a:t>Model diagnostics describe the computational performance and sample properties of the fitted procedure. A check of this kind can lower confidence in an estimate, but it can never establish one. The estimation was conducted using 4000 posterior draws. Across the experimental design, 120 schools were randomized. The resulting posterior probability that the recommendation beats the pilot is 0.997. Under the recommended policy, the intervention reaches 12000 students, whereas the pilot allocation would reach 4878 students. The cost of the recommended allocation is 745 USD per student. Table 3 lists these recorded diagnostics. These metrics examine numerical behavior and policy coverage within the sample, leaving the broader identification assumptions from the methods unexamined.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Model checking (cont.)</a:t>
            </a:r>
          </a:p>
        </p:txBody>
      </p:sp>
      <p:sp>
        <p:nvSpPr>
          <p:cNvPr id="3" name="TextBox 2"/>
          <p:cNvSpPr txBox="1"/>
          <p:nvPr/>
        </p:nvSpPr>
        <p:spPr>
          <a:xfrm>
            <a:off x="914400" y="965200"/>
            <a:ext cx="5080000" cy="889000"/>
          </a:xfrm>
          <a:prstGeom prst="rect">
            <a:avLst/>
          </a:prstGeom>
          <a:noFill/>
        </p:spPr>
        <p:txBody>
          <a:bodyPr wrap="square">
            <a:spAutoFit/>
          </a:bodyPr>
          <a:lstStyle/>
          <a:p>
            <a:r>
              <a:rPr sz="1019" b="0">
                <a:solidFill>
                  <a:srgbClr val="000000"/>
                </a:solidFill>
              </a:rPr>
              <a:t>SCHOOLS RANDOMIZED</a:t>
            </a:r>
          </a:p>
          <a:p>
            <a:r>
              <a:rPr sz="960" b="1">
                <a:solidFill>
                  <a:srgbClr val="000000"/>
                </a:solidFill>
              </a:rPr>
              <a:t>120</a:t>
            </a:r>
          </a:p>
        </p:txBody>
      </p:sp>
      <p:sp>
        <p:nvSpPr>
          <p:cNvPr id="4" name="TextBox 3"/>
          <p:cNvSpPr txBox="1"/>
          <p:nvPr/>
        </p:nvSpPr>
        <p:spPr>
          <a:xfrm>
            <a:off x="6096000" y="965200"/>
            <a:ext cx="5080000" cy="889000"/>
          </a:xfrm>
          <a:prstGeom prst="rect">
            <a:avLst/>
          </a:prstGeom>
          <a:noFill/>
        </p:spPr>
        <p:txBody>
          <a:bodyPr wrap="square">
            <a:spAutoFit/>
          </a:bodyPr>
          <a:lstStyle/>
          <a:p>
            <a:r>
              <a:rPr sz="1019" b="0">
                <a:solidFill>
                  <a:srgbClr val="000000"/>
                </a:solidFill>
              </a:rPr>
              <a:t>POSTERIOR DRAWS</a:t>
            </a:r>
          </a:p>
          <a:p>
            <a:r>
              <a:rPr sz="960" b="1">
                <a:solidFill>
                  <a:srgbClr val="000000"/>
                </a:solidFill>
              </a:rPr>
              <a:t>4,000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Discussion</a:t>
            </a:r>
          </a:p>
        </p:txBody>
      </p:sp>
      <p:sp>
        <p:nvSpPr>
          <p:cNvPr id="3" name="TextBox 2"/>
          <p:cNvSpPr txBox="1"/>
          <p:nvPr/>
        </p:nvSpPr>
        <p:spPr>
          <a:xfrm>
            <a:off x="914400" y="965200"/>
            <a:ext cx="10363200" cy="508000"/>
          </a:xfrm>
          <a:prstGeom prst="rect">
            <a:avLst/>
          </a:prstGeom>
          <a:noFill/>
        </p:spPr>
        <p:txBody>
          <a:bodyPr wrap="square">
            <a:spAutoFit/>
          </a:bodyPr>
          <a:lstStyle/>
          <a:p>
            <a:r>
              <a:rPr sz="1200" b="0">
                <a:solidFill>
                  <a:srgbClr val="000000"/>
                </a:solidFill>
              </a:rPr>
              <a:t>Both the value of the difference at the department's own valuation and cohort reading points over the pilot allocation settled above the threshold, on the favourable side. Because the findings agree, both measures indicate that distributing tutoring minutes across all eligible students improves outcomes relative to the pilot allocation. Because the analysis is identified via the backdoor route detailed in the methods, these estimates license an interpretation of policy effects rather than mere associations. This interpretation holds under the structure of that design and extends no further. The findings remain conditional on 2 unresolved assumptions. What each one claims is stated in the limitations section.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Conclusions</a:t>
            </a:r>
          </a:p>
        </p:txBody>
      </p:sp>
      <p:sp>
        <p:nvSpPr>
          <p:cNvPr id="3" name="TextBox 2"/>
          <p:cNvSpPr txBox="1"/>
          <p:nvPr/>
        </p:nvSpPr>
        <p:spPr>
          <a:xfrm>
            <a:off x="914400" y="965200"/>
            <a:ext cx="10363200" cy="508000"/>
          </a:xfrm>
          <a:prstGeom prst="rect">
            <a:avLst/>
          </a:prstGeom>
          <a:noFill/>
        </p:spPr>
        <p:txBody>
          <a:bodyPr wrap="square">
            <a:spAutoFit/>
          </a:bodyPr>
          <a:lstStyle/>
          <a:p>
            <a:r>
              <a:rPr sz="1200" b="0">
                <a:solidFill>
                  <a:srgbClr val="000000"/>
                </a:solidFill>
              </a:rPr>
              <a:t>Buying fewer tutoring minutes for every eligible student beats buying the pilot's ninety weekly minutes for the fraction of students the budget reaches. The cohort reading points over the pilot allocation is 13838 points/year (90% HDI 6163 to 22036 points/year), which is settled above the threshold on the favourable side. The value of the difference at the department's own valuation is also settled above the threshold on the favourable side. Because the effect is identified, these findings support shifting resources to cover all eligible students. This conclusion remains conditional on 2 unresolved assumptions: that a reading point has the value the state assigns it, and that the cohort average answers the question. What each assumption claims is stated in the limitations section.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Limitations</a:t>
            </a:r>
          </a:p>
        </p:txBody>
      </p:sp>
      <p:sp>
        <p:nvSpPr>
          <p:cNvPr id="3" name="TextBox 2"/>
          <p:cNvSpPr txBox="1"/>
          <p:nvPr/>
        </p:nvSpPr>
        <p:spPr>
          <a:xfrm>
            <a:off x="914400" y="965200"/>
            <a:ext cx="10363200" cy="508000"/>
          </a:xfrm>
          <a:prstGeom prst="rect">
            <a:avLst/>
          </a:prstGeom>
          <a:noFill/>
        </p:spPr>
        <p:txBody>
          <a:bodyPr wrap="square">
            <a:spAutoFit/>
          </a:bodyPr>
          <a:lstStyle/>
          <a:p>
            <a:r>
              <a:rPr sz="1200" b="0">
                <a:solidFill>
                  <a:srgbClr val="000000"/>
                </a:solidFill>
              </a:rPr>
              <a:t>Two unresolved assumptions carry aspects of the analysis that the data does not settle. First, the analysis asserts that a reading point has the value the state assigns it, valuing a reading point at 1,400 USD. This assumption licenses the recommendation to turn not on this specific dollar figure, but only on whether to fund the program at all. That stance would be challenged by a valuation low enough to make the whole program not worth funding. Second, the analysis relies on the unverified assumption that the cohort average answers the question. This licenses making the recommendation on the cohort average, because the grade-band breakdown requested by the program office is not estimable from a school-randomized trial. This second assumption would be challenged by a response that differs across grade bands enough to change the allocation.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Provenance</a:t>
            </a:r>
          </a:p>
        </p:txBody>
      </p:sp>
      <p:sp>
        <p:nvSpPr>
          <p:cNvPr id="3" name="TextBox 2"/>
          <p:cNvSpPr txBox="1"/>
          <p:nvPr/>
        </p:nvSpPr>
        <p:spPr>
          <a:xfrm>
            <a:off x="914400" y="965200"/>
            <a:ext cx="10363200" cy="508000"/>
          </a:xfrm>
          <a:prstGeom prst="rect">
            <a:avLst/>
          </a:prstGeom>
          <a:noFill/>
        </p:spPr>
        <p:txBody>
          <a:bodyPr wrap="square">
            <a:spAutoFit/>
          </a:bodyPr>
          <a:lstStyle/>
          <a:p>
            <a:r>
              <a:rPr sz="1200" b="0">
                <a:solidFill>
                  <a:srgbClr val="000000"/>
                </a:solidFill>
              </a:rPr>
              <a:t>Every number in this document resolves to a quantity in the evidence record below. Prose was checked against that record: any numeral not traceable to it, and any claim the record does not itself make, is reported rather than published.</a:t>
            </a:r>
          </a:p>
        </p:txBody>
      </p:sp>
      <p:graphicFrame>
        <p:nvGraphicFramePr>
          <p:cNvPr id="4" name="Table 3"/>
          <p:cNvGraphicFramePr>
            <a:graphicFrameLocks noGrp="1"/>
          </p:cNvGraphicFramePr>
          <p:nvPr/>
        </p:nvGraphicFramePr>
        <p:xfrm>
          <a:off x="914400" y="1371600"/>
          <a:ext cx="10363200" cy="2743200"/>
        </p:xfrm>
        <a:graphic>
          <a:graphicData uri="http://schemas.openxmlformats.org/drawingml/2006/table">
            <a:tbl>
              <a:tblPr firstRow="1" bandRow="1">
                <a:tableStyleId>{5C22544A-7EE6-4342-B048-85BDC9FD1C3A}</a:tableStyleId>
              </a:tblPr>
              <a:tblGrid>
                <a:gridCol w="2590800"/>
                <a:gridCol w="2590800"/>
                <a:gridCol w="2590800"/>
                <a:gridCol w="2590800"/>
              </a:tblGrid>
              <a:tr h="304800">
                <a:tc>
                  <a:txBody>
                    <a:bodyPr/>
                    <a:lstStyle/>
                    <a:p>
                      <a:r>
                        <a:rPr sz="1019" b="1">
                          <a:solidFill>
                            <a:srgbClr val="000000"/>
                          </a:solidFill>
                        </a:rPr>
                        <a:t>Quantity</a:t>
                      </a:r>
                    </a:p>
                  </a:txBody>
                  <a:tcPr/>
                </a:tc>
                <a:tc>
                  <a:txBody>
                    <a:bodyPr/>
                    <a:lstStyle/>
                    <a:p>
                      <a:r>
                        <a:rPr sz="1019" b="1">
                          <a:solidFill>
                            <a:srgbClr val="000000"/>
                          </a:solidFill>
                        </a:rPr>
                        <a:t>Key</a:t>
                      </a:r>
                    </a:p>
                  </a:txBody>
                  <a:tcPr/>
                </a:tc>
                <a:tc>
                  <a:txBody>
                    <a:bodyPr/>
                    <a:lstStyle/>
                    <a:p>
                      <a:r>
                        <a:rPr sz="1019" b="1">
                          <a:solidFill>
                            <a:srgbClr val="000000"/>
                          </a:solidFill>
                        </a:rPr>
                        <a:t>Value</a:t>
                      </a:r>
                    </a:p>
                  </a:txBody>
                  <a:tcPr/>
                </a:tc>
                <a:tc>
                  <a:txBody>
                    <a:bodyPr/>
                    <a:lstStyle/>
                    <a:p>
                      <a:r>
                        <a:rPr sz="1019" b="1">
                          <a:solidFill>
                            <a:srgbClr val="000000"/>
                          </a:solidFill>
                        </a:rPr>
                        <a:t>Produced by</a:t>
                      </a:r>
                    </a:p>
                  </a:txBody>
                  <a:tcPr/>
                </a:tc>
              </a:tr>
              <a:tr h="304800">
                <a:tc>
                  <a:txBody>
                    <a:bodyPr/>
                    <a:lstStyle/>
                    <a:p>
                      <a:r>
                        <a:rPr sz="1019" b="0">
                          <a:solidFill>
                            <a:srgbClr val="000000"/>
                          </a:solidFill>
                        </a:rPr>
                        <a:t>Cohort reading points over the pilot allocation</a:t>
                      </a:r>
                    </a:p>
                  </a:txBody>
                  <a:tcPr/>
                </a:tc>
                <a:tc>
                  <a:txBody>
                    <a:bodyPr/>
                    <a:lstStyle/>
                    <a:p>
                      <a:r>
                        <a:rPr sz="1019" b="0">
                          <a:solidFill>
                            <a:srgbClr val="000000"/>
                          </a:solidFill>
                        </a:rPr>
                        <a:t>advantage</a:t>
                      </a:r>
                    </a:p>
                  </a:txBody>
                  <a:tcPr/>
                </a:tc>
                <a:tc>
                  <a:txBody>
                    <a:bodyPr/>
                    <a:lstStyle/>
                    <a:p>
                      <a:r>
                        <a:rPr sz="1019" b="0">
                          <a:solidFill>
                            <a:srgbClr val="000000"/>
                          </a:solidFill>
                        </a:rPr>
                        <a:t>13838 points/year (90% HDI 6163 to 22036 points/year)</a:t>
                      </a:r>
                    </a:p>
                  </a:txBody>
                  <a:tcPr/>
                </a:tc>
                <a:tc>
                  <a:txBody>
                    <a:bodyPr/>
                    <a:lstStyle/>
                    <a:p>
                      <a:r>
                        <a:rPr sz="1019" b="0">
                          <a:solidFill>
                            <a:srgbClr val="000000"/>
                          </a:solidFill>
                        </a:rPr>
                        <a:t>paired posterior comparison over the allocation grid</a:t>
                      </a:r>
                    </a:p>
                  </a:txBody>
                  <a:tcPr/>
                </a:tc>
              </a:tr>
              <a:tr h="304800">
                <a:tc>
                  <a:txBody>
                    <a:bodyPr/>
                    <a:lstStyle/>
                    <a:p>
                      <a:r>
                        <a:rPr sz="1019" b="0">
                          <a:solidFill>
                            <a:srgbClr val="000000"/>
                          </a:solidFill>
                        </a:rPr>
                        <a:t>Value of the difference at the department's own valuation</a:t>
                      </a:r>
                    </a:p>
                  </a:txBody>
                  <a:tcPr/>
                </a:tc>
                <a:tc>
                  <a:txBody>
                    <a:bodyPr/>
                    <a:lstStyle/>
                    <a:p>
                      <a:r>
                        <a:rPr sz="1019" b="0">
                          <a:solidFill>
                            <a:srgbClr val="000000"/>
                          </a:solidFill>
                        </a:rPr>
                        <a:t>advantage_value</a:t>
                      </a:r>
                    </a:p>
                  </a:txBody>
                  <a:tcPr/>
                </a:tc>
                <a:tc>
                  <a:txBody>
                    <a:bodyPr/>
                    <a:lstStyle/>
                    <a:p>
                      <a:r>
                        <a:rPr sz="1019" b="0">
                          <a:solidFill>
                            <a:srgbClr val="000000"/>
                          </a:solidFill>
                        </a:rPr>
                        <a:t>19372837 USD (90% HDI 8627873 to 30850017 USD)</a:t>
                      </a:r>
                    </a:p>
                  </a:txBody>
                  <a:tcPr/>
                </a:tc>
                <a:tc>
                  <a:txBody>
                    <a:bodyPr/>
                    <a:lstStyle/>
                    <a:p>
                      <a:r>
                        <a:rPr sz="1019" b="0">
                          <a:solidFill>
                            <a:srgbClr val="000000"/>
                          </a:solidFill>
                        </a:rPr>
                        <a:t>the same draws, priced</a:t>
                      </a:r>
                    </a:p>
                  </a:txBody>
                  <a:tcPr/>
                </a:tc>
              </a:tr>
              <a:tr h="304800">
                <a:tc>
                  <a:txBody>
                    <a:bodyPr/>
                    <a:lstStyle/>
                    <a:p>
                      <a:r>
                        <a:rPr sz="1019" b="0">
                          <a:solidFill>
                            <a:srgbClr val="000000"/>
                          </a:solidFill>
                        </a:rPr>
                        <a:t>Posterior probability the recommendation beats the pilot</a:t>
                      </a:r>
                    </a:p>
                  </a:txBody>
                  <a:tcPr/>
                </a:tc>
                <a:tc>
                  <a:txBody>
                    <a:bodyPr/>
                    <a:lstStyle/>
                    <a:p>
                      <a:r>
                        <a:rPr sz="1019" b="0">
                          <a:solidFill>
                            <a:srgbClr val="000000"/>
                          </a:solidFill>
                        </a:rPr>
                        <a:t>probability_better</a:t>
                      </a:r>
                    </a:p>
                  </a:txBody>
                  <a:tcPr/>
                </a:tc>
                <a:tc>
                  <a:txBody>
                    <a:bodyPr/>
                    <a:lstStyle/>
                    <a:p>
                      <a:r>
                        <a:rPr sz="1019" b="0">
                          <a:solidFill>
                            <a:srgbClr val="000000"/>
                          </a:solidFill>
                        </a:rPr>
                        <a:t>0.997</a:t>
                      </a:r>
                    </a:p>
                  </a:txBody>
                  <a:tcPr/>
                </a:tc>
                <a:tc>
                  <a:txBody>
                    <a:bodyPr/>
                    <a:lstStyle/>
                    <a:p>
                      <a:r>
                        <a:rPr sz="1019" b="0">
                          <a:solidFill>
                            <a:srgbClr val="000000"/>
                          </a:solidFill>
                        </a:rPr>
                        <a:t>—</a:t>
                      </a:r>
                    </a:p>
                  </a:txBody>
                  <a:tcPr/>
                </a:tc>
              </a:tr>
              <a:tr h="304800">
                <a:tc>
                  <a:txBody>
                    <a:bodyPr/>
                    <a:lstStyle/>
                    <a:p>
                      <a:r>
                        <a:rPr sz="1019" b="0">
                          <a:solidFill>
                            <a:srgbClr val="000000"/>
                          </a:solidFill>
                        </a:rPr>
                        <a:t>Students the recommendation reaches</a:t>
                      </a:r>
                    </a:p>
                  </a:txBody>
                  <a:tcPr/>
                </a:tc>
                <a:tc>
                  <a:txBody>
                    <a:bodyPr/>
                    <a:lstStyle/>
                    <a:p>
                      <a:r>
                        <a:rPr sz="1019" b="0">
                          <a:solidFill>
                            <a:srgbClr val="000000"/>
                          </a:solidFill>
                        </a:rPr>
                        <a:t>students_reached</a:t>
                      </a:r>
                    </a:p>
                  </a:txBody>
                  <a:tcPr/>
                </a:tc>
                <a:tc>
                  <a:txBody>
                    <a:bodyPr/>
                    <a:lstStyle/>
                    <a:p>
                      <a:r>
                        <a:rPr sz="1019" b="0">
                          <a:solidFill>
                            <a:srgbClr val="000000"/>
                          </a:solidFill>
                        </a:rPr>
                        <a:t>12000</a:t>
                      </a:r>
                    </a:p>
                  </a:txBody>
                  <a:tcPr/>
                </a:tc>
                <a:tc>
                  <a:txBody>
                    <a:bodyPr/>
                    <a:lstStyle/>
                    <a:p>
                      <a:r>
                        <a:rPr sz="1019" b="0">
                          <a:solidFill>
                            <a:srgbClr val="000000"/>
                          </a:solidFill>
                        </a:rPr>
                        <a:t>—</a:t>
                      </a:r>
                    </a:p>
                  </a:txBody>
                  <a:tcPr/>
                </a:tc>
              </a:tr>
              <a:tr h="304800">
                <a:tc>
                  <a:txBody>
                    <a:bodyPr/>
                    <a:lstStyle/>
                    <a:p>
                      <a:r>
                        <a:rPr sz="1019" b="0">
                          <a:solidFill>
                            <a:srgbClr val="000000"/>
                          </a:solidFill>
                        </a:rPr>
                        <a:t>Students the pilot allocation would reach</a:t>
                      </a:r>
                    </a:p>
                  </a:txBody>
                  <a:tcPr/>
                </a:tc>
                <a:tc>
                  <a:txBody>
                    <a:bodyPr/>
                    <a:lstStyle/>
                    <a:p>
                      <a:r>
                        <a:rPr sz="1019" b="0">
                          <a:solidFill>
                            <a:srgbClr val="000000"/>
                          </a:solidFill>
                        </a:rPr>
                        <a:t>pilot_reached</a:t>
                      </a:r>
                    </a:p>
                  </a:txBody>
                  <a:tcPr/>
                </a:tc>
                <a:tc>
                  <a:txBody>
                    <a:bodyPr/>
                    <a:lstStyle/>
                    <a:p>
                      <a:r>
                        <a:rPr sz="1019" b="0">
                          <a:solidFill>
                            <a:srgbClr val="000000"/>
                          </a:solidFill>
                        </a:rPr>
                        <a:t>4878</a:t>
                      </a:r>
                    </a:p>
                  </a:txBody>
                  <a:tcPr/>
                </a:tc>
                <a:tc>
                  <a:txBody>
                    <a:bodyPr/>
                    <a:lstStyle/>
                    <a:p>
                      <a:r>
                        <a:rPr sz="1019" b="0">
                          <a:solidFill>
                            <a:srgbClr val="000000"/>
                          </a:solidFill>
                        </a:rPr>
                        <a:t>—</a:t>
                      </a:r>
                    </a:p>
                  </a:txBody>
                  <a:tcPr/>
                </a:tc>
              </a:tr>
              <a:tr h="304800">
                <a:tc>
                  <a:txBody>
                    <a:bodyPr/>
                    <a:lstStyle/>
                    <a:p>
                      <a:r>
                        <a:rPr sz="1019" b="0">
                          <a:solidFill>
                            <a:srgbClr val="000000"/>
                          </a:solidFill>
                        </a:rPr>
                        <a:t>Cost of the recommended allocation per student</a:t>
                      </a:r>
                    </a:p>
                  </a:txBody>
                  <a:tcPr/>
                </a:tc>
                <a:tc>
                  <a:txBody>
                    <a:bodyPr/>
                    <a:lstStyle/>
                    <a:p>
                      <a:r>
                        <a:rPr sz="1019" b="0">
                          <a:solidFill>
                            <a:srgbClr val="000000"/>
                          </a:solidFill>
                        </a:rPr>
                        <a:t>cost_per_student</a:t>
                      </a:r>
                    </a:p>
                  </a:txBody>
                  <a:tcPr/>
                </a:tc>
                <a:tc>
                  <a:txBody>
                    <a:bodyPr/>
                    <a:lstStyle/>
                    <a:p>
                      <a:r>
                        <a:rPr sz="1019" b="0">
                          <a:solidFill>
                            <a:srgbClr val="000000"/>
                          </a:solidFill>
                        </a:rPr>
                        <a:t>745 USD</a:t>
                      </a:r>
                    </a:p>
                  </a:txBody>
                  <a:tcPr/>
                </a:tc>
                <a:tc>
                  <a:txBody>
                    <a:bodyPr/>
                    <a:lstStyle/>
                    <a:p>
                      <a:r>
                        <a:rPr sz="1019" b="0">
                          <a:solidFill>
                            <a:srgbClr val="000000"/>
                          </a:solidFill>
                        </a:rPr>
                        <a:t>—</a:t>
                      </a:r>
                    </a:p>
                  </a:txBody>
                  <a:tcPr/>
                </a:tc>
              </a:tr>
              <a:tr h="304800">
                <a:tc>
                  <a:txBody>
                    <a:bodyPr/>
                    <a:lstStyle/>
                    <a:p>
                      <a:r>
                        <a:rPr sz="1019" b="0">
                          <a:solidFill>
                            <a:srgbClr val="000000"/>
                          </a:solidFill>
                        </a:rPr>
                        <a:t>Schools randomized</a:t>
                      </a:r>
                    </a:p>
                  </a:txBody>
                  <a:tcPr/>
                </a:tc>
                <a:tc>
                  <a:txBody>
                    <a:bodyPr/>
                    <a:lstStyle/>
                    <a:p>
                      <a:r>
                        <a:rPr sz="1019" b="0">
                          <a:solidFill>
                            <a:srgbClr val="000000"/>
                          </a:solidFill>
                        </a:rPr>
                        <a:t>schools</a:t>
                      </a:r>
                    </a:p>
                  </a:txBody>
                  <a:tcPr/>
                </a:tc>
                <a:tc>
                  <a:txBody>
                    <a:bodyPr/>
                    <a:lstStyle/>
                    <a:p>
                      <a:r>
                        <a:rPr sz="1019" b="0">
                          <a:solidFill>
                            <a:srgbClr val="000000"/>
                          </a:solidFill>
                        </a:rPr>
                        <a:t>120</a:t>
                      </a:r>
                    </a:p>
                  </a:txBody>
                  <a:tcPr/>
                </a:tc>
                <a:tc>
                  <a:txBody>
                    <a:bodyPr/>
                    <a:lstStyle/>
                    <a:p>
                      <a:r>
                        <a:rPr sz="1019" b="0">
                          <a:solidFill>
                            <a:srgbClr val="000000"/>
                          </a:solidFill>
                        </a:rPr>
                        <a:t>—</a:t>
                      </a:r>
                    </a:p>
                  </a:txBody>
                  <a:tcPr/>
                </a:tc>
              </a:tr>
              <a:tr h="304800">
                <a:tc>
                  <a:txBody>
                    <a:bodyPr/>
                    <a:lstStyle/>
                    <a:p>
                      <a:r>
                        <a:rPr sz="1019" b="0">
                          <a:solidFill>
                            <a:srgbClr val="000000"/>
                          </a:solidFill>
                        </a:rPr>
                        <a:t>Posterior draws</a:t>
                      </a:r>
                    </a:p>
                  </a:txBody>
                  <a:tcPr/>
                </a:tc>
                <a:tc>
                  <a:txBody>
                    <a:bodyPr/>
                    <a:lstStyle/>
                    <a:p>
                      <a:r>
                        <a:rPr sz="1019" b="0">
                          <a:solidFill>
                            <a:srgbClr val="000000"/>
                          </a:solidFill>
                        </a:rPr>
                        <a:t>draws</a:t>
                      </a:r>
                    </a:p>
                  </a:txBody>
                  <a:tcPr/>
                </a:tc>
                <a:tc>
                  <a:txBody>
                    <a:bodyPr/>
                    <a:lstStyle/>
                    <a:p>
                      <a:r>
                        <a:rPr sz="1019" b="0">
                          <a:solidFill>
                            <a:srgbClr val="000000"/>
                          </a:solidFill>
                        </a:rPr>
                        <a:t>4000</a:t>
                      </a:r>
                    </a:p>
                  </a:txBody>
                  <a:tcPr/>
                </a:tc>
                <a:tc>
                  <a:txBody>
                    <a:bodyPr/>
                    <a:lstStyle/>
                    <a:p>
                      <a:r>
                        <a:rPr sz="1019" b="0">
                          <a:solidFill>
                            <a:srgbClr val="000000"/>
                          </a:solidFill>
                        </a:rPr>
                        <a:t>—</a:t>
                      </a:r>
                    </a:p>
                  </a:txBody>
                  <a:tcPr/>
                </a:tc>
              </a:tr>
            </a:tbl>
          </a:graphicData>
        </a:graphic>
      </p:graphicFrame>
      <p:graphicFrame>
        <p:nvGraphicFramePr>
          <p:cNvPr id="5" name="Table 4"/>
          <p:cNvGraphicFramePr>
            <a:graphicFrameLocks noGrp="1"/>
          </p:cNvGraphicFramePr>
          <p:nvPr/>
        </p:nvGraphicFramePr>
        <p:xfrm>
          <a:off x="914400" y="4267200"/>
          <a:ext cx="10363200" cy="1676400"/>
        </p:xfrm>
        <a:graphic>
          <a:graphicData uri="http://schemas.openxmlformats.org/drawingml/2006/table">
            <a:tbl>
              <a:tblPr firstRow="1" bandRow="1">
                <a:tableStyleId>{5C22544A-7EE6-4342-B048-85BDC9FD1C3A}</a:tableStyleId>
              </a:tblPr>
              <a:tblGrid>
                <a:gridCol w="5181600"/>
                <a:gridCol w="5181600"/>
              </a:tblGrid>
              <a:tr h="104775">
                <a:tc>
                  <a:txBody>
                    <a:bodyPr/>
                    <a:lstStyle/>
                    <a:p>
                      <a:r>
                        <a:rPr sz="1019" b="1">
                          <a:solidFill>
                            <a:srgbClr val="000000"/>
                          </a:solidFill>
                        </a:rPr>
                        <a:t>Field</a:t>
                      </a:r>
                    </a:p>
                  </a:txBody>
                  <a:tcPr/>
                </a:tc>
                <a:tc>
                  <a:txBody>
                    <a:bodyPr/>
                    <a:lstStyle/>
                    <a:p>
                      <a:r>
                        <a:rPr sz="1019" b="1">
                          <a:solidFill>
                            <a:srgbClr val="000000"/>
                          </a:solidFill>
                        </a:rPr>
                        <a:t>Value</a:t>
                      </a:r>
                    </a:p>
                  </a:txBody>
                  <a:tcPr/>
                </a:tc>
              </a:tr>
              <a:tr h="104775">
                <a:tc>
                  <a:txBody>
                    <a:bodyPr/>
                    <a:lstStyle/>
                    <a:p>
                      <a:r>
                        <a:rPr sz="1019" b="0">
                          <a:solidFill>
                            <a:srgbClr val="000000"/>
                          </a:solidFill>
                        </a:rPr>
                        <a:t>estimator</a:t>
                      </a:r>
                    </a:p>
                  </a:txBody>
                  <a:tcPr/>
                </a:tc>
                <a:tc>
                  <a:txBody>
                    <a:bodyPr/>
                    <a:lstStyle/>
                    <a:p>
                      <a:r>
                        <a:rPr sz="1019" b="0">
                          <a:solidFill>
                            <a:srgbClr val="000000"/>
                          </a:solidFill>
                        </a:rPr>
                        <a:t>spline response surface, PyMC via nutpie</a:t>
                      </a:r>
                    </a:p>
                  </a:txBody>
                  <a:tcPr/>
                </a:tc>
              </a:tr>
              <a:tr h="104775">
                <a:tc>
                  <a:txBody>
                    <a:bodyPr/>
                    <a:lstStyle/>
                    <a:p>
                      <a:r>
                        <a:rPr sz="1019" b="0">
                          <a:solidFill>
                            <a:srgbClr val="000000"/>
                          </a:solidFill>
                        </a:rPr>
                        <a:t>fit_hash</a:t>
                      </a:r>
                    </a:p>
                  </a:txBody>
                  <a:tcPr/>
                </a:tc>
                <a:tc>
                  <a:txBody>
                    <a:bodyPr/>
                    <a:lstStyle/>
                    <a:p>
                      <a:r>
                        <a:rPr sz="1019" b="0">
                          <a:solidFill>
                            <a:srgbClr val="000000"/>
                          </a:solidFill>
                        </a:rPr>
                        <a:t>c878161a12a5</a:t>
                      </a:r>
                    </a:p>
                  </a:txBody>
                  <a:tcPr/>
                </a:tc>
              </a:tr>
              <a:tr h="104775">
                <a:tc>
                  <a:txBody>
                    <a:bodyPr/>
                    <a:lstStyle/>
                    <a:p>
                      <a:r>
                        <a:rPr sz="1019" b="0">
                          <a:solidFill>
                            <a:srgbClr val="000000"/>
                          </a:solidFill>
                        </a:rPr>
                        <a:t>interval_mass</a:t>
                      </a:r>
                    </a:p>
                  </a:txBody>
                  <a:tcPr/>
                </a:tc>
                <a:tc>
                  <a:txBody>
                    <a:bodyPr/>
                    <a:lstStyle/>
                    <a:p>
                      <a:r>
                        <a:rPr sz="1019" b="0">
                          <a:solidFill>
                            <a:srgbClr val="000000"/>
                          </a:solidFill>
                        </a:rPr>
                        <a:t>90%</a:t>
                      </a:r>
                    </a:p>
                  </a:txBody>
                  <a:tcPr/>
                </a:tc>
              </a:tr>
              <a:tr h="104775">
                <a:tc>
                  <a:txBody>
                    <a:bodyPr/>
                    <a:lstStyle/>
                    <a:p>
                      <a:r>
                        <a:rPr sz="1019" b="0">
                          <a:solidFill>
                            <a:srgbClr val="000000"/>
                          </a:solidFill>
                        </a:rPr>
                        <a:t>seed</a:t>
                      </a:r>
                    </a:p>
                  </a:txBody>
                  <a:tcPr/>
                </a:tc>
                <a:tc>
                  <a:txBody>
                    <a:bodyPr/>
                    <a:lstStyle/>
                    <a:p>
                      <a:r>
                        <a:rPr sz="1019" b="0">
                          <a:solidFill>
                            <a:srgbClr val="000000"/>
                          </a:solidFill>
                        </a:rPr>
                        <a:t>0</a:t>
                      </a:r>
                    </a:p>
                  </a:txBody>
                  <a:tcPr/>
                </a:tc>
              </a:tr>
              <a:tr h="104775">
                <a:tc>
                  <a:txBody>
                    <a:bodyPr/>
                    <a:lstStyle/>
                    <a:p>
                      <a:r>
                        <a:rPr sz="1019" b="0">
                          <a:solidFill>
                            <a:srgbClr val="000000"/>
                          </a:solidFill>
                        </a:rPr>
                        <a:t>world</a:t>
                      </a:r>
                    </a:p>
                  </a:txBody>
                  <a:tcPr/>
                </a:tc>
                <a:tc>
                  <a:txBody>
                    <a:bodyPr/>
                    <a:lstStyle/>
                    <a:p>
                      <a:r>
                        <a:rPr sz="1019" b="0">
                          <a:solidFill>
                            <a:srgbClr val="000000"/>
                          </a:solidFill>
                        </a:rPr>
                        <a:t>nbs/case-studies/tutoring/tutoring.py</a:t>
                      </a:r>
                    </a:p>
                  </a:txBody>
                  <a:tcPr/>
                </a:tc>
              </a:tr>
              <a:tr h="104775">
                <a:tc>
                  <a:txBody>
                    <a:bodyPr/>
                    <a:lstStyle/>
                    <a:p>
                      <a:r>
                        <a:rPr sz="1019" b="0">
                          <a:solidFill>
                            <a:srgbClr val="000000"/>
                          </a:solidFill>
                        </a:rPr>
                        <a:t>evidence hash</a:t>
                      </a:r>
                    </a:p>
                  </a:txBody>
                  <a:tcPr/>
                </a:tc>
                <a:tc>
                  <a:txBody>
                    <a:bodyPr/>
                    <a:lstStyle/>
                    <a:p>
                      <a:r>
                        <a:rPr sz="1019" b="0">
                          <a:solidFill>
                            <a:srgbClr val="000000"/>
                          </a:solidFill>
                        </a:rPr>
                        <a:t>7bc9d4b50db1c7e7d179ec9a8af11003732629bc0189790cf210b75d82f12a52</a:t>
                      </a:r>
                    </a:p>
                  </a:txBody>
                  <a:tcPr/>
                </a:tc>
              </a:tr>
              <a:tr h="104775">
                <a:tc>
                  <a:txBody>
                    <a:bodyPr/>
                    <a:lstStyle/>
                    <a:p>
                      <a:r>
                        <a:rPr sz="1019" b="0">
                          <a:solidFill>
                            <a:srgbClr val="000000"/>
                          </a:solidFill>
                        </a:rPr>
                        <a:t>narration: abstract</a:t>
                      </a:r>
                    </a:p>
                  </a:txBody>
                  <a:tcPr/>
                </a:tc>
                <a:tc>
                  <a:txBody>
                    <a:bodyPr/>
                    <a:lstStyle/>
                    <a:p>
                      <a:r>
                        <a:rPr sz="1019" b="0">
                          <a:solidFill>
                            <a:srgbClr val="000000"/>
                          </a:solidFill>
                        </a:rPr>
                        <a:t>gemini-3.5-flash-lite — verified</a:t>
                      </a:r>
                    </a:p>
                  </a:txBody>
                  <a:tcPr/>
                </a:tc>
              </a:tr>
              <a:tr h="104775">
                <a:tc>
                  <a:txBody>
                    <a:bodyPr/>
                    <a:lstStyle/>
                    <a:p>
                      <a:r>
                        <a:rPr sz="1019" b="0">
                          <a:solidFill>
                            <a:srgbClr val="000000"/>
                          </a:solidFill>
                        </a:rPr>
                        <a:t>narration: title_page</a:t>
                      </a:r>
                    </a:p>
                  </a:txBody>
                  <a:tcPr/>
                </a:tc>
                <a:tc>
                  <a:txBody>
                    <a:bodyPr/>
                    <a:lstStyle/>
                    <a:p>
                      <a:r>
                        <a:rPr sz="1019" b="0">
                          <a:solidFill>
                            <a:srgbClr val="000000"/>
                          </a:solidFill>
                        </a:rPr>
                        <a:t>gemini-3.7-flash — verified</a:t>
                      </a:r>
                    </a:p>
                  </a:txBody>
                  <a:tcPr/>
                </a:tc>
              </a:tr>
              <a:tr h="104775">
                <a:tc>
                  <a:txBody>
                    <a:bodyPr/>
                    <a:lstStyle/>
                    <a:p>
                      <a:r>
                        <a:rPr sz="1019" b="0">
                          <a:solidFill>
                            <a:srgbClr val="000000"/>
                          </a:solidFill>
                        </a:rPr>
                        <a:t>narration: introduction</a:t>
                      </a:r>
                    </a:p>
                  </a:txBody>
                  <a:tcPr/>
                </a:tc>
                <a:tc>
                  <a:txBody>
                    <a:bodyPr/>
                    <a:lstStyle/>
                    <a:p>
                      <a:r>
                        <a:rPr sz="1019" b="0">
                          <a:solidFill>
                            <a:srgbClr val="000000"/>
                          </a:solidFill>
                        </a:rPr>
                        <a:t>gemini-3.7-flash — verified</a:t>
                      </a:r>
                    </a:p>
                  </a:txBody>
                  <a:tcPr/>
                </a:tc>
              </a:tr>
              <a:tr h="104775">
                <a:tc>
                  <a:txBody>
                    <a:bodyPr/>
                    <a:lstStyle/>
                    <a:p>
                      <a:r>
                        <a:rPr sz="1019" b="0">
                          <a:solidFill>
                            <a:srgbClr val="000000"/>
                          </a:solidFill>
                        </a:rPr>
                        <a:t>narration: methods</a:t>
                      </a:r>
                    </a:p>
                  </a:txBody>
                  <a:tcPr/>
                </a:tc>
                <a:tc>
                  <a:txBody>
                    <a:bodyPr/>
                    <a:lstStyle/>
                    <a:p>
                      <a:r>
                        <a:rPr sz="1019" b="0">
                          <a:solidFill>
                            <a:srgbClr val="000000"/>
                          </a:solidFill>
                        </a:rPr>
                        <a:t>gemini-3.7-flash — verified</a:t>
                      </a:r>
                    </a:p>
                  </a:txBody>
                  <a:tcPr/>
                </a:tc>
              </a:tr>
              <a:tr h="104775">
                <a:tc>
                  <a:txBody>
                    <a:bodyPr/>
                    <a:lstStyle/>
                    <a:p>
                      <a:r>
                        <a:rPr sz="1019" b="0">
                          <a:solidFill>
                            <a:srgbClr val="000000"/>
                          </a:solidFill>
                        </a:rPr>
                        <a:t>narration: results</a:t>
                      </a:r>
                    </a:p>
                  </a:txBody>
                  <a:tcPr/>
                </a:tc>
                <a:tc>
                  <a:txBody>
                    <a:bodyPr/>
                    <a:lstStyle/>
                    <a:p>
                      <a:r>
                        <a:rPr sz="1019" b="0">
                          <a:solidFill>
                            <a:srgbClr val="000000"/>
                          </a:solidFill>
                        </a:rPr>
                        <a:t>gemini-3.7-flash — verified</a:t>
                      </a:r>
                    </a:p>
                  </a:txBody>
                  <a:tcPr/>
                </a:tc>
              </a:tr>
              <a:tr h="104775">
                <a:tc>
                  <a:txBody>
                    <a:bodyPr/>
                    <a:lstStyle/>
                    <a:p>
                      <a:r>
                        <a:rPr sz="1019" b="0">
                          <a:solidFill>
                            <a:srgbClr val="000000"/>
                          </a:solidFill>
                        </a:rPr>
                        <a:t>narration: diagnostics</a:t>
                      </a:r>
                    </a:p>
                  </a:txBody>
                  <a:tcPr/>
                </a:tc>
                <a:tc>
                  <a:txBody>
                    <a:bodyPr/>
                    <a:lstStyle/>
                    <a:p>
                      <a:r>
                        <a:rPr sz="1019" b="0">
                          <a:solidFill>
                            <a:srgbClr val="000000"/>
                          </a:solidFill>
                        </a:rPr>
                        <a:t>gemini-3.7-flash — verified</a:t>
                      </a:r>
                    </a:p>
                  </a:txBody>
                  <a:tcPr/>
                </a:tc>
              </a:tr>
              <a:tr h="104775">
                <a:tc>
                  <a:txBody>
                    <a:bodyPr/>
                    <a:lstStyle/>
                    <a:p>
                      <a:r>
                        <a:rPr sz="1019" b="0">
                          <a:solidFill>
                            <a:srgbClr val="000000"/>
                          </a:solidFill>
                        </a:rPr>
                        <a:t>narration: discussion</a:t>
                      </a:r>
                    </a:p>
                  </a:txBody>
                  <a:tcPr/>
                </a:tc>
                <a:tc>
                  <a:txBody>
                    <a:bodyPr/>
                    <a:lstStyle/>
                    <a:p>
                      <a:r>
                        <a:rPr sz="1019" b="0">
                          <a:solidFill>
                            <a:srgbClr val="000000"/>
                          </a:solidFill>
                        </a:rPr>
                        <a:t>gemini-3.7-flash — verified</a:t>
                      </a:r>
                    </a:p>
                  </a:txBody>
                  <a:tcPr/>
                </a:tc>
              </a:tr>
              <a:tr h="104775">
                <a:tc>
                  <a:txBody>
                    <a:bodyPr/>
                    <a:lstStyle/>
                    <a:p>
                      <a:r>
                        <a:rPr sz="1019" b="0">
                          <a:solidFill>
                            <a:srgbClr val="000000"/>
                          </a:solidFill>
                        </a:rPr>
                        <a:t>narration: conclusions</a:t>
                      </a:r>
                    </a:p>
                  </a:txBody>
                  <a:tcPr/>
                </a:tc>
                <a:tc>
                  <a:txBody>
                    <a:bodyPr/>
                    <a:lstStyle/>
                    <a:p>
                      <a:r>
                        <a:rPr sz="1019" b="0">
                          <a:solidFill>
                            <a:srgbClr val="000000"/>
                          </a:solidFill>
                        </a:rPr>
                        <a:t>gemini-3.7-flash — verified</a:t>
                      </a:r>
                    </a:p>
                  </a:txBody>
                  <a:tcPr/>
                </a:tc>
              </a:tr>
              <a:tr h="104775">
                <a:tc>
                  <a:txBody>
                    <a:bodyPr/>
                    <a:lstStyle/>
                    <a:p>
                      <a:r>
                        <a:rPr sz="1019" b="0">
                          <a:solidFill>
                            <a:srgbClr val="000000"/>
                          </a:solidFill>
                        </a:rPr>
                        <a:t>narration: limitations</a:t>
                      </a:r>
                    </a:p>
                  </a:txBody>
                  <a:tcPr/>
                </a:tc>
                <a:tc>
                  <a:txBody>
                    <a:bodyPr/>
                    <a:lstStyle/>
                    <a:p>
                      <a:r>
                        <a:rPr sz="1019" b="0">
                          <a:solidFill>
                            <a:srgbClr val="000000"/>
                          </a:solidFill>
                        </a:rPr>
                        <a:t>gemini-3.7-flash — verified</a:t>
                      </a:r>
                    </a:p>
                  </a:txBody>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Tables</a:t>
            </a:r>
          </a:p>
        </p:txBody>
      </p:sp>
      <p:sp>
        <p:nvSpPr>
          <p:cNvPr id="3" name="TextBox 2"/>
          <p:cNvSpPr txBox="1"/>
          <p:nvPr/>
        </p:nvSpPr>
        <p:spPr>
          <a:xfrm>
            <a:off x="914400" y="965200"/>
            <a:ext cx="10363200" cy="508000"/>
          </a:xfrm>
          <a:prstGeom prst="rect">
            <a:avLst/>
          </a:prstGeom>
          <a:noFill/>
        </p:spPr>
        <p:txBody>
          <a:bodyPr wrap="square">
            <a:spAutoFit/>
          </a:bodyPr>
          <a:lstStyle/>
          <a:p>
            <a:r>
              <a:rPr sz="1200" b="1">
                <a:solidFill>
                  <a:srgbClr val="000000"/>
                </a:solidFill>
              </a:rPr>
              <a:t>*Table 1*. The design, as recorded parameters.</a:t>
            </a:r>
          </a:p>
        </p:txBody>
      </p:sp>
      <p:graphicFrame>
        <p:nvGraphicFramePr>
          <p:cNvPr id="4" name="Table 3"/>
          <p:cNvGraphicFramePr>
            <a:graphicFrameLocks noGrp="1"/>
          </p:cNvGraphicFramePr>
          <p:nvPr/>
        </p:nvGraphicFramePr>
        <p:xfrm>
          <a:off x="914400" y="1219200"/>
          <a:ext cx="10363200" cy="4724400"/>
        </p:xfrm>
        <a:graphic>
          <a:graphicData uri="http://schemas.openxmlformats.org/drawingml/2006/table">
            <a:tbl>
              <a:tblPr firstRow="1" bandRow="1">
                <a:tableStyleId>{5C22544A-7EE6-4342-B048-85BDC9FD1C3A}</a:tableStyleId>
              </a:tblPr>
              <a:tblGrid>
                <a:gridCol w="3454400"/>
                <a:gridCol w="3454400"/>
                <a:gridCol w="3454400"/>
              </a:tblGrid>
              <a:tr h="174977">
                <a:tc>
                  <a:txBody>
                    <a:bodyPr/>
                    <a:lstStyle/>
                    <a:p>
                      <a:r>
                        <a:rPr sz="1019" b="1">
                          <a:solidFill>
                            <a:srgbClr val="000000"/>
                          </a:solidFill>
                        </a:rPr>
                        <a:t>Step</a:t>
                      </a:r>
                    </a:p>
                  </a:txBody>
                  <a:tcPr/>
                </a:tc>
                <a:tc>
                  <a:txBody>
                    <a:bodyPr/>
                    <a:lstStyle/>
                    <a:p>
                      <a:r>
                        <a:rPr sz="1019" b="1">
                          <a:solidFill>
                            <a:srgbClr val="000000"/>
                          </a:solidFill>
                        </a:rPr>
                        <a:t>Parameter</a:t>
                      </a:r>
                    </a:p>
                  </a:txBody>
                  <a:tcPr/>
                </a:tc>
                <a:tc>
                  <a:txBody>
                    <a:bodyPr/>
                    <a:lstStyle/>
                    <a:p>
                      <a:r>
                        <a:rPr sz="1019" b="1">
                          <a:solidFill>
                            <a:srgbClr val="000000"/>
                          </a:solidFill>
                        </a:rPr>
                        <a:t>Value</a:t>
                      </a:r>
                    </a:p>
                  </a:txBody>
                  <a:tcPr/>
                </a:tc>
              </a:tr>
              <a:tr h="174977">
                <a:tc>
                  <a:txBody>
                    <a:bodyPr/>
                    <a:lstStyle/>
                    <a:p>
                      <a:r>
                        <a:rPr sz="1019" b="0">
                          <a:solidFill>
                            <a:srgbClr val="000000"/>
                          </a:solidFill>
                        </a:rPr>
                        <a:t>Identification</a:t>
                      </a:r>
                    </a:p>
                  </a:txBody>
                  <a:tcPr/>
                </a:tc>
                <a:tc>
                  <a:txBody>
                    <a:bodyPr/>
                    <a:lstStyle/>
                    <a:p>
                      <a:r>
                        <a:rPr sz="1019" b="0">
                          <a:solidFill>
                            <a:srgbClr val="000000"/>
                          </a:solidFill>
                        </a:rPr>
                        <a:t>graph</a:t>
                      </a:r>
                    </a:p>
                  </a:txBody>
                  <a:tcPr/>
                </a:tc>
                <a:tc>
                  <a:txBody>
                    <a:bodyPr/>
                    <a:lstStyle/>
                    <a:p>
                      <a:r>
                        <a:rPr sz="1019" b="0">
                          <a:solidFill>
                            <a:srgbClr val="000000"/>
                          </a:solidFill>
                        </a:rPr>
                        <a:t>poverty_share -&gt; gain, resources -&gt; gain, resources -&gt; poverty_share, tutoring -&gt; gain</a:t>
                      </a:r>
                    </a:p>
                  </a:txBody>
                  <a:tcPr/>
                </a:tc>
              </a:tr>
              <a:tr h="174977">
                <a:tc>
                  <a:txBody>
                    <a:bodyPr/>
                    <a:lstStyle/>
                    <a:p>
                      <a:r>
                        <a:rPr sz="1019" b="0">
                          <a:solidFill>
                            <a:srgbClr val="000000"/>
                          </a:solidFill>
                        </a:rPr>
                        <a:t>Identification</a:t>
                      </a:r>
                    </a:p>
                  </a:txBody>
                  <a:tcPr/>
                </a:tc>
                <a:tc>
                  <a:txBody>
                    <a:bodyPr/>
                    <a:lstStyle/>
                    <a:p>
                      <a:r>
                        <a:rPr sz="1019" b="0">
                          <a:solidFill>
                            <a:srgbClr val="000000"/>
                          </a:solidFill>
                        </a:rPr>
                        <a:t>graph hash</a:t>
                      </a:r>
                    </a:p>
                  </a:txBody>
                  <a:tcPr/>
                </a:tc>
                <a:tc>
                  <a:txBody>
                    <a:bodyPr/>
                    <a:lstStyle/>
                    <a:p>
                      <a:r>
                        <a:rPr sz="1019" b="0">
                          <a:solidFill>
                            <a:srgbClr val="000000"/>
                          </a:solidFill>
                        </a:rPr>
                        <a:t>488a01d83085</a:t>
                      </a:r>
                    </a:p>
                  </a:txBody>
                  <a:tcPr/>
                </a:tc>
              </a:tr>
              <a:tr h="174977">
                <a:tc>
                  <a:txBody>
                    <a:bodyPr/>
                    <a:lstStyle/>
                    <a:p>
                      <a:r>
                        <a:rPr sz="1019" b="0">
                          <a:solidFill>
                            <a:srgbClr val="000000"/>
                          </a:solidFill>
                        </a:rPr>
                        <a:t>Identification</a:t>
                      </a:r>
                    </a:p>
                  </a:txBody>
                  <a:tcPr/>
                </a:tc>
                <a:tc>
                  <a:txBody>
                    <a:bodyPr/>
                    <a:lstStyle/>
                    <a:p>
                      <a:r>
                        <a:rPr sz="1019" b="0">
                          <a:solidFill>
                            <a:srgbClr val="000000"/>
                          </a:solidFill>
                        </a:rPr>
                        <a:t>route</a:t>
                      </a:r>
                    </a:p>
                  </a:txBody>
                  <a:tcPr/>
                </a:tc>
                <a:tc>
                  <a:txBody>
                    <a:bodyPr/>
                    <a:lstStyle/>
                    <a:p>
                      <a:r>
                        <a:rPr sz="1019" b="0">
                          <a:solidFill>
                            <a:srgbClr val="000000"/>
                          </a:solidFill>
                        </a:rPr>
                        <a:t>backdoor</a:t>
                      </a:r>
                    </a:p>
                  </a:txBody>
                  <a:tcPr/>
                </a:tc>
              </a:tr>
              <a:tr h="174977">
                <a:tc>
                  <a:txBody>
                    <a:bodyPr/>
                    <a:lstStyle/>
                    <a:p>
                      <a:r>
                        <a:rPr sz="1019" b="0">
                          <a:solidFill>
                            <a:srgbClr val="000000"/>
                          </a:solidFill>
                        </a:rPr>
                        <a:t>Identification</a:t>
                      </a:r>
                    </a:p>
                  </a:txBody>
                  <a:tcPr/>
                </a:tc>
                <a:tc>
                  <a:txBody>
                    <a:bodyPr/>
                    <a:lstStyle/>
                    <a:p>
                      <a:r>
                        <a:rPr sz="1019" b="0">
                          <a:solidFill>
                            <a:srgbClr val="000000"/>
                          </a:solidFill>
                        </a:rPr>
                        <a:t>status</a:t>
                      </a:r>
                    </a:p>
                  </a:txBody>
                  <a:tcPr/>
                </a:tc>
                <a:tc>
                  <a:txBody>
                    <a:bodyPr/>
                    <a:lstStyle/>
                    <a:p>
                      <a:r>
                        <a:rPr sz="1019" b="0">
                          <a:solidFill>
                            <a:srgbClr val="000000"/>
                          </a:solidFill>
                        </a:rPr>
                        <a:t>identified</a:t>
                      </a:r>
                    </a:p>
                  </a:txBody>
                  <a:tcPr/>
                </a:tc>
              </a:tr>
              <a:tr h="174977">
                <a:tc>
                  <a:txBody>
                    <a:bodyPr/>
                    <a:lstStyle/>
                    <a:p>
                      <a:r>
                        <a:rPr sz="1019" b="0">
                          <a:solidFill>
                            <a:srgbClr val="000000"/>
                          </a:solidFill>
                        </a:rPr>
                        <a:t>Identification</a:t>
                      </a:r>
                    </a:p>
                  </a:txBody>
                  <a:tcPr/>
                </a:tc>
                <a:tc>
                  <a:txBody>
                    <a:bodyPr/>
                    <a:lstStyle/>
                    <a:p>
                      <a:r>
                        <a:rPr sz="1019" b="0">
                          <a:solidFill>
                            <a:srgbClr val="000000"/>
                          </a:solidFill>
                        </a:rPr>
                        <a:t>unmeasured nodes</a:t>
                      </a:r>
                    </a:p>
                  </a:txBody>
                  <a:tcPr/>
                </a:tc>
                <a:tc>
                  <a:txBody>
                    <a:bodyPr/>
                    <a:lstStyle/>
                    <a:p>
                      <a:r>
                        <a:rPr sz="1019" b="0">
                          <a:solidFill>
                            <a:srgbClr val="000000"/>
                          </a:solidFill>
                        </a:rPr>
                        <a:t>resources</a:t>
                      </a:r>
                    </a:p>
                  </a:txBody>
                  <a:tcPr/>
                </a:tc>
              </a:tr>
              <a:tr h="174977">
                <a:tc>
                  <a:txBody>
                    <a:bodyPr/>
                    <a:lstStyle/>
                    <a:p>
                      <a:r>
                        <a:rPr sz="1019" b="0">
                          <a:solidFill>
                            <a:srgbClr val="000000"/>
                          </a:solidFill>
                        </a:rPr>
                        <a:t>The decision as arithmetic</a:t>
                      </a:r>
                    </a:p>
                  </a:txBody>
                  <a:tcPr/>
                </a:tc>
                <a:tc>
                  <a:txBody>
                    <a:bodyPr/>
                    <a:lstStyle/>
                    <a:p>
                      <a:r>
                        <a:rPr sz="1019" b="0">
                          <a:solidFill>
                            <a:srgbClr val="000000"/>
                          </a:solidFill>
                        </a:rPr>
                        <a:t>budget (USD)</a:t>
                      </a:r>
                    </a:p>
                  </a:txBody>
                  <a:tcPr/>
                </a:tc>
                <a:tc>
                  <a:txBody>
                    <a:bodyPr/>
                    <a:lstStyle/>
                    <a:p>
                      <a:r>
                        <a:rPr sz="1019" b="0">
                          <a:solidFill>
                            <a:srgbClr val="000000"/>
                          </a:solidFill>
                        </a:rPr>
                        <a:t>9,000,000</a:t>
                      </a:r>
                    </a:p>
                  </a:txBody>
                  <a:tcPr/>
                </a:tc>
              </a:tr>
              <a:tr h="174977">
                <a:tc>
                  <a:txBody>
                    <a:bodyPr/>
                    <a:lstStyle/>
                    <a:p>
                      <a:r>
                        <a:rPr sz="1019" b="0">
                          <a:solidFill>
                            <a:srgbClr val="000000"/>
                          </a:solidFill>
                        </a:rPr>
                        <a:t>The decision as arithmetic</a:t>
                      </a:r>
                    </a:p>
                  </a:txBody>
                  <a:tcPr/>
                </a:tc>
                <a:tc>
                  <a:txBody>
                    <a:bodyPr/>
                    <a:lstStyle/>
                    <a:p>
                      <a:r>
                        <a:rPr sz="1019" b="0">
                          <a:solidFill>
                            <a:srgbClr val="000000"/>
                          </a:solidFill>
                        </a:rPr>
                        <a:t>eligible students</a:t>
                      </a:r>
                    </a:p>
                  </a:txBody>
                  <a:tcPr/>
                </a:tc>
                <a:tc>
                  <a:txBody>
                    <a:bodyPr/>
                    <a:lstStyle/>
                    <a:p>
                      <a:r>
                        <a:rPr sz="1019" b="0">
                          <a:solidFill>
                            <a:srgbClr val="000000"/>
                          </a:solidFill>
                        </a:rPr>
                        <a:t>12,000</a:t>
                      </a:r>
                    </a:p>
                  </a:txBody>
                  <a:tcPr/>
                </a:tc>
              </a:tr>
              <a:tr h="174977">
                <a:tc>
                  <a:txBody>
                    <a:bodyPr/>
                    <a:lstStyle/>
                    <a:p>
                      <a:r>
                        <a:rPr sz="1019" b="0">
                          <a:solidFill>
                            <a:srgbClr val="000000"/>
                          </a:solidFill>
                        </a:rPr>
                        <a:t>The decision as arithmetic</a:t>
                      </a:r>
                    </a:p>
                  </a:txBody>
                  <a:tcPr/>
                </a:tc>
                <a:tc>
                  <a:txBody>
                    <a:bodyPr/>
                    <a:lstStyle/>
                    <a:p>
                      <a:r>
                        <a:rPr sz="1019" b="0">
                          <a:solidFill>
                            <a:srgbClr val="000000"/>
                          </a:solidFill>
                        </a:rPr>
                        <a:t>messaging dose range (USD)</a:t>
                      </a:r>
                    </a:p>
                  </a:txBody>
                  <a:tcPr/>
                </a:tc>
                <a:tc>
                  <a:txBody>
                    <a:bodyPr/>
                    <a:lstStyle/>
                    <a:p>
                      <a:r>
                        <a:rPr sz="1019" b="0">
                          <a:solidFill>
                            <a:srgbClr val="000000"/>
                          </a:solidFill>
                        </a:rPr>
                        <a:t>0 to 45</a:t>
                      </a:r>
                    </a:p>
                  </a:txBody>
                  <a:tcPr/>
                </a:tc>
              </a:tr>
              <a:tr h="174977">
                <a:tc>
                  <a:txBody>
                    <a:bodyPr/>
                    <a:lstStyle/>
                    <a:p>
                      <a:r>
                        <a:rPr sz="1019" b="0">
                          <a:solidFill>
                            <a:srgbClr val="000000"/>
                          </a:solidFill>
                        </a:rPr>
                        <a:t>The decision as arithmetic</a:t>
                      </a:r>
                    </a:p>
                  </a:txBody>
                  <a:tcPr/>
                </a:tc>
                <a:tc>
                  <a:txBody>
                    <a:bodyPr/>
                    <a:lstStyle/>
                    <a:p>
                      <a:r>
                        <a:rPr sz="1019" b="0">
                          <a:solidFill>
                            <a:srgbClr val="000000"/>
                          </a:solidFill>
                        </a:rPr>
                        <a:t>per student if all are reached (USD)</a:t>
                      </a:r>
                    </a:p>
                  </a:txBody>
                  <a:tcPr/>
                </a:tc>
                <a:tc>
                  <a:txBody>
                    <a:bodyPr/>
                    <a:lstStyle/>
                    <a:p>
                      <a:r>
                        <a:rPr sz="1019" b="0">
                          <a:solidFill>
                            <a:srgbClr val="000000"/>
                          </a:solidFill>
                        </a:rPr>
                        <a:t>750</a:t>
                      </a:r>
                    </a:p>
                  </a:txBody>
                  <a:tcPr/>
                </a:tc>
              </a:tr>
              <a:tr h="174977">
                <a:tc>
                  <a:txBody>
                    <a:bodyPr/>
                    <a:lstStyle/>
                    <a:p>
                      <a:r>
                        <a:rPr sz="1019" b="0">
                          <a:solidFill>
                            <a:srgbClr val="000000"/>
                          </a:solidFill>
                        </a:rPr>
                        <a:t>The decision as arithmetic</a:t>
                      </a:r>
                    </a:p>
                  </a:txBody>
                  <a:tcPr/>
                </a:tc>
                <a:tc>
                  <a:txBody>
                    <a:bodyPr/>
                    <a:lstStyle/>
                    <a:p>
                      <a:r>
                        <a:rPr sz="1019" b="0">
                          <a:solidFill>
                            <a:srgbClr val="000000"/>
                          </a:solidFill>
                        </a:rPr>
                        <a:t>tutoring dose range (USD)</a:t>
                      </a:r>
                    </a:p>
                  </a:txBody>
                  <a:tcPr/>
                </a:tc>
                <a:tc>
                  <a:txBody>
                    <a:bodyPr/>
                    <a:lstStyle/>
                    <a:p>
                      <a:r>
                        <a:rPr sz="1019" b="0">
                          <a:solidFill>
                            <a:srgbClr val="000000"/>
                          </a:solidFill>
                        </a:rPr>
                        <a:t>0 to 3,000</a:t>
                      </a:r>
                    </a:p>
                  </a:txBody>
                  <a:tcPr/>
                </a:tc>
              </a:tr>
              <a:tr h="174977">
                <a:tc>
                  <a:txBody>
                    <a:bodyPr/>
                    <a:lstStyle/>
                    <a:p>
                      <a:r>
                        <a:rPr sz="1019" b="0">
                          <a:solidFill>
                            <a:srgbClr val="000000"/>
                          </a:solidFill>
                        </a:rPr>
                        <a:t>Planning the trial</a:t>
                      </a:r>
                    </a:p>
                  </a:txBody>
                  <a:tcPr/>
                </a:tc>
                <a:tc>
                  <a:txBody>
                    <a:bodyPr/>
                    <a:lstStyle/>
                    <a:p>
                      <a:r>
                        <a:rPr sz="1019" b="0">
                          <a:solidFill>
                            <a:srgbClr val="000000"/>
                          </a:solidFill>
                        </a:rPr>
                        <a:t>eligible per school</a:t>
                      </a:r>
                    </a:p>
                  </a:txBody>
                  <a:tcPr/>
                </a:tc>
                <a:tc>
                  <a:txBody>
                    <a:bodyPr/>
                    <a:lstStyle/>
                    <a:p>
                      <a:r>
                        <a:rPr sz="1019" b="0">
                          <a:solidFill>
                            <a:srgbClr val="000000"/>
                          </a:solidFill>
                        </a:rPr>
                        <a:t>35–65</a:t>
                      </a:r>
                    </a:p>
                  </a:txBody>
                  <a:tcPr/>
                </a:tc>
              </a:tr>
              <a:tr h="174977">
                <a:tc>
                  <a:txBody>
                    <a:bodyPr/>
                    <a:lstStyle/>
                    <a:p>
                      <a:r>
                        <a:rPr sz="1019" b="0">
                          <a:solidFill>
                            <a:srgbClr val="000000"/>
                          </a:solidFill>
                        </a:rPr>
                        <a:t>Planning the trial</a:t>
                      </a:r>
                    </a:p>
                  </a:txBody>
                  <a:tcPr/>
                </a:tc>
                <a:tc>
                  <a:txBody>
                    <a:bodyPr/>
                    <a:lstStyle/>
                    <a:p>
                      <a:r>
                        <a:rPr sz="1019" b="0">
                          <a:solidFill>
                            <a:srgbClr val="000000"/>
                          </a:solidFill>
                        </a:rPr>
                        <a:t>messaging levels</a:t>
                      </a:r>
                    </a:p>
                  </a:txBody>
                  <a:tcPr/>
                </a:tc>
                <a:tc>
                  <a:txBody>
                    <a:bodyPr/>
                    <a:lstStyle/>
                    <a:p>
                      <a:r>
                        <a:rPr sz="1019" b="0">
                          <a:solidFill>
                            <a:srgbClr val="000000"/>
                          </a:solidFill>
                        </a:rPr>
                        <a:t>0, 18, 45</a:t>
                      </a:r>
                    </a:p>
                  </a:txBody>
                  <a:tcPr/>
                </a:tc>
              </a:tr>
              <a:tr h="174977">
                <a:tc>
                  <a:txBody>
                    <a:bodyPr/>
                    <a:lstStyle/>
                    <a:p>
                      <a:r>
                        <a:rPr sz="1019" b="0">
                          <a:solidFill>
                            <a:srgbClr val="000000"/>
                          </a:solidFill>
                        </a:rPr>
                        <a:t>Planning the trial</a:t>
                      </a:r>
                    </a:p>
                  </a:txBody>
                  <a:tcPr/>
                </a:tc>
                <a:tc>
                  <a:txBody>
                    <a:bodyPr/>
                    <a:lstStyle/>
                    <a:p>
                      <a:r>
                        <a:rPr sz="1019" b="0">
                          <a:solidFill>
                            <a:srgbClr val="000000"/>
                          </a:solidFill>
                        </a:rPr>
                        <a:t>schools</a:t>
                      </a:r>
                    </a:p>
                  </a:txBody>
                  <a:tcPr/>
                </a:tc>
                <a:tc>
                  <a:txBody>
                    <a:bodyPr/>
                    <a:lstStyle/>
                    <a:p>
                      <a:r>
                        <a:rPr sz="1019" b="0">
                          <a:solidFill>
                            <a:srgbClr val="000000"/>
                          </a:solidFill>
                        </a:rPr>
                        <a:t>120</a:t>
                      </a:r>
                    </a:p>
                  </a:txBody>
                  <a:tcPr/>
                </a:tc>
              </a:tr>
              <a:tr h="174977">
                <a:tc>
                  <a:txBody>
                    <a:bodyPr/>
                    <a:lstStyle/>
                    <a:p>
                      <a:r>
                        <a:rPr sz="1019" b="0">
                          <a:solidFill>
                            <a:srgbClr val="000000"/>
                          </a:solidFill>
                        </a:rPr>
                        <a:t>Planning the trial</a:t>
                      </a:r>
                    </a:p>
                  </a:txBody>
                  <a:tcPr/>
                </a:tc>
                <a:tc>
                  <a:txBody>
                    <a:bodyPr/>
                    <a:lstStyle/>
                    <a:p>
                      <a:r>
                        <a:rPr sz="1019" b="0">
                          <a:solidFill>
                            <a:srgbClr val="000000"/>
                          </a:solidFill>
                        </a:rPr>
                        <a:t>unit of assignment</a:t>
                      </a:r>
                    </a:p>
                  </a:txBody>
                  <a:tcPr/>
                </a:tc>
                <a:tc>
                  <a:txBody>
                    <a:bodyPr/>
                    <a:lstStyle/>
                    <a:p>
                      <a:r>
                        <a:rPr sz="1019" b="0">
                          <a:solidFill>
                            <a:srgbClr val="000000"/>
                          </a:solidFill>
                        </a:rPr>
                        <a:t>school</a:t>
                      </a:r>
                    </a:p>
                  </a:txBody>
                  <a:tcPr/>
                </a:tc>
              </a:tr>
              <a:tr h="174977">
                <a:tc>
                  <a:txBody>
                    <a:bodyPr/>
                    <a:lstStyle/>
                    <a:p>
                      <a:r>
                        <a:rPr sz="1019" b="0">
                          <a:solidFill>
                            <a:srgbClr val="000000"/>
                          </a:solidFill>
                        </a:rPr>
                        <a:t>Estimating the response</a:t>
                      </a:r>
                    </a:p>
                  </a:txBody>
                  <a:tcPr/>
                </a:tc>
                <a:tc>
                  <a:txBody>
                    <a:bodyPr/>
                    <a:lstStyle/>
                    <a:p>
                      <a:r>
                        <a:rPr sz="1019" b="0">
                          <a:solidFill>
                            <a:srgbClr val="000000"/>
                          </a:solidFill>
                        </a:rPr>
                        <a:t>fit hash</a:t>
                      </a:r>
                    </a:p>
                  </a:txBody>
                  <a:tcPr/>
                </a:tc>
                <a:tc>
                  <a:txBody>
                    <a:bodyPr/>
                    <a:lstStyle/>
                    <a:p>
                      <a:r>
                        <a:rPr sz="1019" b="0">
                          <a:solidFill>
                            <a:srgbClr val="000000"/>
                          </a:solidFill>
                        </a:rPr>
                        <a:t>c878161a12a5</a:t>
                      </a:r>
                    </a:p>
                  </a:txBody>
                  <a:tcPr/>
                </a:tc>
              </a:tr>
              <a:tr h="174977">
                <a:tc>
                  <a:txBody>
                    <a:bodyPr/>
                    <a:lstStyle/>
                    <a:p>
                      <a:r>
                        <a:rPr sz="1019" b="0">
                          <a:solidFill>
                            <a:srgbClr val="000000"/>
                          </a:solidFill>
                        </a:rPr>
                        <a:t>Estimating the response</a:t>
                      </a:r>
                    </a:p>
                  </a:txBody>
                  <a:tcPr/>
                </a:tc>
                <a:tc>
                  <a:txBody>
                    <a:bodyPr/>
                    <a:lstStyle/>
                    <a:p>
                      <a:r>
                        <a:rPr sz="1019" b="0">
                          <a:solidFill>
                            <a:srgbClr val="000000"/>
                          </a:solidFill>
                        </a:rPr>
                        <a:t>interval mass</a:t>
                      </a:r>
                    </a:p>
                  </a:txBody>
                  <a:tcPr/>
                </a:tc>
                <a:tc>
                  <a:txBody>
                    <a:bodyPr/>
                    <a:lstStyle/>
                    <a:p>
                      <a:r>
                        <a:rPr sz="1019" b="0">
                          <a:solidFill>
                            <a:srgbClr val="000000"/>
                          </a:solidFill>
                        </a:rPr>
                        <a:t>90%</a:t>
                      </a:r>
                    </a:p>
                  </a:txBody>
                  <a:tcPr/>
                </a:tc>
              </a:tr>
              <a:tr h="174977">
                <a:tc>
                  <a:txBody>
                    <a:bodyPr/>
                    <a:lstStyle/>
                    <a:p>
                      <a:r>
                        <a:rPr sz="1019" b="0">
                          <a:solidFill>
                            <a:srgbClr val="000000"/>
                          </a:solidFill>
                        </a:rPr>
                        <a:t>Estimating the response</a:t>
                      </a:r>
                    </a:p>
                  </a:txBody>
                  <a:tcPr/>
                </a:tc>
                <a:tc>
                  <a:txBody>
                    <a:bodyPr/>
                    <a:lstStyle/>
                    <a:p>
                      <a:r>
                        <a:rPr sz="1019" b="0">
                          <a:solidFill>
                            <a:srgbClr val="000000"/>
                          </a:solidFill>
                        </a:rPr>
                        <a:t>posterior draws</a:t>
                      </a:r>
                    </a:p>
                  </a:txBody>
                  <a:tcPr/>
                </a:tc>
                <a:tc>
                  <a:txBody>
                    <a:bodyPr/>
                    <a:lstStyle/>
                    <a:p>
                      <a:r>
                        <a:rPr sz="1019" b="0">
                          <a:solidFill>
                            <a:srgbClr val="000000"/>
                          </a:solidFill>
                        </a:rPr>
                        <a:t>4,000</a:t>
                      </a:r>
                    </a:p>
                  </a:txBody>
                  <a:tcPr/>
                </a:tc>
              </a:tr>
              <a:tr h="174977">
                <a:tc>
                  <a:txBody>
                    <a:bodyPr/>
                    <a:lstStyle/>
                    <a:p>
                      <a:r>
                        <a:rPr sz="1019" b="0">
                          <a:solidFill>
                            <a:srgbClr val="000000"/>
                          </a:solidFill>
                        </a:rPr>
                        <a:t>Estimating the response</a:t>
                      </a:r>
                    </a:p>
                  </a:txBody>
                  <a:tcPr/>
                </a:tc>
                <a:tc>
                  <a:txBody>
                    <a:bodyPr/>
                    <a:lstStyle/>
                    <a:p>
                      <a:r>
                        <a:rPr sz="1019" b="0">
                          <a:solidFill>
                            <a:srgbClr val="000000"/>
                          </a:solidFill>
                        </a:rPr>
                        <a:t>response family</a:t>
                      </a:r>
                    </a:p>
                  </a:txBody>
                  <a:tcPr/>
                </a:tc>
                <a:tc>
                  <a:txBody>
                    <a:bodyPr/>
                    <a:lstStyle/>
                    <a:p>
                      <a:r>
                        <a:rPr sz="1019" b="0">
                          <a:solidFill>
                            <a:srgbClr val="000000"/>
                          </a:solidFill>
                        </a:rPr>
                        <a:t>spline in both doses</a:t>
                      </a:r>
                    </a:p>
                  </a:txBody>
                  <a:tcPr/>
                </a:tc>
              </a:tr>
              <a:tr h="174977">
                <a:tc>
                  <a:txBody>
                    <a:bodyPr/>
                    <a:lstStyle/>
                    <a:p>
                      <a:r>
                        <a:rPr sz="1019" b="0">
                          <a:solidFill>
                            <a:srgbClr val="000000"/>
                          </a:solidFill>
                        </a:rPr>
                        <a:t>Estimating the response</a:t>
                      </a:r>
                    </a:p>
                  </a:txBody>
                  <a:tcPr/>
                </a:tc>
                <a:tc>
                  <a:txBody>
                    <a:bodyPr/>
                    <a:lstStyle/>
                    <a:p>
                      <a:r>
                        <a:rPr sz="1019" b="0">
                          <a:solidFill>
                            <a:srgbClr val="000000"/>
                          </a:solidFill>
                        </a:rPr>
                        <a:t>sampler</a:t>
                      </a:r>
                    </a:p>
                  </a:txBody>
                  <a:tcPr/>
                </a:tc>
                <a:tc>
                  <a:txBody>
                    <a:bodyPr/>
                    <a:lstStyle/>
                    <a:p>
                      <a:r>
                        <a:rPr sz="1019" b="0">
                          <a:solidFill>
                            <a:srgbClr val="000000"/>
                          </a:solidFill>
                        </a:rPr>
                        <a:t>PyMC via nutpie</a:t>
                      </a:r>
                    </a:p>
                  </a:txBody>
                  <a:tcPr/>
                </a:tc>
              </a:tr>
              <a:tr h="174977">
                <a:tc>
                  <a:txBody>
                    <a:bodyPr/>
                    <a:lstStyle/>
                    <a:p>
                      <a:r>
                        <a:rPr sz="1019" b="0">
                          <a:solidFill>
                            <a:srgbClr val="000000"/>
                          </a:solidFill>
                        </a:rPr>
                        <a:t>Choosing the allocation</a:t>
                      </a:r>
                    </a:p>
                  </a:txBody>
                  <a:tcPr/>
                </a:tc>
                <a:tc>
                  <a:txBody>
                    <a:bodyPr/>
                    <a:lstStyle/>
                    <a:p>
                      <a:r>
                        <a:rPr sz="1019" b="0">
                          <a:solidFill>
                            <a:srgbClr val="000000"/>
                          </a:solidFill>
                        </a:rPr>
                        <a:t>allocate() at the budget</a:t>
                      </a:r>
                    </a:p>
                  </a:txBody>
                  <a:tcPr/>
                </a:tc>
                <a:tc>
                  <a:txBody>
                    <a:bodyPr/>
                    <a:lstStyle/>
                    <a:p>
                      <a:r>
                        <a:rPr sz="1019" b="0">
                          <a:solidFill>
                            <a:srgbClr val="000000"/>
                          </a:solidFill>
                        </a:rPr>
                        <a:t>tutoring 705, messaging 45 (converged)</a:t>
                      </a:r>
                    </a:p>
                  </a:txBody>
                  <a:tcPr/>
                </a:tc>
              </a:tr>
              <a:tr h="174977">
                <a:tc>
                  <a:txBody>
                    <a:bodyPr/>
                    <a:lstStyle/>
                    <a:p>
                      <a:r>
                        <a:rPr sz="1019" b="0">
                          <a:solidFill>
                            <a:srgbClr val="000000"/>
                          </a:solidFill>
                        </a:rPr>
                        <a:t>Choosing the allocation</a:t>
                      </a:r>
                    </a:p>
                  </a:txBody>
                  <a:tcPr/>
                </a:tc>
                <a:tc>
                  <a:txBody>
                    <a:bodyPr/>
                    <a:lstStyle/>
                    <a:p>
                      <a:r>
                        <a:rPr sz="1019" b="0">
                          <a:solidFill>
                            <a:srgbClr val="000000"/>
                          </a:solidFill>
                        </a:rPr>
                        <a:t>messages a week</a:t>
                      </a:r>
                    </a:p>
                  </a:txBody>
                  <a:tcPr/>
                </a:tc>
                <a:tc>
                  <a:txBody>
                    <a:bodyPr/>
                    <a:lstStyle/>
                    <a:p>
                      <a:r>
                        <a:rPr sz="1019" b="0">
                          <a:solidFill>
                            <a:srgbClr val="000000"/>
                          </a:solidFill>
                        </a:rPr>
                        <a:t>5</a:t>
                      </a:r>
                    </a:p>
                  </a:txBody>
                  <a:tcPr/>
                </a:tc>
              </a:tr>
              <a:tr h="174977">
                <a:tc>
                  <a:txBody>
                    <a:bodyPr/>
                    <a:lstStyle/>
                    <a:p>
                      <a:r>
                        <a:rPr sz="1019" b="0">
                          <a:solidFill>
                            <a:srgbClr val="000000"/>
                          </a:solidFill>
                        </a:rPr>
                        <a:t>Choosing the allocation</a:t>
                      </a:r>
                    </a:p>
                  </a:txBody>
                  <a:tcPr/>
                </a:tc>
                <a:tc>
                  <a:txBody>
                    <a:bodyPr/>
                    <a:lstStyle/>
                    <a:p>
                      <a:r>
                        <a:rPr sz="1019" b="0">
                          <a:solidFill>
                            <a:srgbClr val="000000"/>
                          </a:solidFill>
                        </a:rPr>
                        <a:t>recommended messaging (USD)</a:t>
                      </a:r>
                    </a:p>
                  </a:txBody>
                  <a:tcPr/>
                </a:tc>
                <a:tc>
                  <a:txBody>
                    <a:bodyPr/>
                    <a:lstStyle/>
                    <a:p>
                      <a:r>
                        <a:rPr sz="1019" b="0">
                          <a:solidFill>
                            <a:srgbClr val="000000"/>
                          </a:solidFill>
                        </a:rPr>
                        <a:t>45</a:t>
                      </a:r>
                    </a:p>
                  </a:txBody>
                  <a:tcPr/>
                </a:tc>
              </a:tr>
              <a:tr h="174977">
                <a:tc>
                  <a:txBody>
                    <a:bodyPr/>
                    <a:lstStyle/>
                    <a:p>
                      <a:r>
                        <a:rPr sz="1019" b="0">
                          <a:solidFill>
                            <a:srgbClr val="000000"/>
                          </a:solidFill>
                        </a:rPr>
                        <a:t>Choosing the allocation</a:t>
                      </a:r>
                    </a:p>
                  </a:txBody>
                  <a:tcPr/>
                </a:tc>
                <a:tc>
                  <a:txBody>
                    <a:bodyPr/>
                    <a:lstStyle/>
                    <a:p>
                      <a:r>
                        <a:rPr sz="1019" b="0">
                          <a:solidFill>
                            <a:srgbClr val="000000"/>
                          </a:solidFill>
                        </a:rPr>
                        <a:t>recommended tutoring (USD)</a:t>
                      </a:r>
                    </a:p>
                  </a:txBody>
                  <a:tcPr/>
                </a:tc>
                <a:tc>
                  <a:txBody>
                    <a:bodyPr/>
                    <a:lstStyle/>
                    <a:p>
                      <a:r>
                        <a:rPr sz="1019" b="0">
                          <a:solidFill>
                            <a:srgbClr val="000000"/>
                          </a:solidFill>
                        </a:rPr>
                        <a:t>700</a:t>
                      </a:r>
                    </a:p>
                  </a:txBody>
                  <a:tcPr/>
                </a:tc>
              </a:tr>
              <a:tr h="174977">
                <a:tc>
                  <a:txBody>
                    <a:bodyPr/>
                    <a:lstStyle/>
                    <a:p>
                      <a:r>
                        <a:rPr sz="1019" b="0">
                          <a:solidFill>
                            <a:srgbClr val="000000"/>
                          </a:solidFill>
                        </a:rPr>
                        <a:t>Choosing the allocation</a:t>
                      </a:r>
                    </a:p>
                  </a:txBody>
                  <a:tcPr/>
                </a:tc>
                <a:tc>
                  <a:txBody>
                    <a:bodyPr/>
                    <a:lstStyle/>
                    <a:p>
                      <a:r>
                        <a:rPr sz="1019" b="0">
                          <a:solidFill>
                            <a:srgbClr val="000000"/>
                          </a:solidFill>
                        </a:rPr>
                        <a:t>students reached</a:t>
                      </a:r>
                    </a:p>
                  </a:txBody>
                  <a:tcPr/>
                </a:tc>
                <a:tc>
                  <a:txBody>
                    <a:bodyPr/>
                    <a:lstStyle/>
                    <a:p>
                      <a:r>
                        <a:rPr sz="1019" b="0">
                          <a:solidFill>
                            <a:srgbClr val="000000"/>
                          </a:solidFill>
                        </a:rPr>
                        <a:t>12,000</a:t>
                      </a:r>
                    </a:p>
                  </a:txBody>
                  <a:tcPr/>
                </a:tc>
              </a:tr>
              <a:tr h="174977">
                <a:tc>
                  <a:txBody>
                    <a:bodyPr/>
                    <a:lstStyle/>
                    <a:p>
                      <a:r>
                        <a:rPr sz="1019" b="0">
                          <a:solidFill>
                            <a:srgbClr val="000000"/>
                          </a:solidFill>
                        </a:rPr>
                        <a:t>Choosing the allocation</a:t>
                      </a:r>
                    </a:p>
                  </a:txBody>
                  <a:tcPr/>
                </a:tc>
                <a:tc>
                  <a:txBody>
                    <a:bodyPr/>
                    <a:lstStyle/>
                    <a:p>
                      <a:r>
                        <a:rPr sz="1019" b="0">
                          <a:solidFill>
                            <a:srgbClr val="000000"/>
                          </a:solidFill>
                        </a:rPr>
                        <a:t>weekly minutes</a:t>
                      </a:r>
                    </a:p>
                  </a:txBody>
                  <a:tcPr/>
                </a:tc>
                <a:tc>
                  <a:txBody>
                    <a:bodyPr/>
                    <a:lstStyle/>
                    <a:p>
                      <a:r>
                        <a:rPr sz="1019" b="0">
                          <a:solidFill>
                            <a:srgbClr val="000000"/>
                          </a:solidFill>
                        </a:rPr>
                        <a:t>35</a:t>
                      </a:r>
                    </a:p>
                  </a:txBody>
                  <a:tcPr/>
                </a:tc>
              </a:tr>
              <a:tr h="174998">
                <a:tc>
                  <a:txBody>
                    <a:bodyPr/>
                    <a:lstStyle/>
                    <a:p>
                      <a:r>
                        <a:rPr sz="1019" b="0">
                          <a:solidFill>
                            <a:srgbClr val="000000"/>
                          </a:solidFill>
                        </a:rPr>
                        <a:t>Choosing the allocation</a:t>
                      </a:r>
                    </a:p>
                  </a:txBody>
                  <a:tcPr/>
                </a:tc>
                <a:tc>
                  <a:txBody>
                    <a:bodyPr/>
                    <a:lstStyle/>
                    <a:p>
                      <a:r>
                        <a:rPr sz="1019" b="0">
                          <a:solidFill>
                            <a:srgbClr val="000000"/>
                          </a:solidFill>
                        </a:rPr>
                        <a:t>within 2% of the best (USD)</a:t>
                      </a:r>
                    </a:p>
                  </a:txBody>
                  <a:tcPr/>
                </a:tc>
                <a:tc>
                  <a:txBody>
                    <a:bodyPr/>
                    <a:lstStyle/>
                    <a:p>
                      <a:r>
                        <a:rPr sz="1019" b="0">
                          <a:solidFill>
                            <a:srgbClr val="000000"/>
                          </a:solidFill>
                        </a:rPr>
                        <a:t>700 to 750</a:t>
                      </a:r>
                    </a:p>
                  </a:txBody>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Tables (cont.)</a:t>
            </a:r>
          </a:p>
        </p:txBody>
      </p:sp>
      <p:sp>
        <p:nvSpPr>
          <p:cNvPr id="3" name="TextBox 2"/>
          <p:cNvSpPr txBox="1"/>
          <p:nvPr/>
        </p:nvSpPr>
        <p:spPr>
          <a:xfrm>
            <a:off x="914400" y="965200"/>
            <a:ext cx="10363200" cy="508000"/>
          </a:xfrm>
          <a:prstGeom prst="rect">
            <a:avLst/>
          </a:prstGeom>
          <a:noFill/>
        </p:spPr>
        <p:txBody>
          <a:bodyPr wrap="square">
            <a:spAutoFit/>
          </a:bodyPr>
          <a:lstStyle/>
          <a:p>
            <a:r>
              <a:rPr sz="1200" b="1">
                <a:solidFill>
                  <a:srgbClr val="000000"/>
                </a:solidFill>
              </a:rPr>
              <a:t>*Table 2*. Estimated quantities with their intervals and thresholds.</a:t>
            </a:r>
          </a:p>
        </p:txBody>
      </p:sp>
      <p:graphicFrame>
        <p:nvGraphicFramePr>
          <p:cNvPr id="4" name="Table 3"/>
          <p:cNvGraphicFramePr>
            <a:graphicFrameLocks noGrp="1"/>
          </p:cNvGraphicFramePr>
          <p:nvPr/>
        </p:nvGraphicFramePr>
        <p:xfrm>
          <a:off x="914400" y="1219200"/>
          <a:ext cx="10363200" cy="914400"/>
        </p:xfrm>
        <a:graphic>
          <a:graphicData uri="http://schemas.openxmlformats.org/drawingml/2006/table">
            <a:tbl>
              <a:tblPr firstRow="1" bandRow="1">
                <a:tableStyleId>{5C22544A-7EE6-4342-B048-85BDC9FD1C3A}</a:tableStyleId>
              </a:tblPr>
              <a:tblGrid>
                <a:gridCol w="1727200"/>
                <a:gridCol w="1727200"/>
                <a:gridCol w="1727200"/>
                <a:gridCol w="1727200"/>
                <a:gridCol w="1727200"/>
                <a:gridCol w="1727200"/>
              </a:tblGrid>
              <a:tr h="304800">
                <a:tc>
                  <a:txBody>
                    <a:bodyPr/>
                    <a:lstStyle/>
                    <a:p>
                      <a:r>
                        <a:rPr sz="1019" b="1">
                          <a:solidFill>
                            <a:srgbClr val="000000"/>
                          </a:solidFill>
                        </a:rPr>
                        <a:t>Quantity</a:t>
                      </a:r>
                    </a:p>
                  </a:txBody>
                  <a:tcPr/>
                </a:tc>
                <a:tc>
                  <a:txBody>
                    <a:bodyPr/>
                    <a:lstStyle/>
                    <a:p>
                      <a:r>
                        <a:rPr sz="1019" b="1">
                          <a:solidFill>
                            <a:srgbClr val="000000"/>
                          </a:solidFill>
                        </a:rPr>
                        <a:t>Estimate</a:t>
                      </a:r>
                    </a:p>
                  </a:txBody>
                  <a:tcPr/>
                </a:tc>
                <a:tc>
                  <a:txBody>
                    <a:bodyPr/>
                    <a:lstStyle/>
                    <a:p>
                      <a:r>
                        <a:rPr sz="1019" b="1">
                          <a:solidFill>
                            <a:srgbClr val="000000"/>
                          </a:solidFill>
                        </a:rPr>
                        <a:t>Unit</a:t>
                      </a:r>
                    </a:p>
                  </a:txBody>
                  <a:tcPr/>
                </a:tc>
                <a:tc>
                  <a:txBody>
                    <a:bodyPr/>
                    <a:lstStyle/>
                    <a:p>
                      <a:r>
                        <a:rPr sz="1019" b="1">
                          <a:solidFill>
                            <a:srgbClr val="000000"/>
                          </a:solidFill>
                        </a:rPr>
                        <a:t>Interval</a:t>
                      </a:r>
                    </a:p>
                  </a:txBody>
                  <a:tcPr/>
                </a:tc>
                <a:tc>
                  <a:txBody>
                    <a:bodyPr/>
                    <a:lstStyle/>
                    <a:p>
                      <a:r>
                        <a:rPr sz="1019" b="1">
                          <a:solidFill>
                            <a:srgbClr val="000000"/>
                          </a:solidFill>
                        </a:rPr>
                        <a:t>Threshold</a:t>
                      </a:r>
                    </a:p>
                  </a:txBody>
                  <a:tcPr/>
                </a:tc>
                <a:tc>
                  <a:txBody>
                    <a:bodyPr/>
                    <a:lstStyle/>
                    <a:p>
                      <a:r>
                        <a:rPr sz="1019" b="1">
                          <a:solidFill>
                            <a:srgbClr val="000000"/>
                          </a:solidFill>
                        </a:rPr>
                        <a:t>Relative to threshold</a:t>
                      </a:r>
                    </a:p>
                  </a:txBody>
                  <a:tcPr/>
                </a:tc>
              </a:tr>
              <a:tr h="304800">
                <a:tc>
                  <a:txBody>
                    <a:bodyPr/>
                    <a:lstStyle/>
                    <a:p>
                      <a:r>
                        <a:rPr sz="1019" b="0">
                          <a:solidFill>
                            <a:srgbClr val="000000"/>
                          </a:solidFill>
                        </a:rPr>
                        <a:t>Cohort reading points over the pilot allocation</a:t>
                      </a:r>
                    </a:p>
                  </a:txBody>
                  <a:tcPr/>
                </a:tc>
                <a:tc>
                  <a:txBody>
                    <a:bodyPr/>
                    <a:lstStyle/>
                    <a:p>
                      <a:r>
                        <a:rPr sz="1019" b="0">
                          <a:solidFill>
                            <a:srgbClr val="000000"/>
                          </a:solidFill>
                        </a:rPr>
                        <a:t>13838</a:t>
                      </a:r>
                    </a:p>
                  </a:txBody>
                  <a:tcPr/>
                </a:tc>
                <a:tc>
                  <a:txBody>
                    <a:bodyPr/>
                    <a:lstStyle/>
                    <a:p>
                      <a:r>
                        <a:rPr sz="1019" b="0">
                          <a:solidFill>
                            <a:srgbClr val="000000"/>
                          </a:solidFill>
                        </a:rPr>
                        <a:t>points/year</a:t>
                      </a:r>
                    </a:p>
                  </a:txBody>
                  <a:tcPr/>
                </a:tc>
                <a:tc>
                  <a:txBody>
                    <a:bodyPr/>
                    <a:lstStyle/>
                    <a:p>
                      <a:r>
                        <a:rPr sz="1019" b="0">
                          <a:solidFill>
                            <a:srgbClr val="000000"/>
                          </a:solidFill>
                        </a:rPr>
                        <a:t>6163 to 22036 (90% HDI)</a:t>
                      </a:r>
                    </a:p>
                  </a:txBody>
                  <a:tcPr/>
                </a:tc>
                <a:tc>
                  <a:txBody>
                    <a:bodyPr/>
                    <a:lstStyle/>
                    <a:p>
                      <a:r>
                        <a:rPr sz="1019" b="0">
                          <a:solidFill>
                            <a:srgbClr val="000000"/>
                          </a:solidFill>
                        </a:rPr>
                        <a:t>0</a:t>
                      </a:r>
                    </a:p>
                  </a:txBody>
                  <a:tcPr/>
                </a:tc>
                <a:tc>
                  <a:txBody>
                    <a:bodyPr/>
                    <a:lstStyle/>
                    <a:p>
                      <a:r>
                        <a:rPr sz="1019" b="0">
                          <a:solidFill>
                            <a:srgbClr val="000000"/>
                          </a:solidFill>
                        </a:rPr>
                        <a:t>above threshold</a:t>
                      </a:r>
                    </a:p>
                  </a:txBody>
                  <a:tcPr/>
                </a:tc>
              </a:tr>
              <a:tr h="304800">
                <a:tc>
                  <a:txBody>
                    <a:bodyPr/>
                    <a:lstStyle/>
                    <a:p>
                      <a:r>
                        <a:rPr sz="1019" b="0">
                          <a:solidFill>
                            <a:srgbClr val="000000"/>
                          </a:solidFill>
                        </a:rPr>
                        <a:t>Value of the difference at the department's own valuation</a:t>
                      </a:r>
                    </a:p>
                  </a:txBody>
                  <a:tcPr/>
                </a:tc>
                <a:tc>
                  <a:txBody>
                    <a:bodyPr/>
                    <a:lstStyle/>
                    <a:p>
                      <a:r>
                        <a:rPr sz="1019" b="0">
                          <a:solidFill>
                            <a:srgbClr val="000000"/>
                          </a:solidFill>
                        </a:rPr>
                        <a:t>19372837</a:t>
                      </a:r>
                    </a:p>
                  </a:txBody>
                  <a:tcPr/>
                </a:tc>
                <a:tc>
                  <a:txBody>
                    <a:bodyPr/>
                    <a:lstStyle/>
                    <a:p>
                      <a:r>
                        <a:rPr sz="1019" b="0">
                          <a:solidFill>
                            <a:srgbClr val="000000"/>
                          </a:solidFill>
                        </a:rPr>
                        <a:t>USD</a:t>
                      </a:r>
                    </a:p>
                  </a:txBody>
                  <a:tcPr/>
                </a:tc>
                <a:tc>
                  <a:txBody>
                    <a:bodyPr/>
                    <a:lstStyle/>
                    <a:p>
                      <a:r>
                        <a:rPr sz="1019" b="0">
                          <a:solidFill>
                            <a:srgbClr val="000000"/>
                          </a:solidFill>
                        </a:rPr>
                        <a:t>8627873 to 30850017 (90% HDI)</a:t>
                      </a:r>
                    </a:p>
                  </a:txBody>
                  <a:tcPr/>
                </a:tc>
                <a:tc>
                  <a:txBody>
                    <a:bodyPr/>
                    <a:lstStyle/>
                    <a:p>
                      <a:r>
                        <a:rPr sz="1019" b="0">
                          <a:solidFill>
                            <a:srgbClr val="000000"/>
                          </a:solidFill>
                        </a:rPr>
                        <a:t>0</a:t>
                      </a:r>
                    </a:p>
                  </a:txBody>
                  <a:tcPr/>
                </a:tc>
                <a:tc>
                  <a:txBody>
                    <a:bodyPr/>
                    <a:lstStyle/>
                    <a:p>
                      <a:r>
                        <a:rPr sz="1019" b="0">
                          <a:solidFill>
                            <a:srgbClr val="000000"/>
                          </a:solidFill>
                        </a:rPr>
                        <a:t>above threshold</a:t>
                      </a:r>
                    </a:p>
                  </a:txBody>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Tables (cont.)</a:t>
            </a:r>
          </a:p>
        </p:txBody>
      </p:sp>
      <p:sp>
        <p:nvSpPr>
          <p:cNvPr id="3" name="TextBox 2"/>
          <p:cNvSpPr txBox="1"/>
          <p:nvPr/>
        </p:nvSpPr>
        <p:spPr>
          <a:xfrm>
            <a:off x="914400" y="965200"/>
            <a:ext cx="10363200" cy="508000"/>
          </a:xfrm>
          <a:prstGeom prst="rect">
            <a:avLst/>
          </a:prstGeom>
          <a:noFill/>
        </p:spPr>
        <p:txBody>
          <a:bodyPr wrap="square">
            <a:spAutoFit/>
          </a:bodyPr>
          <a:lstStyle/>
          <a:p>
            <a:r>
              <a:rPr sz="1200" b="1">
                <a:solidFill>
                  <a:srgbClr val="000000"/>
                </a:solidFill>
              </a:rPr>
              <a:t>*Table 3*. Recorded diagnostics.</a:t>
            </a:r>
          </a:p>
        </p:txBody>
      </p:sp>
      <p:graphicFrame>
        <p:nvGraphicFramePr>
          <p:cNvPr id="4" name="Table 3"/>
          <p:cNvGraphicFramePr>
            <a:graphicFrameLocks noGrp="1"/>
          </p:cNvGraphicFramePr>
          <p:nvPr/>
        </p:nvGraphicFramePr>
        <p:xfrm>
          <a:off x="914400" y="1219200"/>
          <a:ext cx="10363200" cy="2133600"/>
        </p:xfrm>
        <a:graphic>
          <a:graphicData uri="http://schemas.openxmlformats.org/drawingml/2006/table">
            <a:tbl>
              <a:tblPr firstRow="1" bandRow="1">
                <a:tableStyleId>{5C22544A-7EE6-4342-B048-85BDC9FD1C3A}</a:tableStyleId>
              </a:tblPr>
              <a:tblGrid>
                <a:gridCol w="2590800"/>
                <a:gridCol w="2590800"/>
                <a:gridCol w="2590800"/>
                <a:gridCol w="2590800"/>
              </a:tblGrid>
              <a:tr h="304800">
                <a:tc>
                  <a:txBody>
                    <a:bodyPr/>
                    <a:lstStyle/>
                    <a:p>
                      <a:r>
                        <a:rPr sz="1019" b="1">
                          <a:solidFill>
                            <a:srgbClr val="000000"/>
                          </a:solidFill>
                        </a:rPr>
                        <a:t>Check</a:t>
                      </a:r>
                    </a:p>
                  </a:txBody>
                  <a:tcPr/>
                </a:tc>
                <a:tc>
                  <a:txBody>
                    <a:bodyPr/>
                    <a:lstStyle/>
                    <a:p>
                      <a:r>
                        <a:rPr sz="1019" b="1">
                          <a:solidFill>
                            <a:srgbClr val="000000"/>
                          </a:solidFill>
                        </a:rPr>
                        <a:t>Value</a:t>
                      </a:r>
                    </a:p>
                  </a:txBody>
                  <a:tcPr/>
                </a:tc>
                <a:tc>
                  <a:txBody>
                    <a:bodyPr/>
                    <a:lstStyle/>
                    <a:p>
                      <a:r>
                        <a:rPr sz="1019" b="1">
                          <a:solidFill>
                            <a:srgbClr val="000000"/>
                          </a:solidFill>
                        </a:rPr>
                        <a:t>Unit</a:t>
                      </a:r>
                    </a:p>
                  </a:txBody>
                  <a:tcPr/>
                </a:tc>
                <a:tc>
                  <a:txBody>
                    <a:bodyPr/>
                    <a:lstStyle/>
                    <a:p>
                      <a:r>
                        <a:rPr sz="1019" b="1">
                          <a:solidFill>
                            <a:srgbClr val="000000"/>
                          </a:solidFill>
                        </a:rPr>
                        <a:t>Interval</a:t>
                      </a:r>
                    </a:p>
                  </a:txBody>
                  <a:tcPr/>
                </a:tc>
              </a:tr>
              <a:tr h="304800">
                <a:tc>
                  <a:txBody>
                    <a:bodyPr/>
                    <a:lstStyle/>
                    <a:p>
                      <a:r>
                        <a:rPr sz="1019" b="0">
                          <a:solidFill>
                            <a:srgbClr val="000000"/>
                          </a:solidFill>
                        </a:rPr>
                        <a:t>Posterior probability the recommendation beats the pilot</a:t>
                      </a:r>
                    </a:p>
                  </a:txBody>
                  <a:tcPr/>
                </a:tc>
                <a:tc>
                  <a:txBody>
                    <a:bodyPr/>
                    <a:lstStyle/>
                    <a:p>
                      <a:r>
                        <a:rPr sz="1019" b="0">
                          <a:solidFill>
                            <a:srgbClr val="000000"/>
                          </a:solidFill>
                        </a:rPr>
                        <a:t>0.997</a:t>
                      </a:r>
                    </a:p>
                  </a:txBody>
                  <a:tcPr/>
                </a:tc>
                <a:tc>
                  <a:txBody>
                    <a:bodyPr/>
                    <a:lstStyle/>
                    <a:p>
                      <a:r>
                        <a:rPr sz="1019" b="0">
                          <a:solidFill>
                            <a:srgbClr val="000000"/>
                          </a:solidFill>
                        </a:rPr>
                        <a:t>—</a:t>
                      </a:r>
                    </a:p>
                  </a:txBody>
                  <a:tcPr/>
                </a:tc>
                <a:tc>
                  <a:txBody>
                    <a:bodyPr/>
                    <a:lstStyle/>
                    <a:p>
                      <a:r>
                        <a:rPr sz="1019" b="0">
                          <a:solidFill>
                            <a:srgbClr val="000000"/>
                          </a:solidFill>
                        </a:rPr>
                        <a:t>—</a:t>
                      </a:r>
                    </a:p>
                  </a:txBody>
                  <a:tcPr/>
                </a:tc>
              </a:tr>
              <a:tr h="304800">
                <a:tc>
                  <a:txBody>
                    <a:bodyPr/>
                    <a:lstStyle/>
                    <a:p>
                      <a:r>
                        <a:rPr sz="1019" b="0">
                          <a:solidFill>
                            <a:srgbClr val="000000"/>
                          </a:solidFill>
                        </a:rPr>
                        <a:t>Students the recommendation reaches</a:t>
                      </a:r>
                    </a:p>
                  </a:txBody>
                  <a:tcPr/>
                </a:tc>
                <a:tc>
                  <a:txBody>
                    <a:bodyPr/>
                    <a:lstStyle/>
                    <a:p>
                      <a:r>
                        <a:rPr sz="1019" b="0">
                          <a:solidFill>
                            <a:srgbClr val="000000"/>
                          </a:solidFill>
                        </a:rPr>
                        <a:t>12000</a:t>
                      </a:r>
                    </a:p>
                  </a:txBody>
                  <a:tcPr/>
                </a:tc>
                <a:tc>
                  <a:txBody>
                    <a:bodyPr/>
                    <a:lstStyle/>
                    <a:p>
                      <a:r>
                        <a:rPr sz="1019" b="0">
                          <a:solidFill>
                            <a:srgbClr val="000000"/>
                          </a:solidFill>
                        </a:rPr>
                        <a:t>—</a:t>
                      </a:r>
                    </a:p>
                  </a:txBody>
                  <a:tcPr/>
                </a:tc>
                <a:tc>
                  <a:txBody>
                    <a:bodyPr/>
                    <a:lstStyle/>
                    <a:p>
                      <a:r>
                        <a:rPr sz="1019" b="0">
                          <a:solidFill>
                            <a:srgbClr val="000000"/>
                          </a:solidFill>
                        </a:rPr>
                        <a:t>—</a:t>
                      </a:r>
                    </a:p>
                  </a:txBody>
                  <a:tcPr/>
                </a:tc>
              </a:tr>
              <a:tr h="304800">
                <a:tc>
                  <a:txBody>
                    <a:bodyPr/>
                    <a:lstStyle/>
                    <a:p>
                      <a:r>
                        <a:rPr sz="1019" b="0">
                          <a:solidFill>
                            <a:srgbClr val="000000"/>
                          </a:solidFill>
                        </a:rPr>
                        <a:t>Students the pilot allocation would reach</a:t>
                      </a:r>
                    </a:p>
                  </a:txBody>
                  <a:tcPr/>
                </a:tc>
                <a:tc>
                  <a:txBody>
                    <a:bodyPr/>
                    <a:lstStyle/>
                    <a:p>
                      <a:r>
                        <a:rPr sz="1019" b="0">
                          <a:solidFill>
                            <a:srgbClr val="000000"/>
                          </a:solidFill>
                        </a:rPr>
                        <a:t>4878</a:t>
                      </a:r>
                    </a:p>
                  </a:txBody>
                  <a:tcPr/>
                </a:tc>
                <a:tc>
                  <a:txBody>
                    <a:bodyPr/>
                    <a:lstStyle/>
                    <a:p>
                      <a:r>
                        <a:rPr sz="1019" b="0">
                          <a:solidFill>
                            <a:srgbClr val="000000"/>
                          </a:solidFill>
                        </a:rPr>
                        <a:t>—</a:t>
                      </a:r>
                    </a:p>
                  </a:txBody>
                  <a:tcPr/>
                </a:tc>
                <a:tc>
                  <a:txBody>
                    <a:bodyPr/>
                    <a:lstStyle/>
                    <a:p>
                      <a:r>
                        <a:rPr sz="1019" b="0">
                          <a:solidFill>
                            <a:srgbClr val="000000"/>
                          </a:solidFill>
                        </a:rPr>
                        <a:t>—</a:t>
                      </a:r>
                    </a:p>
                  </a:txBody>
                  <a:tcPr/>
                </a:tc>
              </a:tr>
              <a:tr h="304800">
                <a:tc>
                  <a:txBody>
                    <a:bodyPr/>
                    <a:lstStyle/>
                    <a:p>
                      <a:r>
                        <a:rPr sz="1019" b="0">
                          <a:solidFill>
                            <a:srgbClr val="000000"/>
                          </a:solidFill>
                        </a:rPr>
                        <a:t>Cost of the recommended allocation per student</a:t>
                      </a:r>
                    </a:p>
                  </a:txBody>
                  <a:tcPr/>
                </a:tc>
                <a:tc>
                  <a:txBody>
                    <a:bodyPr/>
                    <a:lstStyle/>
                    <a:p>
                      <a:r>
                        <a:rPr sz="1019" b="0">
                          <a:solidFill>
                            <a:srgbClr val="000000"/>
                          </a:solidFill>
                        </a:rPr>
                        <a:t>745</a:t>
                      </a:r>
                    </a:p>
                  </a:txBody>
                  <a:tcPr/>
                </a:tc>
                <a:tc>
                  <a:txBody>
                    <a:bodyPr/>
                    <a:lstStyle/>
                    <a:p>
                      <a:r>
                        <a:rPr sz="1019" b="0">
                          <a:solidFill>
                            <a:srgbClr val="000000"/>
                          </a:solidFill>
                        </a:rPr>
                        <a:t>USD</a:t>
                      </a:r>
                    </a:p>
                  </a:txBody>
                  <a:tcPr/>
                </a:tc>
                <a:tc>
                  <a:txBody>
                    <a:bodyPr/>
                    <a:lstStyle/>
                    <a:p>
                      <a:r>
                        <a:rPr sz="1019" b="0">
                          <a:solidFill>
                            <a:srgbClr val="000000"/>
                          </a:solidFill>
                        </a:rPr>
                        <a:t>—</a:t>
                      </a:r>
                    </a:p>
                  </a:txBody>
                  <a:tcPr/>
                </a:tc>
              </a:tr>
              <a:tr h="304800">
                <a:tc>
                  <a:txBody>
                    <a:bodyPr/>
                    <a:lstStyle/>
                    <a:p>
                      <a:r>
                        <a:rPr sz="1019" b="0">
                          <a:solidFill>
                            <a:srgbClr val="000000"/>
                          </a:solidFill>
                        </a:rPr>
                        <a:t>Schools randomized</a:t>
                      </a:r>
                    </a:p>
                  </a:txBody>
                  <a:tcPr/>
                </a:tc>
                <a:tc>
                  <a:txBody>
                    <a:bodyPr/>
                    <a:lstStyle/>
                    <a:p>
                      <a:r>
                        <a:rPr sz="1019" b="0">
                          <a:solidFill>
                            <a:srgbClr val="000000"/>
                          </a:solidFill>
                        </a:rPr>
                        <a:t>120</a:t>
                      </a:r>
                    </a:p>
                  </a:txBody>
                  <a:tcPr/>
                </a:tc>
                <a:tc>
                  <a:txBody>
                    <a:bodyPr/>
                    <a:lstStyle/>
                    <a:p>
                      <a:r>
                        <a:rPr sz="1019" b="0">
                          <a:solidFill>
                            <a:srgbClr val="000000"/>
                          </a:solidFill>
                        </a:rPr>
                        <a:t>—</a:t>
                      </a:r>
                    </a:p>
                  </a:txBody>
                  <a:tcPr/>
                </a:tc>
                <a:tc>
                  <a:txBody>
                    <a:bodyPr/>
                    <a:lstStyle/>
                    <a:p>
                      <a:r>
                        <a:rPr sz="1019" b="0">
                          <a:solidFill>
                            <a:srgbClr val="000000"/>
                          </a:solidFill>
                        </a:rPr>
                        <a:t>—</a:t>
                      </a:r>
                    </a:p>
                  </a:txBody>
                  <a:tcPr/>
                </a:tc>
              </a:tr>
              <a:tr h="304800">
                <a:tc>
                  <a:txBody>
                    <a:bodyPr/>
                    <a:lstStyle/>
                    <a:p>
                      <a:r>
                        <a:rPr sz="1019" b="0">
                          <a:solidFill>
                            <a:srgbClr val="000000"/>
                          </a:solidFill>
                        </a:rPr>
                        <a:t>Posterior draws</a:t>
                      </a:r>
                    </a:p>
                  </a:txBody>
                  <a:tcPr/>
                </a:tc>
                <a:tc>
                  <a:txBody>
                    <a:bodyPr/>
                    <a:lstStyle/>
                    <a:p>
                      <a:r>
                        <a:rPr sz="1019" b="0">
                          <a:solidFill>
                            <a:srgbClr val="000000"/>
                          </a:solidFill>
                        </a:rPr>
                        <a:t>4000</a:t>
                      </a:r>
                    </a:p>
                  </a:txBody>
                  <a:tcPr/>
                </a:tc>
                <a:tc>
                  <a:txBody>
                    <a:bodyPr/>
                    <a:lstStyle/>
                    <a:p>
                      <a:r>
                        <a:rPr sz="1019" b="0">
                          <a:solidFill>
                            <a:srgbClr val="000000"/>
                          </a:solidFill>
                        </a:rPr>
                        <a:t>—</a:t>
                      </a:r>
                    </a:p>
                  </a:txBody>
                  <a:tcPr/>
                </a:tc>
                <a:tc>
                  <a:txBody>
                    <a:bodyPr/>
                    <a:lstStyle/>
                    <a:p>
                      <a:r>
                        <a:rPr sz="1019" b="0">
                          <a:solidFill>
                            <a:srgbClr val="000000"/>
                          </a:solidFill>
                        </a:rPr>
                        <a:t>—</a:t>
                      </a:r>
                    </a:p>
                  </a:txBody>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Figures</a:t>
            </a:r>
          </a:p>
        </p:txBody>
      </p:sp>
      <p:pic>
        <p:nvPicPr>
          <p:cNvPr id="3" name="Picture 2" descr="image.png"/>
          <p:cNvPicPr>
            <a:picLocks noChangeAspect="1"/>
          </p:cNvPicPr>
          <p:nvPr/>
        </p:nvPicPr>
        <p:blipFill>
          <a:blip r:embed="rId2"/>
          <a:stretch>
            <a:fillRect/>
          </a:stretch>
        </p:blipFill>
        <p:spPr>
          <a:xfrm>
            <a:off x="914400" y="965200"/>
            <a:ext cx="8852023" cy="4978400"/>
          </a:xfrm>
          <a:prstGeom prst="rect">
            <a:avLst/>
          </a:prstGeom>
        </p:spPr>
      </p:pic>
      <p:sp>
        <p:nvSpPr>
          <p:cNvPr id="4" name="TextBox 3"/>
          <p:cNvSpPr txBox="1"/>
          <p:nvPr/>
        </p:nvSpPr>
        <p:spPr>
          <a:xfrm>
            <a:off x="914400" y="6035040"/>
            <a:ext cx="10363200" cy="254000"/>
          </a:xfrm>
          <a:prstGeom prst="rect">
            <a:avLst/>
          </a:prstGeom>
          <a:noFill/>
        </p:spPr>
        <p:txBody>
          <a:bodyPr wrap="square">
            <a:spAutoFit/>
          </a:bodyPr>
          <a:lstStyle/>
          <a:p>
            <a:r>
              <a:rPr sz="1019" b="0">
                <a:solidFill>
                  <a:srgbClr val="000000"/>
                </a:solidFill>
              </a:rPr>
              <a:t>*Figure 1*. The identification graph. A hollow node was not measured and a dashed edge is an unmeasured common cause.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457200"/>
            <a:ext cx="10363200" cy="431800"/>
          </a:xfrm>
          <a:prstGeom prst="rect">
            <a:avLst/>
          </a:prstGeom>
          <a:noFill/>
        </p:spPr>
        <p:txBody>
          <a:bodyPr wrap="square">
            <a:spAutoFit/>
          </a:bodyPr>
          <a:lstStyle/>
          <a:p>
            <a:r>
              <a:rPr sz="1200" b="1">
                <a:solidFill>
                  <a:srgbClr val="000000"/>
                </a:solidFill>
              </a:rPr>
              <a:t>Figures (cont.)</a:t>
            </a:r>
          </a:p>
        </p:txBody>
      </p:sp>
      <p:pic>
        <p:nvPicPr>
          <p:cNvPr id="3" name="Picture 2" descr="image.png"/>
          <p:cNvPicPr>
            <a:picLocks noChangeAspect="1"/>
          </p:cNvPicPr>
          <p:nvPr/>
        </p:nvPicPr>
        <p:blipFill>
          <a:blip r:embed="rId2"/>
          <a:stretch>
            <a:fillRect/>
          </a:stretch>
        </p:blipFill>
        <p:spPr>
          <a:xfrm>
            <a:off x="914400" y="965200"/>
            <a:ext cx="8852023" cy="4978400"/>
          </a:xfrm>
          <a:prstGeom prst="rect">
            <a:avLst/>
          </a:prstGeom>
        </p:spPr>
      </p:pic>
      <p:sp>
        <p:nvSpPr>
          <p:cNvPr id="4" name="TextBox 3"/>
          <p:cNvSpPr txBox="1"/>
          <p:nvPr/>
        </p:nvSpPr>
        <p:spPr>
          <a:xfrm>
            <a:off x="914400" y="6035040"/>
            <a:ext cx="10363200" cy="254000"/>
          </a:xfrm>
          <a:prstGeom prst="rect">
            <a:avLst/>
          </a:prstGeom>
          <a:noFill/>
        </p:spPr>
        <p:txBody>
          <a:bodyPr wrap="square">
            <a:spAutoFit/>
          </a:bodyPr>
          <a:lstStyle/>
          <a:p>
            <a:r>
              <a:rPr sz="1019" b="0">
                <a:solidFill>
                  <a:srgbClr val="000000"/>
                </a:solidFill>
              </a:rPr>
              <a:t>*Figure 2*. Estimated quantities with their intervals. The dashed rule marks the decision threshold; a row whose interval crosses it is unsettled rather than null.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