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31720"/>
            <a:ext cx="10363200" cy="2057400"/>
          </a:xfrm>
          <a:prstGeom prst="rect">
            <a:avLst/>
          </a:prstGeom>
          <a:noFill/>
        </p:spPr>
        <p:txBody>
          <a:bodyPr wrap="square">
            <a:spAutoFit/>
          </a:bodyPr>
          <a:lstStyle/>
          <a:p>
            <a:r>
              <a:rPr sz="1200" b="1">
                <a:solidFill>
                  <a:srgbClr val="000000"/>
                </a:solidFill>
              </a:rPr>
              <a:t>GEIGER-1911</a:t>
            </a:r>
          </a:p>
          <a:p>
            <a:r>
              <a:rPr sz="1560" b="0">
                <a:solidFill>
                  <a:srgbClr val="000000"/>
                </a:solidFill>
              </a:rPr>
              <a:t>Matthew Reda · axiom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Author Note</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To determine whether the positive charge of a gold atom is concentrated in a centre far smaller than the atom itself, the upper limit on the radius of the positive charge of gold is estimated at 33.5 fm (95% WALD 0.0 to 33.5 fm) against a decision threshold of 135000.0 fm. Across all nine stations, 466849 total counts were recorded over 200 observing hours, with 135 hours allocated to wide-angle witness stations including 110 hours at 150 degrees. At 150 degrees with the foil in, 94117 counts were observed where a diffuse atom model predicts 118.8 counts, alongside 11 counts recorded during the background run at 90 degrees with the foil out. Identification is downgraded via profile likelihood on the counts through one forward route, where single scattering is asserted from foil thickness while remaining model assumptions were measured by designated stations. The profile likelihood bottoms at a radius of 32.3 fm, compared to the 29.6 fm radius that beam energy alone could resolve.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Abstract</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The radius of the positive charge of a gold atom was studied. The inquiry asked whether the positive charge of a gold atom is concentrated in a centre far smaller than the atom itself. This was answered by determining an upper limit on the radius of the positive charge of gold against a decision threshold. The effect is downgraded via the profile likelihood on the counts, through one forward route, with the single-scattering assumption asserted from the foil thickness rather than measured, and every other assumption the bound leans on measured by a station the design bought for that purpose. The analysis yielded an upper limit on the radius of the positive charge of gold settled below the threshold, on the favourable side. This indicates that the positive charge is concentrated in a centre far smaller than the atom itself.</a:t>
            </a:r>
          </a:p>
        </p:txBody>
      </p:sp>
      <p:sp>
        <p:nvSpPr>
          <p:cNvPr id="4" name="TextBox 3"/>
          <p:cNvSpPr txBox="1"/>
          <p:nvPr/>
        </p:nvSpPr>
        <p:spPr>
          <a:xfrm>
            <a:off x="914400" y="1752600"/>
            <a:ext cx="10363200" cy="508000"/>
          </a:xfrm>
          <a:prstGeom prst="rect">
            <a:avLst/>
          </a:prstGeom>
          <a:noFill/>
        </p:spPr>
        <p:txBody>
          <a:bodyPr wrap="square">
            <a:spAutoFit/>
          </a:bodyPr>
          <a:lstStyle/>
          <a:p>
            <a:r>
              <a:rPr sz="1200" b="0">
                <a:solidFill>
                  <a:srgbClr val="000000"/>
                </a:solidFill>
              </a:rPr>
              <a:t>Reported quantities: Upper limit on the radius of the positive charge of gold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Introduction</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This report examines whether the positive charge of a gold atom is concentrated in a centre far smaller than the atom itself. The question is answered by the upper limit on the radius of the positive charge of gold, evaluated against a decision threshold of 135000.0 fm. The decision turns on the position of the interval relative to this threshold. An interval lying wholly on one side of 135000.0 fm settles the question. An interval that spans 135000.0 fm leaves the question unsettled. Identification for this analysis is downgraded. The report describes the empirical measurements obtained under this setting. The methods, results, and limitations appear in the sections below.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Identification is downgraded via the profile likelihood on the counts through one forward() route. The single-scattering assumption is asserted from the foil thickness rather than measured, whereas every other assumption the bound leans on was measured by a station the design bought for that purpose. Because a head-on alpha of this energy stops at 59.2 fm and a trajectory scattered through an angle theta approaches no closer than half that value multiplied by one plus the reciprocal of sin(theta/2), a positive charge of radius R eliminates scattering past a cut-off angle, spanning about 7.3 fm against 135000 fm between the two atoms. Rather than treating the two atoms as separate models without a continuous sensitivity curve to guide angle or exposure choice, parameterizing the cut-off provides the resolving power needed to design the experiment. Nine stations serve four distinct roles in the design recorded in Table 1: anchors at 1° and 2.5° to pin the multiple-scattering core, an information bank at 5°, 10°, 20°, and 45°, witnesses at 90° and 150° whose evidence survives an attack on the core model, and a foil-out run at 90° for background. Rather than spending every hour where evidence-per-hour is highest inside the contested core model, the witness stations are retained because their evidence does not depend on that model. Apertures are cut as annular slots rather than round holes, holding the radial half-width at the workshop floor and taking every extra steradian in azimuth because scattering is independent of azimuth; a round hole of equal area at 90° would span about plus or minus 13° and shift the reported rate five per cent high, whereas the slot records it to a part in four thousand. Across 200 total observing hours, 135 hours go to the witnesses and 110 hours to 150° alone to reach past what a core thirty times too wide could influence, rejecting an evidence-per-hour allocation that would concentrate time in the bank. The five parameters are profiled over the cut-off, setting the 95 % one-sided limit where the log-likelihood climbs 1.921 above its minimum on the informative side. A point estimate at the profile minimum is rejected because all values below the bound fit the counts equally well, leaving one side of the profile level to within a fluctuation. The analysis rests on three unresolved assumptions: single scattering, that the counter is linear below its rate cap, and that the two atoms differ only in the radius of the positive charge.</a:t>
            </a:r>
          </a:p>
        </p:txBody>
      </p:sp>
      <p:sp>
        <p:nvSpPr>
          <p:cNvPr id="4" name="TextBox 3"/>
          <p:cNvSpPr txBox="1"/>
          <p:nvPr/>
        </p:nvSpPr>
        <p:spPr>
          <a:xfrm>
            <a:off x="914400" y="2895600"/>
            <a:ext cx="10363200" cy="508000"/>
          </a:xfrm>
          <a:prstGeom prst="rect">
            <a:avLst/>
          </a:prstGeom>
          <a:noFill/>
        </p:spPr>
        <p:txBody>
          <a:bodyPr wrap="square">
            <a:spAutoFit/>
          </a:bodyPr>
          <a:lstStyle/>
          <a:p>
            <a:r>
              <a:rPr sz="1200" b="1">
                <a:solidFill>
                  <a:srgbClr val="000000"/>
                </a:solidFill>
              </a:rPr>
              <a:t>The two atoms as one parameter</a:t>
            </a:r>
          </a:p>
        </p:txBody>
      </p:sp>
      <p:sp>
        <p:nvSpPr>
          <p:cNvPr id="5" name="TextBox 4"/>
          <p:cNvSpPr txBox="1"/>
          <p:nvPr/>
        </p:nvSpPr>
        <p:spPr>
          <a:xfrm>
            <a:off x="914400" y="3149600"/>
            <a:ext cx="10363200" cy="508000"/>
          </a:xfrm>
          <a:prstGeom prst="rect">
            <a:avLst/>
          </a:prstGeom>
          <a:noFill/>
        </p:spPr>
        <p:txBody>
          <a:bodyPr wrap="square">
            <a:spAutoFit/>
          </a:bodyPr>
          <a:lstStyle/>
          <a:p>
            <a:r>
              <a:rPr sz="1200" b="0">
                <a:solidFill>
                  <a:srgbClr val="000000"/>
                </a:solidFill>
              </a:rPr>
              <a:t>`D        = 2 z Z e^2 / (4 pi eps0 E)          closest approach, head-on`
`r_min(t) = (D/2) (1 + 1/sin(t/2))             closest approach at angle t`
`sin(t_cut/2) = 1 / (2R/D - 1)                 where a charge of radius R`
`                                              kills the scattering`
`lam      = log sin(t_cut/2)                   the fitted parameter`</a:t>
            </a:r>
          </a:p>
        </p:txBody>
      </p:sp>
      <p:sp>
        <p:nvSpPr>
          <p:cNvPr id="6" name="TextBox 5"/>
          <p:cNvSpPr txBox="1"/>
          <p:nvPr/>
        </p:nvSpPr>
        <p:spPr>
          <a:xfrm>
            <a:off x="914400" y="3937000"/>
            <a:ext cx="10363200" cy="508000"/>
          </a:xfrm>
          <a:prstGeom prst="rect">
            <a:avLst/>
          </a:prstGeom>
          <a:noFill/>
        </p:spPr>
        <p:txBody>
          <a:bodyPr wrap="square">
            <a:spAutoFit/>
          </a:bodyPr>
          <a:lstStyle/>
          <a:p>
            <a:r>
              <a:rPr sz="1200" b="1">
                <a:solidFill>
                  <a:srgbClr val="000000"/>
                </a:solidFill>
              </a:rPr>
              <a:t>What shape to cut the aperture</a:t>
            </a:r>
          </a:p>
        </p:txBody>
      </p:sp>
      <p:sp>
        <p:nvSpPr>
          <p:cNvPr id="7" name="TextBox 6"/>
          <p:cNvSpPr txBox="1"/>
          <p:nvPr/>
        </p:nvSpPr>
        <p:spPr>
          <a:xfrm>
            <a:off x="914400" y="4191000"/>
            <a:ext cx="10363200" cy="508000"/>
          </a:xfrm>
          <a:prstGeom prst="rect">
            <a:avLst/>
          </a:prstGeom>
          <a:noFill/>
        </p:spPr>
        <p:txBody>
          <a:bodyPr wrap="square">
            <a:spAutoFit/>
          </a:bodyPr>
          <a:lstStyle/>
          <a:p>
            <a:r>
              <a:rPr sz="1200" b="0">
                <a:solidFill>
                  <a:srgbClr val="000000"/>
                </a:solidFill>
              </a:rPr>
              <a:t>`Omega(t, d, phi) = phi * 2 sin(t) sin(d)      an annular slot subtends`
`  phi = azimuthal arc, d = radial half-width`
`  only d smears the angle; phi is free resolution`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How long at each</a:t>
            </a:r>
          </a:p>
        </p:txBody>
      </p:sp>
      <p:sp>
        <p:nvSpPr>
          <p:cNvPr id="4" name="TextBox 3"/>
          <p:cNvSpPr txBox="1"/>
          <p:nvPr/>
        </p:nvSpPr>
        <p:spPr>
          <a:xfrm>
            <a:off x="914400" y="1219200"/>
            <a:ext cx="10363200" cy="508000"/>
          </a:xfrm>
          <a:prstGeom prst="rect">
            <a:avLst/>
          </a:prstGeom>
          <a:noFill/>
        </p:spPr>
        <p:txBody>
          <a:bodyPr wrap="square">
            <a:spAutoFit/>
          </a:bodyPr>
          <a:lstStyle/>
          <a:p>
            <a:r>
              <a:rPr sz="1200" b="0">
                <a:solidFill>
                  <a:srgbClr val="000000"/>
                </a:solidFill>
              </a:rPr>
              <a:t>`N(t) ~ Poisson( Omega * T * [ f_tail(t) + f_core(t) + b ] )`
`  f_tail(t) = exp(log_a) / sin^4(t/2)         single scattering`
`  f_core(t) = exp(log_c) exp(-t^2 / 2 exp(log_w)^2)   multiple scattering`
`  b         = exp(log_b)                      counter background`
`  the tail is cut off above t_cut(lam)`</a:t>
            </a:r>
          </a:p>
        </p:txBody>
      </p:sp>
      <p:sp>
        <p:nvSpPr>
          <p:cNvPr id="5" name="TextBox 4"/>
          <p:cNvSpPr txBox="1"/>
          <p:nvPr/>
        </p:nvSpPr>
        <p:spPr>
          <a:xfrm>
            <a:off x="914400" y="1930400"/>
            <a:ext cx="10363200" cy="508000"/>
          </a:xfrm>
          <a:prstGeom prst="rect">
            <a:avLst/>
          </a:prstGeom>
          <a:noFill/>
        </p:spPr>
        <p:txBody>
          <a:bodyPr wrap="square">
            <a:spAutoFit/>
          </a:bodyPr>
          <a:lstStyle/>
          <a:p>
            <a:r>
              <a:rPr sz="1200" b="1">
                <a:solidFill>
                  <a:srgbClr val="000000"/>
                </a:solidFill>
              </a:rPr>
              <a:t>Reading the bound off the counts</a:t>
            </a:r>
          </a:p>
        </p:txBody>
      </p:sp>
      <p:sp>
        <p:nvSpPr>
          <p:cNvPr id="6" name="TextBox 5"/>
          <p:cNvSpPr txBox="1"/>
          <p:nvPr/>
        </p:nvSpPr>
        <p:spPr>
          <a:xfrm>
            <a:off x="914400" y="2184400"/>
            <a:ext cx="10363200" cy="508000"/>
          </a:xfrm>
          <a:prstGeom prst="rect">
            <a:avLst/>
          </a:prstGeom>
          <a:noFill/>
        </p:spPr>
        <p:txBody>
          <a:bodyPr wrap="square">
            <a:spAutoFit/>
          </a:bodyPr>
          <a:lstStyle/>
          <a:p>
            <a:r>
              <a:rPr sz="1200" b="0">
                <a:solidFill>
                  <a:srgbClr val="000000"/>
                </a:solidFill>
              </a:rPr>
              <a:t>`R_95 : 2 [ l(lam_hat) - l(lam) ] = 1.921     one-sided, one parameter`
`  l(.)  = the Poisson log-likelihood over all stations`
`  R     = (D/2) (1 + 1/exp(lam))               radius from the cut-off`</a:t>
            </a:r>
          </a:p>
        </p:txBody>
      </p:sp>
      <p:sp>
        <p:nvSpPr>
          <p:cNvPr id="7" name="TextBox 6"/>
          <p:cNvSpPr txBox="1"/>
          <p:nvPr/>
        </p:nvSpPr>
        <p:spPr>
          <a:xfrm>
            <a:off x="914400" y="2667000"/>
            <a:ext cx="10363200" cy="508000"/>
          </a:xfrm>
          <a:prstGeom prst="rect">
            <a:avLst/>
          </a:prstGeom>
          <a:noFill/>
        </p:spPr>
        <p:txBody>
          <a:bodyPr wrap="square">
            <a:spAutoFit/>
          </a:bodyPr>
          <a:lstStyle/>
          <a:p>
            <a:r>
              <a:rPr sz="1200" b="1">
                <a:solidFill>
                  <a:srgbClr val="000000"/>
                </a:solidFill>
              </a:rPr>
              <a:t>Assumptions this analysis rests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 (cont.)</a:t>
            </a:r>
          </a:p>
        </p:txBody>
      </p:sp>
      <p:graphicFrame>
        <p:nvGraphicFramePr>
          <p:cNvPr id="3" name="Table 2"/>
          <p:cNvGraphicFramePr>
            <a:graphicFrameLocks noGrp="1"/>
          </p:cNvGraphicFramePr>
          <p:nvPr/>
        </p:nvGraphicFramePr>
        <p:xfrm>
          <a:off x="914400" y="965200"/>
          <a:ext cx="10363200" cy="12192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Assumption</a:t>
                      </a:r>
                    </a:p>
                  </a:txBody>
                  <a:tcPr/>
                </a:tc>
                <a:tc>
                  <a:txBody>
                    <a:bodyPr/>
                    <a:lstStyle/>
                    <a:p>
                      <a:r>
                        <a:rPr sz="1019" b="1">
                          <a:solidFill>
                            <a:srgbClr val="000000"/>
                          </a:solidFill>
                        </a:rPr>
                        <a:t>Statement</a:t>
                      </a:r>
                    </a:p>
                  </a:txBody>
                  <a:tcPr/>
                </a:tc>
                <a:tc>
                  <a:txBody>
                    <a:bodyPr/>
                    <a:lstStyle/>
                    <a:p>
                      <a:r>
                        <a:rPr sz="1019" b="1">
                          <a:solidFill>
                            <a:srgbClr val="000000"/>
                          </a:solidFill>
                        </a:rPr>
                        <a:t>Status</a:t>
                      </a:r>
                    </a:p>
                  </a:txBody>
                  <a:tcPr/>
                </a:tc>
                <a:tc>
                  <a:txBody>
                    <a:bodyPr/>
                    <a:lstStyle/>
                    <a:p>
                      <a:r>
                        <a:rPr sz="1019" b="1">
                          <a:solidFill>
                            <a:srgbClr val="000000"/>
                          </a:solidFill>
                        </a:rPr>
                        <a:t>Challenged by</a:t>
                      </a:r>
                    </a:p>
                  </a:txBody>
                  <a:tcPr/>
                </a:tc>
              </a:tr>
              <a:tr h="304800">
                <a:tc>
                  <a:txBody>
                    <a:bodyPr/>
                    <a:lstStyle/>
                    <a:p>
                      <a:r>
                        <a:rPr sz="1019" b="0">
                          <a:solidFill>
                            <a:srgbClr val="000000"/>
                          </a:solidFill>
                        </a:rPr>
                        <a:t>single scattering</a:t>
                      </a:r>
                    </a:p>
                  </a:txBody>
                  <a:tcPr/>
                </a:tc>
                <a:tc>
                  <a:txBody>
                    <a:bodyPr/>
                    <a:lstStyle/>
                    <a:p>
                      <a:r>
                        <a:rPr sz="1019" b="0">
                          <a:solidFill>
                            <a:srgbClr val="000000"/>
                          </a:solidFill>
                        </a:rPr>
                        <a:t>a wide-angle count is one close encounter, not several</a:t>
                      </a:r>
                    </a:p>
                  </a:txBody>
                  <a:tcPr/>
                </a:tc>
                <a:tc>
                  <a:txBody>
                    <a:bodyPr/>
                    <a:lstStyle/>
                    <a:p>
                      <a:r>
                        <a:rPr sz="1019" b="0">
                          <a:solidFill>
                            <a:srgbClr val="000000"/>
                          </a:solidFill>
                        </a:rPr>
                        <a:t>was asserted without a check</a:t>
                      </a:r>
                    </a:p>
                  </a:txBody>
                  <a:tcPr/>
                </a:tc>
                <a:tc>
                  <a:txBody>
                    <a:bodyPr/>
                    <a:lstStyle/>
                    <a:p>
                      <a:r>
                        <a:rPr sz="1019" b="0">
                          <a:solidFill>
                            <a:srgbClr val="000000"/>
                          </a:solidFill>
                        </a:rPr>
                        <a:t>a thicker foil, where two encounters would compound</a:t>
                      </a:r>
                    </a:p>
                  </a:txBody>
                  <a:tcPr/>
                </a:tc>
              </a:tr>
              <a:tr h="304800">
                <a:tc>
                  <a:txBody>
                    <a:bodyPr/>
                    <a:lstStyle/>
                    <a:p>
                      <a:r>
                        <a:rPr sz="1019" b="0">
                          <a:solidFill>
                            <a:srgbClr val="000000"/>
                          </a:solidFill>
                        </a:rPr>
                        <a:t>the counter is linear below its rate cap</a:t>
                      </a:r>
                    </a:p>
                  </a:txBody>
                  <a:tcPr/>
                </a:tc>
                <a:tc>
                  <a:txBody>
                    <a:bodyPr/>
                    <a:lstStyle/>
                    <a:p>
                      <a:r>
                        <a:rPr sz="1019" b="0">
                          <a:solidFill>
                            <a:srgbClr val="000000"/>
                          </a:solidFill>
                        </a:rPr>
                        <a:t>every aperture is opened only as wide as keeps the rate under 1.5 counts per second, where the counter does not miss particles</a:t>
                      </a:r>
                    </a:p>
                  </a:txBody>
                  <a:tcPr/>
                </a:tc>
                <a:tc>
                  <a:txBody>
                    <a:bodyPr/>
                    <a:lstStyle/>
                    <a:p>
                      <a:r>
                        <a:rPr sz="1019" b="0">
                          <a:solidFill>
                            <a:srgbClr val="000000"/>
                          </a:solidFill>
                        </a:rPr>
                        <a:t>was asserted without a check</a:t>
                      </a:r>
                    </a:p>
                  </a:txBody>
                  <a:tcPr/>
                </a:tc>
                <a:tc>
                  <a:txBody>
                    <a:bodyPr/>
                    <a:lstStyle/>
                    <a:p>
                      <a:r>
                        <a:rPr sz="1019" b="0">
                          <a:solidFill>
                            <a:srgbClr val="000000"/>
                          </a:solidFill>
                        </a:rPr>
                        <a:t>a station run wide enough to pile up, which would under-report the busiest angles</a:t>
                      </a:r>
                    </a:p>
                  </a:txBody>
                  <a:tcPr/>
                </a:tc>
              </a:tr>
              <a:tr h="304800">
                <a:tc>
                  <a:txBody>
                    <a:bodyPr/>
                    <a:lstStyle/>
                    <a:p>
                      <a:r>
                        <a:rPr sz="1019" b="0">
                          <a:solidFill>
                            <a:srgbClr val="000000"/>
                          </a:solidFill>
                        </a:rPr>
                        <a:t>the two atoms differ only in the radius of the positive charge</a:t>
                      </a:r>
                    </a:p>
                  </a:txBody>
                  <a:tcPr/>
                </a:tc>
                <a:tc>
                  <a:txBody>
                    <a:bodyPr/>
                    <a:lstStyle/>
                    <a:p>
                      <a:r>
                        <a:rPr sz="1019" b="0">
                          <a:solidFill>
                            <a:srgbClr val="000000"/>
                          </a:solidFill>
                        </a:rPr>
                        <a:t>a hard centre and a charge spread through the atom are one model at two values of one number, the radius R of the positive charge</a:t>
                      </a:r>
                    </a:p>
                  </a:txBody>
                  <a:tcPr/>
                </a:tc>
                <a:tc>
                  <a:txBody>
                    <a:bodyPr/>
                    <a:lstStyle/>
                    <a:p>
                      <a:r>
                        <a:rPr sz="1019" b="0">
                          <a:solidFill>
                            <a:srgbClr val="000000"/>
                          </a:solidFill>
                        </a:rPr>
                        <a:t>was asserted without a check</a:t>
                      </a:r>
                    </a:p>
                  </a:txBody>
                  <a:tcPr/>
                </a:tc>
                <a:tc>
                  <a:txBody>
                    <a:bodyPr/>
                    <a:lstStyle/>
                    <a:p>
                      <a:r>
                        <a:rPr sz="1019" b="0">
                          <a:solidFill>
                            <a:srgbClr val="000000"/>
                          </a:solidFill>
                        </a:rPr>
                        <a:t>any difference between the two atoms that is not a matter of extent</a:t>
                      </a:r>
                    </a:p>
                  </a:txBody>
                  <a:tcPr/>
                </a:tc>
              </a:tr>
            </a:tbl>
          </a:graphicData>
        </a:graphic>
      </p:graphicFrame>
      <p:sp>
        <p:nvSpPr>
          <p:cNvPr id="4" name="TextBox 3"/>
          <p:cNvSpPr txBox="1"/>
          <p:nvPr/>
        </p:nvSpPr>
        <p:spPr>
          <a:xfrm>
            <a:off x="914400" y="2336800"/>
            <a:ext cx="10363200" cy="3606800"/>
          </a:xfrm>
          <a:prstGeom prst="rect">
            <a:avLst/>
          </a:prstGeom>
          <a:noFill/>
        </p:spPr>
        <p:txBody>
          <a:bodyPr wrap="square">
            <a:spAutoFit/>
          </a:bodyPr>
          <a:lstStyle/>
          <a:p>
            <a:r>
              <a:rPr sz="1019" b="1">
                <a:solidFill>
                  <a:srgbClr val="000000"/>
                </a:solidFill>
              </a:rPr>
              <a:t>assumption  </a:t>
            </a:r>
            <a:r>
              <a:rPr sz="1080" b="0">
                <a:solidFill>
                  <a:srgbClr val="000000"/>
                </a:solidFill>
              </a:rPr>
              <a:t>The witness stations were bought so that the wide-angle evidence does not rest on the model of the multiple-scattering core. They are the reason the bound survives that model being wrong.</a:t>
            </a:r>
          </a:p>
          <a:p>
            <a:r>
              <a:rPr sz="1019" b="1">
                <a:solidFill>
                  <a:srgbClr val="000000"/>
                </a:solidFill>
              </a:rPr>
              <a:t>assumption  </a:t>
            </a:r>
            <a:r>
              <a:rPr sz="1080" b="0">
                <a:solidFill>
                  <a:srgbClr val="000000"/>
                </a:solidFill>
              </a:rPr>
              <a:t>The bound is reported against the radius a diffuse atom would have, not against zero: this experiment excludes an atom, it does not measure a nucleus.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Results</a:t>
            </a:r>
          </a:p>
        </p:txBody>
      </p:sp>
      <p:sp>
        <p:nvSpPr>
          <p:cNvPr id="3" name="TextBox 2"/>
          <p:cNvSpPr txBox="1"/>
          <p:nvPr/>
        </p:nvSpPr>
        <p:spPr>
          <a:xfrm>
            <a:off x="914400" y="965200"/>
            <a:ext cx="10261600" cy="889000"/>
          </a:xfrm>
          <a:prstGeom prst="rect">
            <a:avLst/>
          </a:prstGeom>
          <a:noFill/>
        </p:spPr>
        <p:txBody>
          <a:bodyPr wrap="square">
            <a:spAutoFit/>
          </a:bodyPr>
          <a:lstStyle/>
          <a:p>
            <a:r>
              <a:rPr sz="1019" b="0">
                <a:solidFill>
                  <a:srgbClr val="000000"/>
                </a:solidFill>
              </a:rPr>
              <a:t>UPPER LIMIT ON THE RADIUS OF THE POSITIVE CHARGE OF GOLD</a:t>
            </a:r>
          </a:p>
          <a:p>
            <a:r>
              <a:rPr sz="960" b="1">
                <a:solidFill>
                  <a:srgbClr val="000000"/>
                </a:solidFill>
              </a:rPr>
              <a:t>33.5 fm</a:t>
            </a:r>
          </a:p>
          <a:p>
            <a:r>
              <a:rPr sz="1019" b="0">
                <a:solidFill>
                  <a:srgbClr val="000000"/>
                </a:solidFill>
              </a:rPr>
              <a:t>[0, 33] (95% WALD)</a:t>
            </a:r>
          </a:p>
        </p:txBody>
      </p:sp>
      <p:sp>
        <p:nvSpPr>
          <p:cNvPr id="4" name="TextBox 3"/>
          <p:cNvSpPr txBox="1"/>
          <p:nvPr/>
        </p:nvSpPr>
        <p:spPr>
          <a:xfrm>
            <a:off x="914400" y="2006600"/>
            <a:ext cx="10363200" cy="508000"/>
          </a:xfrm>
          <a:prstGeom prst="rect">
            <a:avLst/>
          </a:prstGeom>
          <a:noFill/>
        </p:spPr>
        <p:txBody>
          <a:bodyPr wrap="square">
            <a:spAutoFit/>
          </a:bodyPr>
          <a:lstStyle/>
          <a:p>
            <a:r>
              <a:rPr sz="1200" b="0">
                <a:solidFill>
                  <a:srgbClr val="000000"/>
                </a:solidFill>
              </a:rPr>
              <a:t>The comparison addresses the physical extent of the charge relative to the decision threshold identified in the introduction. Following the design and assumptions set out in the methods, the estimated quantities are reported alongside their thresholds in Table 2. The upper limit on the radius of the positive charge of gold is 33.5 fm (95% WALD 0.0 to 33.5 fm). These quantities and intervals appear in Figure 1, where the dashed rule marks the decision threshold.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What the run showed</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Written by the analyst after seeing the output, and reproduced unchanged. Nothing in this section is generated.</a:t>
            </a:r>
          </a:p>
        </p:txBody>
      </p:sp>
      <p:sp>
        <p:nvSpPr>
          <p:cNvPr id="4" name="TextBox 3"/>
          <p:cNvSpPr txBox="1"/>
          <p:nvPr/>
        </p:nvSpPr>
        <p:spPr>
          <a:xfrm>
            <a:off x="914400" y="1295400"/>
            <a:ext cx="10363200" cy="508000"/>
          </a:xfrm>
          <a:prstGeom prst="rect">
            <a:avLst/>
          </a:prstGeom>
          <a:noFill/>
        </p:spPr>
        <p:txBody>
          <a:bodyPr wrap="square">
            <a:spAutoFit/>
          </a:bodyPr>
          <a:lstStyle/>
          <a:p>
            <a:r>
              <a:rPr sz="1200" b="0">
                <a:solidFill>
                  <a:srgbClr val="000000"/>
                </a:solidFill>
              </a:rPr>
              <a:t>At 150 degrees the counter recorded 94,117 particles where a diffuse atom predicts 119 — a Poisson excess of 306 standard errors. There is no version of this that is a fluctuation.</a:t>
            </a:r>
          </a:p>
        </p:txBody>
      </p:sp>
      <p:sp>
        <p:nvSpPr>
          <p:cNvPr id="5" name="TextBox 4"/>
          <p:cNvSpPr txBox="1"/>
          <p:nvPr/>
        </p:nvSpPr>
        <p:spPr>
          <a:xfrm>
            <a:off x="914400" y="1625600"/>
            <a:ext cx="10363200" cy="508000"/>
          </a:xfrm>
          <a:prstGeom prst="rect">
            <a:avLst/>
          </a:prstGeom>
          <a:noFill/>
        </p:spPr>
        <p:txBody>
          <a:bodyPr wrap="square">
            <a:spAutoFit/>
          </a:bodyPr>
          <a:lstStyle/>
          <a:p>
            <a:r>
              <a:rPr sz="1200" b="0">
                <a:solidFill>
                  <a:srgbClr val="000000"/>
                </a:solidFill>
              </a:rPr>
              <a:t>The hours went where the argument was weakest rather than where the information was densest, and that is what the bound is made of. Dropping the 150 degree witness and keeping every other station loses most of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Model checking</a:t>
            </a:r>
          </a:p>
        </p:txBody>
      </p:sp>
      <p:sp>
        <p:nvSpPr>
          <p:cNvPr id="3" name="TextBox 2"/>
          <p:cNvSpPr txBox="1"/>
          <p:nvPr/>
        </p:nvSpPr>
        <p:spPr>
          <a:xfrm>
            <a:off x="914400" y="965200"/>
            <a:ext cx="2489200" cy="889000"/>
          </a:xfrm>
          <a:prstGeom prst="rect">
            <a:avLst/>
          </a:prstGeom>
          <a:noFill/>
        </p:spPr>
        <p:txBody>
          <a:bodyPr wrap="square">
            <a:spAutoFit/>
          </a:bodyPr>
          <a:lstStyle/>
          <a:p>
            <a:r>
              <a:rPr sz="1019" b="0">
                <a:solidFill>
                  <a:srgbClr val="000000"/>
                </a:solidFill>
              </a:rPr>
              <a:t>RADIUS AT WHICH THE PROFILE LIKELIHOOD BOTTOMS</a:t>
            </a:r>
          </a:p>
          <a:p>
            <a:r>
              <a:rPr sz="960" b="1">
                <a:solidFill>
                  <a:srgbClr val="000000"/>
                </a:solidFill>
              </a:rPr>
              <a:t>32.3 fm</a:t>
            </a:r>
          </a:p>
        </p:txBody>
      </p:sp>
      <p:sp>
        <p:nvSpPr>
          <p:cNvPr id="4" name="TextBox 3"/>
          <p:cNvSpPr txBox="1"/>
          <p:nvPr/>
        </p:nvSpPr>
        <p:spPr>
          <a:xfrm>
            <a:off x="3505200" y="965200"/>
            <a:ext cx="2489200" cy="889000"/>
          </a:xfrm>
          <a:prstGeom prst="rect">
            <a:avLst/>
          </a:prstGeom>
          <a:noFill/>
        </p:spPr>
        <p:txBody>
          <a:bodyPr wrap="square">
            <a:spAutoFit/>
          </a:bodyPr>
          <a:lstStyle/>
          <a:p>
            <a:r>
              <a:rPr sz="1019" b="0">
                <a:solidFill>
                  <a:srgbClr val="000000"/>
                </a:solidFill>
              </a:rPr>
              <a:t>RADIUS THE BEAM ENERGY ALONE COULD NEVER RESOLVE PAST</a:t>
            </a:r>
          </a:p>
          <a:p>
            <a:r>
              <a:rPr sz="960" b="1">
                <a:solidFill>
                  <a:srgbClr val="000000"/>
                </a:solidFill>
              </a:rPr>
              <a:t>29.6 fm</a:t>
            </a:r>
          </a:p>
        </p:txBody>
      </p:sp>
      <p:sp>
        <p:nvSpPr>
          <p:cNvPr id="5" name="TextBox 4"/>
          <p:cNvSpPr txBox="1"/>
          <p:nvPr/>
        </p:nvSpPr>
        <p:spPr>
          <a:xfrm>
            <a:off x="6096000" y="965200"/>
            <a:ext cx="2489200" cy="889000"/>
          </a:xfrm>
          <a:prstGeom prst="rect">
            <a:avLst/>
          </a:prstGeom>
          <a:noFill/>
        </p:spPr>
        <p:txBody>
          <a:bodyPr wrap="square">
            <a:spAutoFit/>
          </a:bodyPr>
          <a:lstStyle/>
          <a:p>
            <a:r>
              <a:rPr sz="1019" b="0">
                <a:solidFill>
                  <a:srgbClr val="000000"/>
                </a:solidFill>
              </a:rPr>
              <a:t>COUNTS AT 150 DEGREES, FOIL IN</a:t>
            </a:r>
          </a:p>
          <a:p>
            <a:r>
              <a:rPr sz="960" b="1">
                <a:solidFill>
                  <a:srgbClr val="000000"/>
                </a:solidFill>
              </a:rPr>
              <a:t>94,117</a:t>
            </a:r>
          </a:p>
        </p:txBody>
      </p:sp>
      <p:sp>
        <p:nvSpPr>
          <p:cNvPr id="6" name="TextBox 5"/>
          <p:cNvSpPr txBox="1"/>
          <p:nvPr/>
        </p:nvSpPr>
        <p:spPr>
          <a:xfrm>
            <a:off x="8686800" y="965200"/>
            <a:ext cx="2489200" cy="889000"/>
          </a:xfrm>
          <a:prstGeom prst="rect">
            <a:avLst/>
          </a:prstGeom>
          <a:noFill/>
        </p:spPr>
        <p:txBody>
          <a:bodyPr wrap="square">
            <a:spAutoFit/>
          </a:bodyPr>
          <a:lstStyle/>
          <a:p>
            <a:r>
              <a:rPr sz="1019" b="0">
                <a:solidFill>
                  <a:srgbClr val="000000"/>
                </a:solidFill>
              </a:rPr>
              <a:t>COUNTS A DIFFUSE ATOM PREDICTS AT 150 DEGREES</a:t>
            </a:r>
          </a:p>
          <a:p>
            <a:r>
              <a:rPr sz="960" b="1">
                <a:solidFill>
                  <a:srgbClr val="000000"/>
                </a:solidFill>
              </a:rPr>
              <a:t>118.8</a:t>
            </a:r>
          </a:p>
        </p:txBody>
      </p:sp>
      <p:sp>
        <p:nvSpPr>
          <p:cNvPr id="7" name="TextBox 6"/>
          <p:cNvSpPr txBox="1"/>
          <p:nvPr/>
        </p:nvSpPr>
        <p:spPr>
          <a:xfrm>
            <a:off x="914400" y="2006600"/>
            <a:ext cx="10363200" cy="508000"/>
          </a:xfrm>
          <a:prstGeom prst="rect">
            <a:avLst/>
          </a:prstGeom>
          <a:noFill/>
        </p:spPr>
        <p:txBody>
          <a:bodyPr wrap="square">
            <a:spAutoFit/>
          </a:bodyPr>
          <a:lstStyle/>
          <a:p>
            <a:r>
              <a:rPr sz="1200" b="0">
                <a:solidFill>
                  <a:srgbClr val="000000"/>
                </a:solidFill>
              </a:rPr>
              <a:t>Model checking evaluates whether the observed counts and likelihood profiles are consistent with the model fit. A check of this kind can lower confidence in an estimate and can never establish one. These recorded diagnostics are reported in Table 3. Across the entire run, counts recorded across every station were 466849. At 150 degrees with the foil in, the count was 94117. In contrast, the counts a diffuse atom predicts at 150 degrees is 118.8. With the foil out, counts at 90 degrees were 11. In the profile likelihood analysis, the radius at which the profile likelihood bottoms is 32.3 fm. The radius the beam energy alone could never resolve past is 29.6 fm. These checks examine background levels, wide-angle counts, and profile minimums against resolution limits, leaving the remaining assumptions identified in earlier sections unexamined.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Model checking (cont.)</a:t>
            </a:r>
          </a:p>
        </p:txBody>
      </p:sp>
      <p:sp>
        <p:nvSpPr>
          <p:cNvPr id="3" name="TextBox 2"/>
          <p:cNvSpPr txBox="1"/>
          <p:nvPr/>
        </p:nvSpPr>
        <p:spPr>
          <a:xfrm>
            <a:off x="914400" y="965200"/>
            <a:ext cx="5080000" cy="889000"/>
          </a:xfrm>
          <a:prstGeom prst="rect">
            <a:avLst/>
          </a:prstGeom>
          <a:noFill/>
        </p:spPr>
        <p:txBody>
          <a:bodyPr wrap="square">
            <a:spAutoFit/>
          </a:bodyPr>
          <a:lstStyle/>
          <a:p>
            <a:r>
              <a:rPr sz="1019" b="0">
                <a:solidFill>
                  <a:srgbClr val="000000"/>
                </a:solidFill>
              </a:rPr>
              <a:t>COUNTS AT 90 DEGREES WITH THE FOIL OUT</a:t>
            </a:r>
          </a:p>
          <a:p>
            <a:r>
              <a:rPr sz="960" b="1">
                <a:solidFill>
                  <a:srgbClr val="000000"/>
                </a:solidFill>
              </a:rPr>
              <a:t>11</a:t>
            </a:r>
          </a:p>
        </p:txBody>
      </p:sp>
      <p:sp>
        <p:nvSpPr>
          <p:cNvPr id="4" name="TextBox 3"/>
          <p:cNvSpPr txBox="1"/>
          <p:nvPr/>
        </p:nvSpPr>
        <p:spPr>
          <a:xfrm>
            <a:off x="6096000" y="965200"/>
            <a:ext cx="5080000" cy="889000"/>
          </a:xfrm>
          <a:prstGeom prst="rect">
            <a:avLst/>
          </a:prstGeom>
          <a:noFill/>
        </p:spPr>
        <p:txBody>
          <a:bodyPr wrap="square">
            <a:spAutoFit/>
          </a:bodyPr>
          <a:lstStyle/>
          <a:p>
            <a:r>
              <a:rPr sz="1019" b="0">
                <a:solidFill>
                  <a:srgbClr val="000000"/>
                </a:solidFill>
              </a:rPr>
              <a:t>COUNTS RECORDED ACROSS EVERY STATION</a:t>
            </a:r>
          </a:p>
          <a:p>
            <a:r>
              <a:rPr sz="960" b="1">
                <a:solidFill>
                  <a:srgbClr val="000000"/>
                </a:solidFill>
              </a:rPr>
              <a:t>466,849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Discussion</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The upper limit on the radius of the positive charge of gold settled below the threshold, on the favourable side. This indicates that the positive charge is concentrated in a centre far smaller than the atom itself. The estimate resolves the primary question in the direction favorable to a concentrated central charge. What these findings license, however, is bounded by how the effect is identified. The identification is downgraded via profile likelihood on the counts, through one forward step. The single-scattering assumption is asserted from the foil thickness rather than measured. In contrast, every other assumption the bound leans on was measured by a station the design bought for that purpose. Taking the bound as an empirical fact about the atom therefore depends on an assertion that was not directly verified in the run. The entire reading remains conditional on three unresolved assumptions, and what each one claims is stated in the limitations section. From this analysis, we learn that the count data place the charge radius below the threshold if the foil behaves as asserted. That result raises the question of whether single scattering can be verified by direct measurement rather than asserted from foil thickness.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Conclusions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The positive charge of a gold atom is concentrated in a centre far smaller than the atom itself. The upper limit on the radius of the positive charge of gold settles on the favourable side of the threshold at 33.5 fm (95% WALD 0.0 to 33.5 fm). Identification is downgraded. The result remains conditional on three unresolved assumptions detailed in the limitations section: single scattering, that the counter is linear below its rate cap, and that the two atoms differ only in the radius of the positive charge.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Limitations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Identification is downgraded, leaving three standing assumptions that do work the data does not do. The first assumption is single scattering, which asserts that a wide-angle count is one close encounter rather than several. This licenses treating each observed deflection as an isolated event. The claim would be challenged by a thicker foil, where two encounters would compound. The second assumption asserts that the counter is linear below its rate cap. Under this claim, every aperture is opened only as wide as keeps the rate under 1.5 counts per second, where the counter does not miss particles. This licenses the observed tallies across detector stations without adjustment for missed counts. The claim would be challenged by a station run wide enough to pile up, which would under-report the busiest angles. The third assumption asserts that the two atoms differ only in the radius of the positive charge. It claims that a hard centre and a charge spread through the atom are one model at two values of one number, the radius R of the positive charge. This licenses evaluating structural differences strictly through variations in spatial extent. The claim would be challenged by any difference between the two atoms that is not a matter of extent.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Provenance</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Every number in this document resolves to a quantity in the evidence record below. Prose was checked against that record: any numeral not traceable to it, and any claim the record does not itself make, is reported rather than published.</a:t>
            </a:r>
          </a:p>
        </p:txBody>
      </p:sp>
      <p:graphicFrame>
        <p:nvGraphicFramePr>
          <p:cNvPr id="4" name="Table 3"/>
          <p:cNvGraphicFramePr>
            <a:graphicFrameLocks noGrp="1"/>
          </p:cNvGraphicFramePr>
          <p:nvPr/>
        </p:nvGraphicFramePr>
        <p:xfrm>
          <a:off x="914400" y="1371600"/>
          <a:ext cx="10363200" cy="24384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Quantity</a:t>
                      </a:r>
                    </a:p>
                  </a:txBody>
                  <a:tcPr/>
                </a:tc>
                <a:tc>
                  <a:txBody>
                    <a:bodyPr/>
                    <a:lstStyle/>
                    <a:p>
                      <a:r>
                        <a:rPr sz="1019" b="1">
                          <a:solidFill>
                            <a:srgbClr val="000000"/>
                          </a:solidFill>
                        </a:rPr>
                        <a:t>Key</a:t>
                      </a:r>
                    </a:p>
                  </a:txBody>
                  <a:tcPr/>
                </a:tc>
                <a:tc>
                  <a:txBody>
                    <a:bodyPr/>
                    <a:lstStyle/>
                    <a:p>
                      <a:r>
                        <a:rPr sz="1019" b="1">
                          <a:solidFill>
                            <a:srgbClr val="000000"/>
                          </a:solidFill>
                        </a:rPr>
                        <a:t>Value</a:t>
                      </a:r>
                    </a:p>
                  </a:txBody>
                  <a:tcPr/>
                </a:tc>
                <a:tc>
                  <a:txBody>
                    <a:bodyPr/>
                    <a:lstStyle/>
                    <a:p>
                      <a:r>
                        <a:rPr sz="1019" b="1">
                          <a:solidFill>
                            <a:srgbClr val="000000"/>
                          </a:solidFill>
                        </a:rPr>
                        <a:t>Produced by</a:t>
                      </a:r>
                    </a:p>
                  </a:txBody>
                  <a:tcPr/>
                </a:tc>
              </a:tr>
              <a:tr h="304800">
                <a:tc>
                  <a:txBody>
                    <a:bodyPr/>
                    <a:lstStyle/>
                    <a:p>
                      <a:r>
                        <a:rPr sz="1019" b="0">
                          <a:solidFill>
                            <a:srgbClr val="000000"/>
                          </a:solidFill>
                        </a:rPr>
                        <a:t>Upper limit on the radius of the positive charge of gold</a:t>
                      </a:r>
                    </a:p>
                  </a:txBody>
                  <a:tcPr/>
                </a:tc>
                <a:tc>
                  <a:txBody>
                    <a:bodyPr/>
                    <a:lstStyle/>
                    <a:p>
                      <a:r>
                        <a:rPr sz="1019" b="0">
                          <a:solidFill>
                            <a:srgbClr val="000000"/>
                          </a:solidFill>
                        </a:rPr>
                        <a:t>radius</a:t>
                      </a:r>
                    </a:p>
                  </a:txBody>
                  <a:tcPr/>
                </a:tc>
                <a:tc>
                  <a:txBody>
                    <a:bodyPr/>
                    <a:lstStyle/>
                    <a:p>
                      <a:r>
                        <a:rPr sz="1019" b="0">
                          <a:solidFill>
                            <a:srgbClr val="000000"/>
                          </a:solidFill>
                        </a:rPr>
                        <a:t>33.5 fm (95% WALD 0.0 to 33.5 fm)</a:t>
                      </a:r>
                    </a:p>
                  </a:txBody>
                  <a:tcPr/>
                </a:tc>
                <a:tc>
                  <a:txBody>
                    <a:bodyPr/>
                    <a:lstStyle/>
                    <a:p>
                      <a:r>
                        <a:rPr sz="1019" b="0">
                          <a:solidFill>
                            <a:srgbClr val="000000"/>
                          </a:solidFill>
                        </a:rPr>
                        <a:t>design.profile_likelihood on lam</a:t>
                      </a:r>
                    </a:p>
                  </a:txBody>
                  <a:tcPr/>
                </a:tc>
              </a:tr>
              <a:tr h="304800">
                <a:tc>
                  <a:txBody>
                    <a:bodyPr/>
                    <a:lstStyle/>
                    <a:p>
                      <a:r>
                        <a:rPr sz="1019" b="0">
                          <a:solidFill>
                            <a:srgbClr val="000000"/>
                          </a:solidFill>
                        </a:rPr>
                        <a:t>Radius at which the profile likelihood bottoms</a:t>
                      </a:r>
                    </a:p>
                  </a:txBody>
                  <a:tcPr/>
                </a:tc>
                <a:tc>
                  <a:txBody>
                    <a:bodyPr/>
                    <a:lstStyle/>
                    <a:p>
                      <a:r>
                        <a:rPr sz="1019" b="0">
                          <a:solidFill>
                            <a:srgbClr val="000000"/>
                          </a:solidFill>
                        </a:rPr>
                        <a:t>profile_min</a:t>
                      </a:r>
                    </a:p>
                  </a:txBody>
                  <a:tcPr/>
                </a:tc>
                <a:tc>
                  <a:txBody>
                    <a:bodyPr/>
                    <a:lstStyle/>
                    <a:p>
                      <a:r>
                        <a:rPr sz="1019" b="0">
                          <a:solidFill>
                            <a:srgbClr val="000000"/>
                          </a:solidFill>
                        </a:rPr>
                        <a:t>32.3 fm</a:t>
                      </a:r>
                    </a:p>
                  </a:txBody>
                  <a:tcPr/>
                </a:tc>
                <a:tc>
                  <a:txBody>
                    <a:bodyPr/>
                    <a:lstStyle/>
                    <a:p>
                      <a:r>
                        <a:rPr sz="1019" b="0">
                          <a:solidFill>
                            <a:srgbClr val="000000"/>
                          </a:solidFill>
                        </a:rPr>
                        <a:t>—</a:t>
                      </a:r>
                    </a:p>
                  </a:txBody>
                  <a:tcPr/>
                </a:tc>
              </a:tr>
              <a:tr h="304800">
                <a:tc>
                  <a:txBody>
                    <a:bodyPr/>
                    <a:lstStyle/>
                    <a:p>
                      <a:r>
                        <a:rPr sz="1019" b="0">
                          <a:solidFill>
                            <a:srgbClr val="000000"/>
                          </a:solidFill>
                        </a:rPr>
                        <a:t>Radius the beam energy alone could never resolve past</a:t>
                      </a:r>
                    </a:p>
                  </a:txBody>
                  <a:tcPr/>
                </a:tc>
                <a:tc>
                  <a:txBody>
                    <a:bodyPr/>
                    <a:lstStyle/>
                    <a:p>
                      <a:r>
                        <a:rPr sz="1019" b="0">
                          <a:solidFill>
                            <a:srgbClr val="000000"/>
                          </a:solidFill>
                        </a:rPr>
                        <a:t>floor</a:t>
                      </a:r>
                    </a:p>
                  </a:txBody>
                  <a:tcPr/>
                </a:tc>
                <a:tc>
                  <a:txBody>
                    <a:bodyPr/>
                    <a:lstStyle/>
                    <a:p>
                      <a:r>
                        <a:rPr sz="1019" b="0">
                          <a:solidFill>
                            <a:srgbClr val="000000"/>
                          </a:solidFill>
                        </a:rPr>
                        <a:t>29.6 fm</a:t>
                      </a:r>
                    </a:p>
                  </a:txBody>
                  <a:tcPr/>
                </a:tc>
                <a:tc>
                  <a:txBody>
                    <a:bodyPr/>
                    <a:lstStyle/>
                    <a:p>
                      <a:r>
                        <a:rPr sz="1019" b="0">
                          <a:solidFill>
                            <a:srgbClr val="000000"/>
                          </a:solidFill>
                        </a:rPr>
                        <a:t>—</a:t>
                      </a:r>
                    </a:p>
                  </a:txBody>
                  <a:tcPr/>
                </a:tc>
              </a:tr>
              <a:tr h="304800">
                <a:tc>
                  <a:txBody>
                    <a:bodyPr/>
                    <a:lstStyle/>
                    <a:p>
                      <a:r>
                        <a:rPr sz="1019" b="0">
                          <a:solidFill>
                            <a:srgbClr val="000000"/>
                          </a:solidFill>
                        </a:rPr>
                        <a:t>Counts at 150 degrees, foil in</a:t>
                      </a:r>
                    </a:p>
                  </a:txBody>
                  <a:tcPr/>
                </a:tc>
                <a:tc>
                  <a:txBody>
                    <a:bodyPr/>
                    <a:lstStyle/>
                    <a:p>
                      <a:r>
                        <a:rPr sz="1019" b="0">
                          <a:solidFill>
                            <a:srgbClr val="000000"/>
                          </a:solidFill>
                        </a:rPr>
                        <a:t>witness_counts</a:t>
                      </a:r>
                    </a:p>
                  </a:txBody>
                  <a:tcPr/>
                </a:tc>
                <a:tc>
                  <a:txBody>
                    <a:bodyPr/>
                    <a:lstStyle/>
                    <a:p>
                      <a:r>
                        <a:rPr sz="1019" b="0">
                          <a:solidFill>
                            <a:srgbClr val="000000"/>
                          </a:solidFill>
                        </a:rPr>
                        <a:t>94117</a:t>
                      </a:r>
                    </a:p>
                  </a:txBody>
                  <a:tcPr/>
                </a:tc>
                <a:tc>
                  <a:txBody>
                    <a:bodyPr/>
                    <a:lstStyle/>
                    <a:p>
                      <a:r>
                        <a:rPr sz="1019" b="0">
                          <a:solidFill>
                            <a:srgbClr val="000000"/>
                          </a:solidFill>
                        </a:rPr>
                        <a:t>—</a:t>
                      </a:r>
                    </a:p>
                  </a:txBody>
                  <a:tcPr/>
                </a:tc>
              </a:tr>
              <a:tr h="304800">
                <a:tc>
                  <a:txBody>
                    <a:bodyPr/>
                    <a:lstStyle/>
                    <a:p>
                      <a:r>
                        <a:rPr sz="1019" b="0">
                          <a:solidFill>
                            <a:srgbClr val="000000"/>
                          </a:solidFill>
                        </a:rPr>
                        <a:t>Counts a diffuse atom predicts at 150 degrees</a:t>
                      </a:r>
                    </a:p>
                  </a:txBody>
                  <a:tcPr/>
                </a:tc>
                <a:tc>
                  <a:txBody>
                    <a:bodyPr/>
                    <a:lstStyle/>
                    <a:p>
                      <a:r>
                        <a:rPr sz="1019" b="0">
                          <a:solidFill>
                            <a:srgbClr val="000000"/>
                          </a:solidFill>
                        </a:rPr>
                        <a:t>witness_if_diffuse</a:t>
                      </a:r>
                    </a:p>
                  </a:txBody>
                  <a:tcPr/>
                </a:tc>
                <a:tc>
                  <a:txBody>
                    <a:bodyPr/>
                    <a:lstStyle/>
                    <a:p>
                      <a:r>
                        <a:rPr sz="1019" b="0">
                          <a:solidFill>
                            <a:srgbClr val="000000"/>
                          </a:solidFill>
                        </a:rPr>
                        <a:t>118.8</a:t>
                      </a:r>
                    </a:p>
                  </a:txBody>
                  <a:tcPr/>
                </a:tc>
                <a:tc>
                  <a:txBody>
                    <a:bodyPr/>
                    <a:lstStyle/>
                    <a:p>
                      <a:r>
                        <a:rPr sz="1019" b="0">
                          <a:solidFill>
                            <a:srgbClr val="000000"/>
                          </a:solidFill>
                        </a:rPr>
                        <a:t>—</a:t>
                      </a:r>
                    </a:p>
                  </a:txBody>
                  <a:tcPr/>
                </a:tc>
              </a:tr>
              <a:tr h="304800">
                <a:tc>
                  <a:txBody>
                    <a:bodyPr/>
                    <a:lstStyle/>
                    <a:p>
                      <a:r>
                        <a:rPr sz="1019" b="0">
                          <a:solidFill>
                            <a:srgbClr val="000000"/>
                          </a:solidFill>
                        </a:rPr>
                        <a:t>Counts at 90 degrees with the foil out</a:t>
                      </a:r>
                    </a:p>
                  </a:txBody>
                  <a:tcPr/>
                </a:tc>
                <a:tc>
                  <a:txBody>
                    <a:bodyPr/>
                    <a:lstStyle/>
                    <a:p>
                      <a:r>
                        <a:rPr sz="1019" b="0">
                          <a:solidFill>
                            <a:srgbClr val="000000"/>
                          </a:solidFill>
                        </a:rPr>
                        <a:t>background_counts</a:t>
                      </a:r>
                    </a:p>
                  </a:txBody>
                  <a:tcPr/>
                </a:tc>
                <a:tc>
                  <a:txBody>
                    <a:bodyPr/>
                    <a:lstStyle/>
                    <a:p>
                      <a:r>
                        <a:rPr sz="1019" b="0">
                          <a:solidFill>
                            <a:srgbClr val="000000"/>
                          </a:solidFill>
                        </a:rPr>
                        <a:t>11</a:t>
                      </a:r>
                    </a:p>
                  </a:txBody>
                  <a:tcPr/>
                </a:tc>
                <a:tc>
                  <a:txBody>
                    <a:bodyPr/>
                    <a:lstStyle/>
                    <a:p>
                      <a:r>
                        <a:rPr sz="1019" b="0">
                          <a:solidFill>
                            <a:srgbClr val="000000"/>
                          </a:solidFill>
                        </a:rPr>
                        <a:t>—</a:t>
                      </a:r>
                    </a:p>
                  </a:txBody>
                  <a:tcPr/>
                </a:tc>
              </a:tr>
              <a:tr h="304800">
                <a:tc>
                  <a:txBody>
                    <a:bodyPr/>
                    <a:lstStyle/>
                    <a:p>
                      <a:r>
                        <a:rPr sz="1019" b="0">
                          <a:solidFill>
                            <a:srgbClr val="000000"/>
                          </a:solidFill>
                        </a:rPr>
                        <a:t>Counts recorded across every station</a:t>
                      </a:r>
                    </a:p>
                  </a:txBody>
                  <a:tcPr/>
                </a:tc>
                <a:tc>
                  <a:txBody>
                    <a:bodyPr/>
                    <a:lstStyle/>
                    <a:p>
                      <a:r>
                        <a:rPr sz="1019" b="0">
                          <a:solidFill>
                            <a:srgbClr val="000000"/>
                          </a:solidFill>
                        </a:rPr>
                        <a:t>total_counts</a:t>
                      </a:r>
                    </a:p>
                  </a:txBody>
                  <a:tcPr/>
                </a:tc>
                <a:tc>
                  <a:txBody>
                    <a:bodyPr/>
                    <a:lstStyle/>
                    <a:p>
                      <a:r>
                        <a:rPr sz="1019" b="0">
                          <a:solidFill>
                            <a:srgbClr val="000000"/>
                          </a:solidFill>
                        </a:rPr>
                        <a:t>466849</a:t>
                      </a:r>
                    </a:p>
                  </a:txBody>
                  <a:tcPr/>
                </a:tc>
                <a:tc>
                  <a:txBody>
                    <a:bodyPr/>
                    <a:lstStyle/>
                    <a:p>
                      <a:r>
                        <a:rPr sz="1019" b="0">
                          <a:solidFill>
                            <a:srgbClr val="000000"/>
                          </a:solidFill>
                        </a:rPr>
                        <a:t>—</a:t>
                      </a:r>
                    </a:p>
                  </a:txBody>
                  <a:tcPr/>
                </a:tc>
              </a:tr>
            </a:tbl>
          </a:graphicData>
        </a:graphic>
      </p:graphicFrame>
      <p:graphicFrame>
        <p:nvGraphicFramePr>
          <p:cNvPr id="5" name="Table 4"/>
          <p:cNvGraphicFramePr>
            <a:graphicFrameLocks noGrp="1"/>
          </p:cNvGraphicFramePr>
          <p:nvPr/>
        </p:nvGraphicFramePr>
        <p:xfrm>
          <a:off x="914400" y="3962400"/>
          <a:ext cx="10363200" cy="1981200"/>
        </p:xfrm>
        <a:graphic>
          <a:graphicData uri="http://schemas.openxmlformats.org/drawingml/2006/table">
            <a:tbl>
              <a:tblPr firstRow="1" bandRow="1">
                <a:tableStyleId>{5C22544A-7EE6-4342-B048-85BDC9FD1C3A}</a:tableStyleId>
              </a:tblPr>
              <a:tblGrid>
                <a:gridCol w="5181600"/>
                <a:gridCol w="5181600"/>
              </a:tblGrid>
              <a:tr h="123825">
                <a:tc>
                  <a:txBody>
                    <a:bodyPr/>
                    <a:lstStyle/>
                    <a:p>
                      <a:r>
                        <a:rPr sz="1019" b="1">
                          <a:solidFill>
                            <a:srgbClr val="000000"/>
                          </a:solidFill>
                        </a:rPr>
                        <a:t>Field</a:t>
                      </a:r>
                    </a:p>
                  </a:txBody>
                  <a:tcPr/>
                </a:tc>
                <a:tc>
                  <a:txBody>
                    <a:bodyPr/>
                    <a:lstStyle/>
                    <a:p>
                      <a:r>
                        <a:rPr sz="1019" b="1">
                          <a:solidFill>
                            <a:srgbClr val="000000"/>
                          </a:solidFill>
                        </a:rPr>
                        <a:t>Value</a:t>
                      </a:r>
                    </a:p>
                  </a:txBody>
                  <a:tcPr/>
                </a:tc>
              </a:tr>
              <a:tr h="123825">
                <a:tc>
                  <a:txBody>
                    <a:bodyPr/>
                    <a:lstStyle/>
                    <a:p>
                      <a:r>
                        <a:rPr sz="1019" b="0">
                          <a:solidFill>
                            <a:srgbClr val="000000"/>
                          </a:solidFill>
                        </a:rPr>
                        <a:t>estimator</a:t>
                      </a:r>
                    </a:p>
                  </a:txBody>
                  <a:tcPr/>
                </a:tc>
                <a:tc>
                  <a:txBody>
                    <a:bodyPr/>
                    <a:lstStyle/>
                    <a:p>
                      <a:r>
                        <a:rPr sz="1019" b="0">
                          <a:solidFill>
                            <a:srgbClr val="000000"/>
                          </a:solidFill>
                        </a:rPr>
                        <a:t>profile likelihood on lam, one-sided</a:t>
                      </a:r>
                    </a:p>
                  </a:txBody>
                  <a:tcPr/>
                </a:tc>
              </a:tr>
              <a:tr h="123825">
                <a:tc>
                  <a:txBody>
                    <a:bodyPr/>
                    <a:lstStyle/>
                    <a:p>
                      <a:r>
                        <a:rPr sz="1019" b="0">
                          <a:solidFill>
                            <a:srgbClr val="000000"/>
                          </a:solidFill>
                        </a:rPr>
                        <a:t>interval_mass</a:t>
                      </a:r>
                    </a:p>
                  </a:txBody>
                  <a:tcPr/>
                </a:tc>
                <a:tc>
                  <a:txBody>
                    <a:bodyPr/>
                    <a:lstStyle/>
                    <a:p>
                      <a:r>
                        <a:rPr sz="1019" b="0">
                          <a:solidFill>
                            <a:srgbClr val="000000"/>
                          </a:solidFill>
                        </a:rPr>
                        <a:t>95%</a:t>
                      </a:r>
                    </a:p>
                  </a:txBody>
                  <a:tcPr/>
                </a:tc>
              </a:tr>
              <a:tr h="123825">
                <a:tc>
                  <a:txBody>
                    <a:bodyPr/>
                    <a:lstStyle/>
                    <a:p>
                      <a:r>
                        <a:rPr sz="1019" b="0">
                          <a:solidFill>
                            <a:srgbClr val="000000"/>
                          </a:solidFill>
                        </a:rPr>
                        <a:t>observing_hours</a:t>
                      </a:r>
                    </a:p>
                  </a:txBody>
                  <a:tcPr/>
                </a:tc>
                <a:tc>
                  <a:txBody>
                    <a:bodyPr/>
                    <a:lstStyle/>
                    <a:p>
                      <a:r>
                        <a:rPr sz="1019" b="0">
                          <a:solidFill>
                            <a:srgbClr val="000000"/>
                          </a:solidFill>
                        </a:rPr>
                        <a:t>200</a:t>
                      </a:r>
                    </a:p>
                  </a:txBody>
                  <a:tcPr/>
                </a:tc>
              </a:tr>
              <a:tr h="123825">
                <a:tc>
                  <a:txBody>
                    <a:bodyPr/>
                    <a:lstStyle/>
                    <a:p>
                      <a:r>
                        <a:rPr sz="1019" b="0">
                          <a:solidFill>
                            <a:srgbClr val="000000"/>
                          </a:solidFill>
                        </a:rPr>
                        <a:t>seed</a:t>
                      </a:r>
                    </a:p>
                  </a:txBody>
                  <a:tcPr/>
                </a:tc>
                <a:tc>
                  <a:txBody>
                    <a:bodyPr/>
                    <a:lstStyle/>
                    <a:p>
                      <a:r>
                        <a:rPr sz="1019" b="0">
                          <a:solidFill>
                            <a:srgbClr val="000000"/>
                          </a:solidFill>
                        </a:rPr>
                        <a:t>1911</a:t>
                      </a:r>
                    </a:p>
                  </a:txBody>
                  <a:tcPr/>
                </a:tc>
              </a:tr>
              <a:tr h="123825">
                <a:tc>
                  <a:txBody>
                    <a:bodyPr/>
                    <a:lstStyle/>
                    <a:p>
                      <a:r>
                        <a:rPr sz="1019" b="0">
                          <a:solidFill>
                            <a:srgbClr val="000000"/>
                          </a:solidFill>
                        </a:rPr>
                        <a:t>world</a:t>
                      </a:r>
                    </a:p>
                  </a:txBody>
                  <a:tcPr/>
                </a:tc>
                <a:tc>
                  <a:txBody>
                    <a:bodyPr/>
                    <a:lstStyle/>
                    <a:p>
                      <a:r>
                        <a:rPr sz="1019" b="0">
                          <a:solidFill>
                            <a:srgbClr val="000000"/>
                          </a:solidFill>
                        </a:rPr>
                        <a:t>nbs/case-studies/rutherford/scattering.py</a:t>
                      </a:r>
                    </a:p>
                  </a:txBody>
                  <a:tcPr/>
                </a:tc>
              </a:tr>
              <a:tr h="123825">
                <a:tc>
                  <a:txBody>
                    <a:bodyPr/>
                    <a:lstStyle/>
                    <a:p>
                      <a:r>
                        <a:rPr sz="1019" b="0">
                          <a:solidFill>
                            <a:srgbClr val="000000"/>
                          </a:solidFill>
                        </a:rPr>
                        <a:t>evidence hash</a:t>
                      </a:r>
                    </a:p>
                  </a:txBody>
                  <a:tcPr/>
                </a:tc>
                <a:tc>
                  <a:txBody>
                    <a:bodyPr/>
                    <a:lstStyle/>
                    <a:p>
                      <a:r>
                        <a:rPr sz="1019" b="0">
                          <a:solidFill>
                            <a:srgbClr val="000000"/>
                          </a:solidFill>
                        </a:rPr>
                        <a:t>e8f37b522ca34db4d0bfd8bebb94b492fca1ffcc356a5dac330b4370d7de1efc</a:t>
                      </a:r>
                    </a:p>
                  </a:txBody>
                  <a:tcPr/>
                </a:tc>
              </a:tr>
              <a:tr h="123825">
                <a:tc>
                  <a:txBody>
                    <a:bodyPr/>
                    <a:lstStyle/>
                    <a:p>
                      <a:r>
                        <a:rPr sz="1019" b="0">
                          <a:solidFill>
                            <a:srgbClr val="000000"/>
                          </a:solidFill>
                        </a:rPr>
                        <a:t>narration: abstract</a:t>
                      </a:r>
                    </a:p>
                  </a:txBody>
                  <a:tcPr/>
                </a:tc>
                <a:tc>
                  <a:txBody>
                    <a:bodyPr/>
                    <a:lstStyle/>
                    <a:p>
                      <a:r>
                        <a:rPr sz="1019" b="0">
                          <a:solidFill>
                            <a:srgbClr val="000000"/>
                          </a:solidFill>
                        </a:rPr>
                        <a:t>gemini-3.5-flash-lite — verified</a:t>
                      </a:r>
                    </a:p>
                  </a:txBody>
                  <a:tcPr/>
                </a:tc>
              </a:tr>
              <a:tr h="123825">
                <a:tc>
                  <a:txBody>
                    <a:bodyPr/>
                    <a:lstStyle/>
                    <a:p>
                      <a:r>
                        <a:rPr sz="1019" b="0">
                          <a:solidFill>
                            <a:srgbClr val="000000"/>
                          </a:solidFill>
                        </a:rPr>
                        <a:t>narration: title_page</a:t>
                      </a:r>
                    </a:p>
                  </a:txBody>
                  <a:tcPr/>
                </a:tc>
                <a:tc>
                  <a:txBody>
                    <a:bodyPr/>
                    <a:lstStyle/>
                    <a:p>
                      <a:r>
                        <a:rPr sz="1019" b="0">
                          <a:solidFill>
                            <a:srgbClr val="000000"/>
                          </a:solidFill>
                        </a:rPr>
                        <a:t>gemini-3.7-flash — verified</a:t>
                      </a:r>
                    </a:p>
                  </a:txBody>
                  <a:tcPr/>
                </a:tc>
              </a:tr>
              <a:tr h="123825">
                <a:tc>
                  <a:txBody>
                    <a:bodyPr/>
                    <a:lstStyle/>
                    <a:p>
                      <a:r>
                        <a:rPr sz="1019" b="0">
                          <a:solidFill>
                            <a:srgbClr val="000000"/>
                          </a:solidFill>
                        </a:rPr>
                        <a:t>narration: introduction</a:t>
                      </a:r>
                    </a:p>
                  </a:txBody>
                  <a:tcPr/>
                </a:tc>
                <a:tc>
                  <a:txBody>
                    <a:bodyPr/>
                    <a:lstStyle/>
                    <a:p>
                      <a:r>
                        <a:rPr sz="1019" b="0">
                          <a:solidFill>
                            <a:srgbClr val="000000"/>
                          </a:solidFill>
                        </a:rPr>
                        <a:t>gemini-3.7-flash — verified</a:t>
                      </a:r>
                    </a:p>
                  </a:txBody>
                  <a:tcPr/>
                </a:tc>
              </a:tr>
              <a:tr h="123825">
                <a:tc>
                  <a:txBody>
                    <a:bodyPr/>
                    <a:lstStyle/>
                    <a:p>
                      <a:r>
                        <a:rPr sz="1019" b="0">
                          <a:solidFill>
                            <a:srgbClr val="000000"/>
                          </a:solidFill>
                        </a:rPr>
                        <a:t>narration: methods</a:t>
                      </a:r>
                    </a:p>
                  </a:txBody>
                  <a:tcPr/>
                </a:tc>
                <a:tc>
                  <a:txBody>
                    <a:bodyPr/>
                    <a:lstStyle/>
                    <a:p>
                      <a:r>
                        <a:rPr sz="1019" b="0">
                          <a:solidFill>
                            <a:srgbClr val="000000"/>
                          </a:solidFill>
                        </a:rPr>
                        <a:t>gemini-3.7-flash — verified</a:t>
                      </a:r>
                    </a:p>
                  </a:txBody>
                  <a:tcPr/>
                </a:tc>
              </a:tr>
              <a:tr h="123825">
                <a:tc>
                  <a:txBody>
                    <a:bodyPr/>
                    <a:lstStyle/>
                    <a:p>
                      <a:r>
                        <a:rPr sz="1019" b="0">
                          <a:solidFill>
                            <a:srgbClr val="000000"/>
                          </a:solidFill>
                        </a:rPr>
                        <a:t>narration: results</a:t>
                      </a:r>
                    </a:p>
                  </a:txBody>
                  <a:tcPr/>
                </a:tc>
                <a:tc>
                  <a:txBody>
                    <a:bodyPr/>
                    <a:lstStyle/>
                    <a:p>
                      <a:r>
                        <a:rPr sz="1019" b="0">
                          <a:solidFill>
                            <a:srgbClr val="000000"/>
                          </a:solidFill>
                        </a:rPr>
                        <a:t>gemini-3.7-flash — verified</a:t>
                      </a:r>
                    </a:p>
                  </a:txBody>
                  <a:tcPr/>
                </a:tc>
              </a:tr>
              <a:tr h="123825">
                <a:tc>
                  <a:txBody>
                    <a:bodyPr/>
                    <a:lstStyle/>
                    <a:p>
                      <a:r>
                        <a:rPr sz="1019" b="0">
                          <a:solidFill>
                            <a:srgbClr val="000000"/>
                          </a:solidFill>
                        </a:rPr>
                        <a:t>narration: diagnostics</a:t>
                      </a:r>
                    </a:p>
                  </a:txBody>
                  <a:tcPr/>
                </a:tc>
                <a:tc>
                  <a:txBody>
                    <a:bodyPr/>
                    <a:lstStyle/>
                    <a:p>
                      <a:r>
                        <a:rPr sz="1019" b="0">
                          <a:solidFill>
                            <a:srgbClr val="000000"/>
                          </a:solidFill>
                        </a:rPr>
                        <a:t>gemini-3.7-flash — verified</a:t>
                      </a:r>
                    </a:p>
                  </a:txBody>
                  <a:tcPr/>
                </a:tc>
              </a:tr>
              <a:tr h="123825">
                <a:tc>
                  <a:txBody>
                    <a:bodyPr/>
                    <a:lstStyle/>
                    <a:p>
                      <a:r>
                        <a:rPr sz="1019" b="0">
                          <a:solidFill>
                            <a:srgbClr val="000000"/>
                          </a:solidFill>
                        </a:rPr>
                        <a:t>narration: discussion</a:t>
                      </a:r>
                    </a:p>
                  </a:txBody>
                  <a:tcPr/>
                </a:tc>
                <a:tc>
                  <a:txBody>
                    <a:bodyPr/>
                    <a:lstStyle/>
                    <a:p>
                      <a:r>
                        <a:rPr sz="1019" b="0">
                          <a:solidFill>
                            <a:srgbClr val="000000"/>
                          </a:solidFill>
                        </a:rPr>
                        <a:t>gemini-3.7-flash — verified</a:t>
                      </a:r>
                    </a:p>
                  </a:txBody>
                  <a:tcPr/>
                </a:tc>
              </a:tr>
              <a:tr h="123825">
                <a:tc>
                  <a:txBody>
                    <a:bodyPr/>
                    <a:lstStyle/>
                    <a:p>
                      <a:r>
                        <a:rPr sz="1019" b="0">
                          <a:solidFill>
                            <a:srgbClr val="000000"/>
                          </a:solidFill>
                        </a:rPr>
                        <a:t>narration: conclusions</a:t>
                      </a:r>
                    </a:p>
                  </a:txBody>
                  <a:tcPr/>
                </a:tc>
                <a:tc>
                  <a:txBody>
                    <a:bodyPr/>
                    <a:lstStyle/>
                    <a:p>
                      <a:r>
                        <a:rPr sz="1019" b="0">
                          <a:solidFill>
                            <a:srgbClr val="000000"/>
                          </a:solidFill>
                        </a:rPr>
                        <a:t>gemini-3.7-flash — verified</a:t>
                      </a:r>
                    </a:p>
                  </a:txBody>
                  <a:tcPr/>
                </a:tc>
              </a:tr>
              <a:tr h="123825">
                <a:tc>
                  <a:txBody>
                    <a:bodyPr/>
                    <a:lstStyle/>
                    <a:p>
                      <a:r>
                        <a:rPr sz="1019" b="0">
                          <a:solidFill>
                            <a:srgbClr val="000000"/>
                          </a:solidFill>
                        </a:rPr>
                        <a:t>narration: limitations</a:t>
                      </a:r>
                    </a:p>
                  </a:txBody>
                  <a:tcPr/>
                </a:tc>
                <a:tc>
                  <a:txBody>
                    <a:bodyPr/>
                    <a:lstStyle/>
                    <a:p>
                      <a:r>
                        <a:rPr sz="1019" b="0">
                          <a:solidFill>
                            <a:srgbClr val="000000"/>
                          </a:solidFill>
                        </a:rPr>
                        <a:t>gemini-3.7-flash — verified</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1*. The design, as recorded parameters.</a:t>
            </a:r>
          </a:p>
        </p:txBody>
      </p:sp>
      <p:graphicFrame>
        <p:nvGraphicFramePr>
          <p:cNvPr id="4" name="Table 3"/>
          <p:cNvGraphicFramePr>
            <a:graphicFrameLocks noGrp="1"/>
          </p:cNvGraphicFramePr>
          <p:nvPr/>
        </p:nvGraphicFramePr>
        <p:xfrm>
          <a:off x="914400" y="1219200"/>
          <a:ext cx="10363200" cy="4724400"/>
        </p:xfrm>
        <a:graphic>
          <a:graphicData uri="http://schemas.openxmlformats.org/drawingml/2006/table">
            <a:tbl>
              <a:tblPr firstRow="1" bandRow="1">
                <a:tableStyleId>{5C22544A-7EE6-4342-B048-85BDC9FD1C3A}</a:tableStyleId>
              </a:tblPr>
              <a:tblGrid>
                <a:gridCol w="3454400"/>
                <a:gridCol w="3454400"/>
                <a:gridCol w="3454400"/>
              </a:tblGrid>
              <a:tr h="205408">
                <a:tc>
                  <a:txBody>
                    <a:bodyPr/>
                    <a:lstStyle/>
                    <a:p>
                      <a:r>
                        <a:rPr sz="1019" b="1">
                          <a:solidFill>
                            <a:srgbClr val="000000"/>
                          </a:solidFill>
                        </a:rPr>
                        <a:t>Step</a:t>
                      </a:r>
                    </a:p>
                  </a:txBody>
                  <a:tcPr/>
                </a:tc>
                <a:tc>
                  <a:txBody>
                    <a:bodyPr/>
                    <a:lstStyle/>
                    <a:p>
                      <a:r>
                        <a:rPr sz="1019" b="1">
                          <a:solidFill>
                            <a:srgbClr val="000000"/>
                          </a:solidFill>
                        </a:rPr>
                        <a:t>Parameter</a:t>
                      </a:r>
                    </a:p>
                  </a:txBody>
                  <a:tcPr/>
                </a:tc>
                <a:tc>
                  <a:txBody>
                    <a:bodyPr/>
                    <a:lstStyle/>
                    <a:p>
                      <a:r>
                        <a:rPr sz="1019" b="1">
                          <a:solidFill>
                            <a:srgbClr val="000000"/>
                          </a:solidFill>
                        </a:rPr>
                        <a:t>Value</a:t>
                      </a:r>
                    </a:p>
                  </a:txBody>
                  <a:tcPr/>
                </a:tc>
              </a:tr>
              <a:tr h="205408">
                <a:tc>
                  <a:txBody>
                    <a:bodyPr/>
                    <a:lstStyle/>
                    <a:p>
                      <a:r>
                        <a:rPr sz="1019" b="0">
                          <a:solidFill>
                            <a:srgbClr val="000000"/>
                          </a:solidFill>
                        </a:rPr>
                        <a:t>Identification</a:t>
                      </a:r>
                    </a:p>
                  </a:txBody>
                  <a:tcPr/>
                </a:tc>
                <a:tc>
                  <a:txBody>
                    <a:bodyPr/>
                    <a:lstStyle/>
                    <a:p>
                      <a:r>
                        <a:rPr sz="1019" b="0">
                          <a:solidFill>
                            <a:srgbClr val="000000"/>
                          </a:solidFill>
                        </a:rPr>
                        <a:t>route</a:t>
                      </a:r>
                    </a:p>
                  </a:txBody>
                  <a:tcPr/>
                </a:tc>
                <a:tc>
                  <a:txBody>
                    <a:bodyPr/>
                    <a:lstStyle/>
                    <a:p>
                      <a:r>
                        <a:rPr sz="1019" b="0">
                          <a:solidFill>
                            <a:srgbClr val="000000"/>
                          </a:solidFill>
                        </a:rPr>
                        <a:t>profile likelihood on the counts, through one forward()</a:t>
                      </a:r>
                    </a:p>
                  </a:txBody>
                  <a:tcPr/>
                </a:tc>
              </a:tr>
              <a:tr h="205408">
                <a:tc>
                  <a:txBody>
                    <a:bodyPr/>
                    <a:lstStyle/>
                    <a:p>
                      <a:r>
                        <a:rPr sz="1019" b="0">
                          <a:solidFill>
                            <a:srgbClr val="000000"/>
                          </a:solidFill>
                        </a:rPr>
                        <a:t>Identification</a:t>
                      </a:r>
                    </a:p>
                  </a:txBody>
                  <a:tcPr/>
                </a:tc>
                <a:tc>
                  <a:txBody>
                    <a:bodyPr/>
                    <a:lstStyle/>
                    <a:p>
                      <a:r>
                        <a:rPr sz="1019" b="0">
                          <a:solidFill>
                            <a:srgbClr val="000000"/>
                          </a:solidFill>
                        </a:rPr>
                        <a:t>status</a:t>
                      </a:r>
                    </a:p>
                  </a:txBody>
                  <a:tcPr/>
                </a:tc>
                <a:tc>
                  <a:txBody>
                    <a:bodyPr/>
                    <a:lstStyle/>
                    <a:p>
                      <a:r>
                        <a:rPr sz="1019" b="0">
                          <a:solidFill>
                            <a:srgbClr val="000000"/>
                          </a:solidFill>
                        </a:rPr>
                        <a:t>downgraded</a:t>
                      </a:r>
                    </a:p>
                  </a:txBody>
                  <a:tcPr/>
                </a:tc>
              </a:tr>
              <a:tr h="205408">
                <a:tc>
                  <a:txBody>
                    <a:bodyPr/>
                    <a:lstStyle/>
                    <a:p>
                      <a:r>
                        <a:rPr sz="1019" b="0">
                          <a:solidFill>
                            <a:srgbClr val="000000"/>
                          </a:solidFill>
                        </a:rPr>
                        <a:t>The two atoms as one parameter</a:t>
                      </a:r>
                    </a:p>
                  </a:txBody>
                  <a:tcPr/>
                </a:tc>
                <a:tc>
                  <a:txBody>
                    <a:bodyPr/>
                    <a:lstStyle/>
                    <a:p>
                      <a:r>
                        <a:rPr sz="1019" b="0">
                          <a:solidFill>
                            <a:srgbClr val="000000"/>
                          </a:solidFill>
                        </a:rPr>
                        <a:t>beam energy (MeV)</a:t>
                      </a:r>
                    </a:p>
                  </a:txBody>
                  <a:tcPr/>
                </a:tc>
                <a:tc>
                  <a:txBody>
                    <a:bodyPr/>
                    <a:lstStyle/>
                    <a:p>
                      <a:r>
                        <a:rPr sz="1019" b="0">
                          <a:solidFill>
                            <a:srgbClr val="000000"/>
                          </a:solidFill>
                        </a:rPr>
                        <a:t>7.68</a:t>
                      </a:r>
                    </a:p>
                  </a:txBody>
                  <a:tcPr/>
                </a:tc>
              </a:tr>
              <a:tr h="205408">
                <a:tc>
                  <a:txBody>
                    <a:bodyPr/>
                    <a:lstStyle/>
                    <a:p>
                      <a:r>
                        <a:rPr sz="1019" b="0">
                          <a:solidFill>
                            <a:srgbClr val="000000"/>
                          </a:solidFill>
                        </a:rPr>
                        <a:t>The two atoms as one parameter</a:t>
                      </a:r>
                    </a:p>
                  </a:txBody>
                  <a:tcPr/>
                </a:tc>
                <a:tc>
                  <a:txBody>
                    <a:bodyPr/>
                    <a:lstStyle/>
                    <a:p>
                      <a:r>
                        <a:rPr sz="1019" b="0">
                          <a:solidFill>
                            <a:srgbClr val="000000"/>
                          </a:solidFill>
                        </a:rPr>
                        <a:t>closest approach D (fm)</a:t>
                      </a:r>
                    </a:p>
                  </a:txBody>
                  <a:tcPr/>
                </a:tc>
                <a:tc>
                  <a:txBody>
                    <a:bodyPr/>
                    <a:lstStyle/>
                    <a:p>
                      <a:r>
                        <a:rPr sz="1019" b="0">
                          <a:solidFill>
                            <a:srgbClr val="000000"/>
                          </a:solidFill>
                        </a:rPr>
                        <a:t>59.25</a:t>
                      </a:r>
                    </a:p>
                  </a:txBody>
                  <a:tcPr/>
                </a:tc>
              </a:tr>
              <a:tr h="205408">
                <a:tc>
                  <a:txBody>
                    <a:bodyPr/>
                    <a:lstStyle/>
                    <a:p>
                      <a:r>
                        <a:rPr sz="1019" b="0">
                          <a:solidFill>
                            <a:srgbClr val="000000"/>
                          </a:solidFill>
                        </a:rPr>
                        <a:t>The two atoms as one parameter</a:t>
                      </a:r>
                    </a:p>
                  </a:txBody>
                  <a:tcPr/>
                </a:tc>
                <a:tc>
                  <a:txBody>
                    <a:bodyPr/>
                    <a:lstStyle/>
                    <a:p>
                      <a:r>
                        <a:rPr sz="1019" b="0">
                          <a:solidFill>
                            <a:srgbClr val="000000"/>
                          </a:solidFill>
                        </a:rPr>
                        <a:t>diffuse atom R (fm)</a:t>
                      </a:r>
                    </a:p>
                  </a:txBody>
                  <a:tcPr/>
                </a:tc>
                <a:tc>
                  <a:txBody>
                    <a:bodyPr/>
                    <a:lstStyle/>
                    <a:p>
                      <a:r>
                        <a:rPr sz="1019" b="0">
                          <a:solidFill>
                            <a:srgbClr val="000000"/>
                          </a:solidFill>
                        </a:rPr>
                        <a:t>135000</a:t>
                      </a:r>
                    </a:p>
                  </a:txBody>
                  <a:tcPr/>
                </a:tc>
              </a:tr>
              <a:tr h="205408">
                <a:tc>
                  <a:txBody>
                    <a:bodyPr/>
                    <a:lstStyle/>
                    <a:p>
                      <a:r>
                        <a:rPr sz="1019" b="0">
                          <a:solidFill>
                            <a:srgbClr val="000000"/>
                          </a:solidFill>
                        </a:rPr>
                        <a:t>The two atoms as one parameter</a:t>
                      </a:r>
                    </a:p>
                  </a:txBody>
                  <a:tcPr/>
                </a:tc>
                <a:tc>
                  <a:txBody>
                    <a:bodyPr/>
                    <a:lstStyle/>
                    <a:p>
                      <a:r>
                        <a:rPr sz="1019" b="0">
                          <a:solidFill>
                            <a:srgbClr val="000000"/>
                          </a:solidFill>
                        </a:rPr>
                        <a:t>foil areal density (atoms/m²)</a:t>
                      </a:r>
                    </a:p>
                  </a:txBody>
                  <a:tcPr/>
                </a:tc>
                <a:tc>
                  <a:txBody>
                    <a:bodyPr/>
                    <a:lstStyle/>
                    <a:p>
                      <a:r>
                        <a:rPr sz="1019" b="0">
                          <a:solidFill>
                            <a:srgbClr val="000000"/>
                          </a:solidFill>
                        </a:rPr>
                        <a:t>2.36e+22</a:t>
                      </a:r>
                    </a:p>
                  </a:txBody>
                  <a:tcPr/>
                </a:tc>
              </a:tr>
              <a:tr h="205408">
                <a:tc>
                  <a:txBody>
                    <a:bodyPr/>
                    <a:lstStyle/>
                    <a:p>
                      <a:r>
                        <a:rPr sz="1019" b="0">
                          <a:solidFill>
                            <a:srgbClr val="000000"/>
                          </a:solidFill>
                        </a:rPr>
                        <a:t>The two atoms as one parameter</a:t>
                      </a:r>
                    </a:p>
                  </a:txBody>
                  <a:tcPr/>
                </a:tc>
                <a:tc>
                  <a:txBody>
                    <a:bodyPr/>
                    <a:lstStyle/>
                    <a:p>
                      <a:r>
                        <a:rPr sz="1019" b="0">
                          <a:solidFill>
                            <a:srgbClr val="000000"/>
                          </a:solidFill>
                        </a:rPr>
                        <a:t>hard centre R (fm)</a:t>
                      </a:r>
                    </a:p>
                  </a:txBody>
                  <a:tcPr/>
                </a:tc>
                <a:tc>
                  <a:txBody>
                    <a:bodyPr/>
                    <a:lstStyle/>
                    <a:p>
                      <a:r>
                        <a:rPr sz="1019" b="0">
                          <a:solidFill>
                            <a:srgbClr val="000000"/>
                          </a:solidFill>
                        </a:rPr>
                        <a:t>7.3</a:t>
                      </a:r>
                    </a:p>
                  </a:txBody>
                  <a:tcPr/>
                </a:tc>
              </a:tr>
              <a:tr h="205408">
                <a:tc>
                  <a:txBody>
                    <a:bodyPr/>
                    <a:lstStyle/>
                    <a:p>
                      <a:r>
                        <a:rPr sz="1019" b="0">
                          <a:solidFill>
                            <a:srgbClr val="000000"/>
                          </a:solidFill>
                        </a:rPr>
                        <a:t>Where to point the counter</a:t>
                      </a:r>
                    </a:p>
                  </a:txBody>
                  <a:tcPr/>
                </a:tc>
                <a:tc>
                  <a:txBody>
                    <a:bodyPr/>
                    <a:lstStyle/>
                    <a:p>
                      <a:r>
                        <a:rPr sz="1019" b="0">
                          <a:solidFill>
                            <a:srgbClr val="000000"/>
                          </a:solidFill>
                        </a:rPr>
                        <a:t>anchor</a:t>
                      </a:r>
                    </a:p>
                  </a:txBody>
                  <a:tcPr/>
                </a:tc>
                <a:tc>
                  <a:txBody>
                    <a:bodyPr/>
                    <a:lstStyle/>
                    <a:p>
                      <a:r>
                        <a:rPr sz="1019" b="0">
                          <a:solidFill>
                            <a:srgbClr val="000000"/>
                          </a:solidFill>
                        </a:rPr>
                        <a:t>1°, 2.5° (10 h)</a:t>
                      </a:r>
                    </a:p>
                  </a:txBody>
                  <a:tcPr/>
                </a:tc>
              </a:tr>
              <a:tr h="205408">
                <a:tc>
                  <a:txBody>
                    <a:bodyPr/>
                    <a:lstStyle/>
                    <a:p>
                      <a:r>
                        <a:rPr sz="1019" b="0">
                          <a:solidFill>
                            <a:srgbClr val="000000"/>
                          </a:solidFill>
                        </a:rPr>
                        <a:t>Where to point the counter</a:t>
                      </a:r>
                    </a:p>
                  </a:txBody>
                  <a:tcPr/>
                </a:tc>
                <a:tc>
                  <a:txBody>
                    <a:bodyPr/>
                    <a:lstStyle/>
                    <a:p>
                      <a:r>
                        <a:rPr sz="1019" b="0">
                          <a:solidFill>
                            <a:srgbClr val="000000"/>
                          </a:solidFill>
                        </a:rPr>
                        <a:t>background</a:t>
                      </a:r>
                    </a:p>
                  </a:txBody>
                  <a:tcPr/>
                </a:tc>
                <a:tc>
                  <a:txBody>
                    <a:bodyPr/>
                    <a:lstStyle/>
                    <a:p>
                      <a:r>
                        <a:rPr sz="1019" b="0">
                          <a:solidFill>
                            <a:srgbClr val="000000"/>
                          </a:solidFill>
                        </a:rPr>
                        <a:t>90°, foil out (10 h)</a:t>
                      </a:r>
                    </a:p>
                  </a:txBody>
                  <a:tcPr/>
                </a:tc>
              </a:tr>
              <a:tr h="205408">
                <a:tc>
                  <a:txBody>
                    <a:bodyPr/>
                    <a:lstStyle/>
                    <a:p>
                      <a:r>
                        <a:rPr sz="1019" b="0">
                          <a:solidFill>
                            <a:srgbClr val="000000"/>
                          </a:solidFill>
                        </a:rPr>
                        <a:t>Where to point the counter</a:t>
                      </a:r>
                    </a:p>
                  </a:txBody>
                  <a:tcPr/>
                </a:tc>
                <a:tc>
                  <a:txBody>
                    <a:bodyPr/>
                    <a:lstStyle/>
                    <a:p>
                      <a:r>
                        <a:rPr sz="1019" b="0">
                          <a:solidFill>
                            <a:srgbClr val="000000"/>
                          </a:solidFill>
                        </a:rPr>
                        <a:t>bank</a:t>
                      </a:r>
                    </a:p>
                  </a:txBody>
                  <a:tcPr/>
                </a:tc>
                <a:tc>
                  <a:txBody>
                    <a:bodyPr/>
                    <a:lstStyle/>
                    <a:p>
                      <a:r>
                        <a:rPr sz="1019" b="0">
                          <a:solidFill>
                            <a:srgbClr val="000000"/>
                          </a:solidFill>
                        </a:rPr>
                        <a:t>5°, 10°, 20°, 45° (45 h)</a:t>
                      </a:r>
                    </a:p>
                  </a:txBody>
                  <a:tcPr/>
                </a:tc>
              </a:tr>
              <a:tr h="205408">
                <a:tc>
                  <a:txBody>
                    <a:bodyPr/>
                    <a:lstStyle/>
                    <a:p>
                      <a:r>
                        <a:rPr sz="1019" b="0">
                          <a:solidFill>
                            <a:srgbClr val="000000"/>
                          </a:solidFill>
                        </a:rPr>
                        <a:t>Where to point the counter</a:t>
                      </a:r>
                    </a:p>
                  </a:txBody>
                  <a:tcPr/>
                </a:tc>
                <a:tc>
                  <a:txBody>
                    <a:bodyPr/>
                    <a:lstStyle/>
                    <a:p>
                      <a:r>
                        <a:rPr sz="1019" b="0">
                          <a:solidFill>
                            <a:srgbClr val="000000"/>
                          </a:solidFill>
                        </a:rPr>
                        <a:t>stations</a:t>
                      </a:r>
                    </a:p>
                  </a:txBody>
                  <a:tcPr/>
                </a:tc>
                <a:tc>
                  <a:txBody>
                    <a:bodyPr/>
                    <a:lstStyle/>
                    <a:p>
                      <a:r>
                        <a:rPr sz="1019" b="0">
                          <a:solidFill>
                            <a:srgbClr val="000000"/>
                          </a:solidFill>
                        </a:rPr>
                        <a:t>9</a:t>
                      </a:r>
                    </a:p>
                  </a:txBody>
                  <a:tcPr/>
                </a:tc>
              </a:tr>
              <a:tr h="205408">
                <a:tc>
                  <a:txBody>
                    <a:bodyPr/>
                    <a:lstStyle/>
                    <a:p>
                      <a:r>
                        <a:rPr sz="1019" b="0">
                          <a:solidFill>
                            <a:srgbClr val="000000"/>
                          </a:solidFill>
                        </a:rPr>
                        <a:t>Where to point the counter</a:t>
                      </a:r>
                    </a:p>
                  </a:txBody>
                  <a:tcPr/>
                </a:tc>
                <a:tc>
                  <a:txBody>
                    <a:bodyPr/>
                    <a:lstStyle/>
                    <a:p>
                      <a:r>
                        <a:rPr sz="1019" b="0">
                          <a:solidFill>
                            <a:srgbClr val="000000"/>
                          </a:solidFill>
                        </a:rPr>
                        <a:t>witness</a:t>
                      </a:r>
                    </a:p>
                  </a:txBody>
                  <a:tcPr/>
                </a:tc>
                <a:tc>
                  <a:txBody>
                    <a:bodyPr/>
                    <a:lstStyle/>
                    <a:p>
                      <a:r>
                        <a:rPr sz="1019" b="0">
                          <a:solidFill>
                            <a:srgbClr val="000000"/>
                          </a:solidFill>
                        </a:rPr>
                        <a:t>90°, 150° (135 h)</a:t>
                      </a:r>
                    </a:p>
                  </a:txBody>
                  <a:tcPr/>
                </a:tc>
              </a:tr>
              <a:tr h="205408">
                <a:tc>
                  <a:txBody>
                    <a:bodyPr/>
                    <a:lstStyle/>
                    <a:p>
                      <a:r>
                        <a:rPr sz="1019" b="0">
                          <a:solidFill>
                            <a:srgbClr val="000000"/>
                          </a:solidFill>
                        </a:rPr>
                        <a:t>What shape to cut the aperture</a:t>
                      </a:r>
                    </a:p>
                  </a:txBody>
                  <a:tcPr/>
                </a:tc>
                <a:tc>
                  <a:txBody>
                    <a:bodyPr/>
                    <a:lstStyle/>
                    <a:p>
                      <a:r>
                        <a:rPr sz="1019" b="0">
                          <a:solidFill>
                            <a:srgbClr val="000000"/>
                          </a:solidFill>
                        </a:rPr>
                        <a:t>beam rate (alphas/s)</a:t>
                      </a:r>
                    </a:p>
                  </a:txBody>
                  <a:tcPr/>
                </a:tc>
                <a:tc>
                  <a:txBody>
                    <a:bodyPr/>
                    <a:lstStyle/>
                    <a:p>
                      <a:r>
                        <a:rPr sz="1019" b="0">
                          <a:solidFill>
                            <a:srgbClr val="000000"/>
                          </a:solidFill>
                        </a:rPr>
                        <a:t>2e+05</a:t>
                      </a:r>
                    </a:p>
                  </a:txBody>
                  <a:tcPr/>
                </a:tc>
              </a:tr>
              <a:tr h="205408">
                <a:tc>
                  <a:txBody>
                    <a:bodyPr/>
                    <a:lstStyle/>
                    <a:p>
                      <a:r>
                        <a:rPr sz="1019" b="0">
                          <a:solidFill>
                            <a:srgbClr val="000000"/>
                          </a:solidFill>
                        </a:rPr>
                        <a:t>What shape to cut the aperture</a:t>
                      </a:r>
                    </a:p>
                  </a:txBody>
                  <a:tcPr/>
                </a:tc>
                <a:tc>
                  <a:txBody>
                    <a:bodyPr/>
                    <a:lstStyle/>
                    <a:p>
                      <a:r>
                        <a:rPr sz="1019" b="0">
                          <a:solidFill>
                            <a:srgbClr val="000000"/>
                          </a:solidFill>
                        </a:rPr>
                        <a:t>rate cap (counts/s)</a:t>
                      </a:r>
                    </a:p>
                  </a:txBody>
                  <a:tcPr/>
                </a:tc>
                <a:tc>
                  <a:txBody>
                    <a:bodyPr/>
                    <a:lstStyle/>
                    <a:p>
                      <a:r>
                        <a:rPr sz="1019" b="0">
                          <a:solidFill>
                            <a:srgbClr val="000000"/>
                          </a:solidFill>
                        </a:rPr>
                        <a:t>1.5</a:t>
                      </a:r>
                    </a:p>
                  </a:txBody>
                  <a:tcPr/>
                </a:tc>
              </a:tr>
              <a:tr h="205408">
                <a:tc>
                  <a:txBody>
                    <a:bodyPr/>
                    <a:lstStyle/>
                    <a:p>
                      <a:r>
                        <a:rPr sz="1019" b="0">
                          <a:solidFill>
                            <a:srgbClr val="000000"/>
                          </a:solidFill>
                        </a:rPr>
                        <a:t>What shape to cut the aperture</a:t>
                      </a:r>
                    </a:p>
                  </a:txBody>
                  <a:tcPr/>
                </a:tc>
                <a:tc>
                  <a:txBody>
                    <a:bodyPr/>
                    <a:lstStyle/>
                    <a:p>
                      <a:r>
                        <a:rPr sz="1019" b="0">
                          <a:solidFill>
                            <a:srgbClr val="000000"/>
                          </a:solidFill>
                        </a:rPr>
                        <a:t>widest aperture (sr)</a:t>
                      </a:r>
                    </a:p>
                  </a:txBody>
                  <a:tcPr/>
                </a:tc>
                <a:tc>
                  <a:txBody>
                    <a:bodyPr/>
                    <a:lstStyle/>
                    <a:p>
                      <a:r>
                        <a:rPr sz="1019" b="0">
                          <a:solidFill>
                            <a:srgbClr val="000000"/>
                          </a:solidFill>
                        </a:rPr>
                        <a:t>0.2</a:t>
                      </a:r>
                    </a:p>
                  </a:txBody>
                  <a:tcPr/>
                </a:tc>
              </a:tr>
              <a:tr h="205408">
                <a:tc>
                  <a:txBody>
                    <a:bodyPr/>
                    <a:lstStyle/>
                    <a:p>
                      <a:r>
                        <a:rPr sz="1019" b="0">
                          <a:solidFill>
                            <a:srgbClr val="000000"/>
                          </a:solidFill>
                        </a:rPr>
                        <a:t>How long at each</a:t>
                      </a:r>
                    </a:p>
                  </a:txBody>
                  <a:tcPr/>
                </a:tc>
                <a:tc>
                  <a:txBody>
                    <a:bodyPr/>
                    <a:lstStyle/>
                    <a:p>
                      <a:r>
                        <a:rPr sz="1019" b="0">
                          <a:solidFill>
                            <a:srgbClr val="000000"/>
                          </a:solidFill>
                        </a:rPr>
                        <a:t>hours at 150°</a:t>
                      </a:r>
                    </a:p>
                  </a:txBody>
                  <a:tcPr/>
                </a:tc>
                <a:tc>
                  <a:txBody>
                    <a:bodyPr/>
                    <a:lstStyle/>
                    <a:p>
                      <a:r>
                        <a:rPr sz="1019" b="0">
                          <a:solidFill>
                            <a:srgbClr val="000000"/>
                          </a:solidFill>
                        </a:rPr>
                        <a:t>110</a:t>
                      </a:r>
                    </a:p>
                  </a:txBody>
                  <a:tcPr/>
                </a:tc>
              </a:tr>
              <a:tr h="205408">
                <a:tc>
                  <a:txBody>
                    <a:bodyPr/>
                    <a:lstStyle/>
                    <a:p>
                      <a:r>
                        <a:rPr sz="1019" b="0">
                          <a:solidFill>
                            <a:srgbClr val="000000"/>
                          </a:solidFill>
                        </a:rPr>
                        <a:t>How long at each</a:t>
                      </a:r>
                    </a:p>
                  </a:txBody>
                  <a:tcPr/>
                </a:tc>
                <a:tc>
                  <a:txBody>
                    <a:bodyPr/>
                    <a:lstStyle/>
                    <a:p>
                      <a:r>
                        <a:rPr sz="1019" b="0">
                          <a:solidFill>
                            <a:srgbClr val="000000"/>
                          </a:solidFill>
                        </a:rPr>
                        <a:t>seed</a:t>
                      </a:r>
                    </a:p>
                  </a:txBody>
                  <a:tcPr/>
                </a:tc>
                <a:tc>
                  <a:txBody>
                    <a:bodyPr/>
                    <a:lstStyle/>
                    <a:p>
                      <a:r>
                        <a:rPr sz="1019" b="0">
                          <a:solidFill>
                            <a:srgbClr val="000000"/>
                          </a:solidFill>
                        </a:rPr>
                        <a:t>1911</a:t>
                      </a:r>
                    </a:p>
                  </a:txBody>
                  <a:tcPr/>
                </a:tc>
              </a:tr>
              <a:tr h="205408">
                <a:tc>
                  <a:txBody>
                    <a:bodyPr/>
                    <a:lstStyle/>
                    <a:p>
                      <a:r>
                        <a:rPr sz="1019" b="0">
                          <a:solidFill>
                            <a:srgbClr val="000000"/>
                          </a:solidFill>
                        </a:rPr>
                        <a:t>How long at each</a:t>
                      </a:r>
                    </a:p>
                  </a:txBody>
                  <a:tcPr/>
                </a:tc>
                <a:tc>
                  <a:txBody>
                    <a:bodyPr/>
                    <a:lstStyle/>
                    <a:p>
                      <a:r>
                        <a:rPr sz="1019" b="0">
                          <a:solidFill>
                            <a:srgbClr val="000000"/>
                          </a:solidFill>
                        </a:rPr>
                        <a:t>total hours</a:t>
                      </a:r>
                    </a:p>
                  </a:txBody>
                  <a:tcPr/>
                </a:tc>
                <a:tc>
                  <a:txBody>
                    <a:bodyPr/>
                    <a:lstStyle/>
                    <a:p>
                      <a:r>
                        <a:rPr sz="1019" b="0">
                          <a:solidFill>
                            <a:srgbClr val="000000"/>
                          </a:solidFill>
                        </a:rPr>
                        <a:t>200</a:t>
                      </a:r>
                    </a:p>
                  </a:txBody>
                  <a:tcPr/>
                </a:tc>
              </a:tr>
              <a:tr h="205408">
                <a:tc>
                  <a:txBody>
                    <a:bodyPr/>
                    <a:lstStyle/>
                    <a:p>
                      <a:r>
                        <a:rPr sz="1019" b="0">
                          <a:solidFill>
                            <a:srgbClr val="000000"/>
                          </a:solidFill>
                        </a:rPr>
                        <a:t>Reading the bound off the counts</a:t>
                      </a:r>
                    </a:p>
                  </a:txBody>
                  <a:tcPr/>
                </a:tc>
                <a:tc>
                  <a:txBody>
                    <a:bodyPr/>
                    <a:lstStyle/>
                    <a:p>
                      <a:r>
                        <a:rPr sz="1019" b="0">
                          <a:solidFill>
                            <a:srgbClr val="000000"/>
                          </a:solidFill>
                        </a:rPr>
                        <a:t>drop at 95% one-sided</a:t>
                      </a:r>
                    </a:p>
                  </a:txBody>
                  <a:tcPr/>
                </a:tc>
                <a:tc>
                  <a:txBody>
                    <a:bodyPr/>
                    <a:lstStyle/>
                    <a:p>
                      <a:r>
                        <a:rPr sz="1019" b="0">
                          <a:solidFill>
                            <a:srgbClr val="000000"/>
                          </a:solidFill>
                        </a:rPr>
                        <a:t>1.921</a:t>
                      </a:r>
                    </a:p>
                  </a:txBody>
                  <a:tcPr/>
                </a:tc>
              </a:tr>
              <a:tr h="205408">
                <a:tc>
                  <a:txBody>
                    <a:bodyPr/>
                    <a:lstStyle/>
                    <a:p>
                      <a:r>
                        <a:rPr sz="1019" b="0">
                          <a:solidFill>
                            <a:srgbClr val="000000"/>
                          </a:solidFill>
                        </a:rPr>
                        <a:t>Reading the bound off the counts</a:t>
                      </a:r>
                    </a:p>
                  </a:txBody>
                  <a:tcPr/>
                </a:tc>
                <a:tc>
                  <a:txBody>
                    <a:bodyPr/>
                    <a:lstStyle/>
                    <a:p>
                      <a:r>
                        <a:rPr sz="1019" b="0">
                          <a:solidFill>
                            <a:srgbClr val="000000"/>
                          </a:solidFill>
                        </a:rPr>
                        <a:t>grid</a:t>
                      </a:r>
                    </a:p>
                  </a:txBody>
                  <a:tcPr/>
                </a:tc>
                <a:tc>
                  <a:txBody>
                    <a:bodyPr/>
                    <a:lstStyle/>
                    <a:p>
                      <a:r>
                        <a:rPr sz="1019" b="0">
                          <a:solidFill>
                            <a:srgbClr val="000000"/>
                          </a:solidFill>
                        </a:rPr>
                        <a:t>41 points over lam in [-4, 4]</a:t>
                      </a:r>
                    </a:p>
                  </a:txBody>
                  <a:tcPr/>
                </a:tc>
              </a:tr>
              <a:tr h="205408">
                <a:tc>
                  <a:txBody>
                    <a:bodyPr/>
                    <a:lstStyle/>
                    <a:p>
                      <a:r>
                        <a:rPr sz="1019" b="0">
                          <a:solidFill>
                            <a:srgbClr val="000000"/>
                          </a:solidFill>
                        </a:rPr>
                        <a:t>Reading the bound off the counts</a:t>
                      </a:r>
                    </a:p>
                  </a:txBody>
                  <a:tcPr/>
                </a:tc>
                <a:tc>
                  <a:txBody>
                    <a:bodyPr/>
                    <a:lstStyle/>
                    <a:p>
                      <a:r>
                        <a:rPr sz="1019" b="0">
                          <a:solidFill>
                            <a:srgbClr val="000000"/>
                          </a:solidFill>
                        </a:rPr>
                        <a:t>nuisance parameters</a:t>
                      </a:r>
                    </a:p>
                  </a:txBody>
                  <a:tcPr/>
                </a:tc>
                <a:tc>
                  <a:txBody>
                    <a:bodyPr/>
                    <a:lstStyle/>
                    <a:p>
                      <a:r>
                        <a:rPr sz="1019" b="0">
                          <a:solidFill>
                            <a:srgbClr val="000000"/>
                          </a:solidFill>
                        </a:rPr>
                        <a:t>log_a, log_c, log_w, log_b</a:t>
                      </a:r>
                    </a:p>
                  </a:txBody>
                  <a:tcPr/>
                </a:tc>
              </a:tr>
              <a:tr h="205424">
                <a:tc>
                  <a:txBody>
                    <a:bodyPr/>
                    <a:lstStyle/>
                    <a:p>
                      <a:r>
                        <a:rPr sz="1019" b="0">
                          <a:solidFill>
                            <a:srgbClr val="000000"/>
                          </a:solidFill>
                        </a:rPr>
                        <a:t>Reading the bound off the counts</a:t>
                      </a:r>
                    </a:p>
                  </a:txBody>
                  <a:tcPr/>
                </a:tc>
                <a:tc>
                  <a:txBody>
                    <a:bodyPr/>
                    <a:lstStyle/>
                    <a:p>
                      <a:r>
                        <a:rPr sz="1019" b="0">
                          <a:solidFill>
                            <a:srgbClr val="000000"/>
                          </a:solidFill>
                        </a:rPr>
                        <a:t>profiled parameter</a:t>
                      </a:r>
                    </a:p>
                  </a:txBody>
                  <a:tcPr/>
                </a:tc>
                <a:tc>
                  <a:txBody>
                    <a:bodyPr/>
                    <a:lstStyle/>
                    <a:p>
                      <a:r>
                        <a:rPr sz="1019" b="0">
                          <a:solidFill>
                            <a:srgbClr val="000000"/>
                          </a:solidFill>
                        </a:rPr>
                        <a:t>lam</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2*. Estimated quantities with their intervals and thresholds.</a:t>
            </a:r>
          </a:p>
        </p:txBody>
      </p:sp>
      <p:graphicFrame>
        <p:nvGraphicFramePr>
          <p:cNvPr id="4" name="Table 3"/>
          <p:cNvGraphicFramePr>
            <a:graphicFrameLocks noGrp="1"/>
          </p:cNvGraphicFramePr>
          <p:nvPr/>
        </p:nvGraphicFramePr>
        <p:xfrm>
          <a:off x="914400" y="1219200"/>
          <a:ext cx="10363200" cy="609600"/>
        </p:xfrm>
        <a:graphic>
          <a:graphicData uri="http://schemas.openxmlformats.org/drawingml/2006/table">
            <a:tbl>
              <a:tblPr firstRow="1" bandRow="1">
                <a:tableStyleId>{5C22544A-7EE6-4342-B048-85BDC9FD1C3A}</a:tableStyleId>
              </a:tblPr>
              <a:tblGrid>
                <a:gridCol w="1727200"/>
                <a:gridCol w="1727200"/>
                <a:gridCol w="1727200"/>
                <a:gridCol w="1727200"/>
                <a:gridCol w="1727200"/>
                <a:gridCol w="1727200"/>
              </a:tblGrid>
              <a:tr h="304800">
                <a:tc>
                  <a:txBody>
                    <a:bodyPr/>
                    <a:lstStyle/>
                    <a:p>
                      <a:r>
                        <a:rPr sz="1019" b="1">
                          <a:solidFill>
                            <a:srgbClr val="000000"/>
                          </a:solidFill>
                        </a:rPr>
                        <a:t>Quantity</a:t>
                      </a:r>
                    </a:p>
                  </a:txBody>
                  <a:tcPr/>
                </a:tc>
                <a:tc>
                  <a:txBody>
                    <a:bodyPr/>
                    <a:lstStyle/>
                    <a:p>
                      <a:r>
                        <a:rPr sz="1019" b="1">
                          <a:solidFill>
                            <a:srgbClr val="000000"/>
                          </a:solidFill>
                        </a:rPr>
                        <a:t>Estimate</a:t>
                      </a:r>
                    </a:p>
                  </a:txBody>
                  <a:tcPr/>
                </a:tc>
                <a:tc>
                  <a:txBody>
                    <a:bodyPr/>
                    <a:lstStyle/>
                    <a:p>
                      <a:r>
                        <a:rPr sz="1019" b="1">
                          <a:solidFill>
                            <a:srgbClr val="000000"/>
                          </a:solidFill>
                        </a:rPr>
                        <a:t>Unit</a:t>
                      </a:r>
                    </a:p>
                  </a:txBody>
                  <a:tcPr/>
                </a:tc>
                <a:tc>
                  <a:txBody>
                    <a:bodyPr/>
                    <a:lstStyle/>
                    <a:p>
                      <a:r>
                        <a:rPr sz="1019" b="1">
                          <a:solidFill>
                            <a:srgbClr val="000000"/>
                          </a:solidFill>
                        </a:rPr>
                        <a:t>Interval</a:t>
                      </a:r>
                    </a:p>
                  </a:txBody>
                  <a:tcPr/>
                </a:tc>
                <a:tc>
                  <a:txBody>
                    <a:bodyPr/>
                    <a:lstStyle/>
                    <a:p>
                      <a:r>
                        <a:rPr sz="1019" b="1">
                          <a:solidFill>
                            <a:srgbClr val="000000"/>
                          </a:solidFill>
                        </a:rPr>
                        <a:t>Threshold</a:t>
                      </a:r>
                    </a:p>
                  </a:txBody>
                  <a:tcPr/>
                </a:tc>
                <a:tc>
                  <a:txBody>
                    <a:bodyPr/>
                    <a:lstStyle/>
                    <a:p>
                      <a:r>
                        <a:rPr sz="1019" b="1">
                          <a:solidFill>
                            <a:srgbClr val="000000"/>
                          </a:solidFill>
                        </a:rPr>
                        <a:t>Relative to threshold</a:t>
                      </a:r>
                    </a:p>
                  </a:txBody>
                  <a:tcPr/>
                </a:tc>
              </a:tr>
              <a:tr h="304800">
                <a:tc>
                  <a:txBody>
                    <a:bodyPr/>
                    <a:lstStyle/>
                    <a:p>
                      <a:r>
                        <a:rPr sz="1019" b="0">
                          <a:solidFill>
                            <a:srgbClr val="000000"/>
                          </a:solidFill>
                        </a:rPr>
                        <a:t>Upper limit on the radius of the positive charge of gold</a:t>
                      </a:r>
                    </a:p>
                  </a:txBody>
                  <a:tcPr/>
                </a:tc>
                <a:tc>
                  <a:txBody>
                    <a:bodyPr/>
                    <a:lstStyle/>
                    <a:p>
                      <a:r>
                        <a:rPr sz="1019" b="0">
                          <a:solidFill>
                            <a:srgbClr val="000000"/>
                          </a:solidFill>
                        </a:rPr>
                        <a:t>33.5</a:t>
                      </a:r>
                    </a:p>
                  </a:txBody>
                  <a:tcPr/>
                </a:tc>
                <a:tc>
                  <a:txBody>
                    <a:bodyPr/>
                    <a:lstStyle/>
                    <a:p>
                      <a:r>
                        <a:rPr sz="1019" b="0">
                          <a:solidFill>
                            <a:srgbClr val="000000"/>
                          </a:solidFill>
                        </a:rPr>
                        <a:t>fm</a:t>
                      </a:r>
                    </a:p>
                  </a:txBody>
                  <a:tcPr/>
                </a:tc>
                <a:tc>
                  <a:txBody>
                    <a:bodyPr/>
                    <a:lstStyle/>
                    <a:p>
                      <a:r>
                        <a:rPr sz="1019" b="0">
                          <a:solidFill>
                            <a:srgbClr val="000000"/>
                          </a:solidFill>
                        </a:rPr>
                        <a:t>0.0 to 33.5 (95% WALD)</a:t>
                      </a:r>
                    </a:p>
                  </a:txBody>
                  <a:tcPr/>
                </a:tc>
                <a:tc>
                  <a:txBody>
                    <a:bodyPr/>
                    <a:lstStyle/>
                    <a:p>
                      <a:r>
                        <a:rPr sz="1019" b="0">
                          <a:solidFill>
                            <a:srgbClr val="000000"/>
                          </a:solidFill>
                        </a:rPr>
                        <a:t>135000.0</a:t>
                      </a:r>
                    </a:p>
                  </a:txBody>
                  <a:tcPr/>
                </a:tc>
                <a:tc>
                  <a:txBody>
                    <a:bodyPr/>
                    <a:lstStyle/>
                    <a:p>
                      <a:r>
                        <a:rPr sz="1019" b="0">
                          <a:solidFill>
                            <a:srgbClr val="000000"/>
                          </a:solidFill>
                        </a:rPr>
                        <a:t>below threshold</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3*. Recorded diagnostics.</a:t>
            </a:r>
          </a:p>
        </p:txBody>
      </p:sp>
      <p:graphicFrame>
        <p:nvGraphicFramePr>
          <p:cNvPr id="4" name="Table 3"/>
          <p:cNvGraphicFramePr>
            <a:graphicFrameLocks noGrp="1"/>
          </p:cNvGraphicFramePr>
          <p:nvPr/>
        </p:nvGraphicFramePr>
        <p:xfrm>
          <a:off x="914400" y="1219200"/>
          <a:ext cx="10363200" cy="21336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Check</a:t>
                      </a:r>
                    </a:p>
                  </a:txBody>
                  <a:tcPr/>
                </a:tc>
                <a:tc>
                  <a:txBody>
                    <a:bodyPr/>
                    <a:lstStyle/>
                    <a:p>
                      <a:r>
                        <a:rPr sz="1019" b="1">
                          <a:solidFill>
                            <a:srgbClr val="000000"/>
                          </a:solidFill>
                        </a:rPr>
                        <a:t>Value</a:t>
                      </a:r>
                    </a:p>
                  </a:txBody>
                  <a:tcPr/>
                </a:tc>
                <a:tc>
                  <a:txBody>
                    <a:bodyPr/>
                    <a:lstStyle/>
                    <a:p>
                      <a:r>
                        <a:rPr sz="1019" b="1">
                          <a:solidFill>
                            <a:srgbClr val="000000"/>
                          </a:solidFill>
                        </a:rPr>
                        <a:t>Unit</a:t>
                      </a:r>
                    </a:p>
                  </a:txBody>
                  <a:tcPr/>
                </a:tc>
                <a:tc>
                  <a:txBody>
                    <a:bodyPr/>
                    <a:lstStyle/>
                    <a:p>
                      <a:r>
                        <a:rPr sz="1019" b="1">
                          <a:solidFill>
                            <a:srgbClr val="000000"/>
                          </a:solidFill>
                        </a:rPr>
                        <a:t>Interval</a:t>
                      </a:r>
                    </a:p>
                  </a:txBody>
                  <a:tcPr/>
                </a:tc>
              </a:tr>
              <a:tr h="304800">
                <a:tc>
                  <a:txBody>
                    <a:bodyPr/>
                    <a:lstStyle/>
                    <a:p>
                      <a:r>
                        <a:rPr sz="1019" b="0">
                          <a:solidFill>
                            <a:srgbClr val="000000"/>
                          </a:solidFill>
                        </a:rPr>
                        <a:t>Radius at which the profile likelihood bottoms</a:t>
                      </a:r>
                    </a:p>
                  </a:txBody>
                  <a:tcPr/>
                </a:tc>
                <a:tc>
                  <a:txBody>
                    <a:bodyPr/>
                    <a:lstStyle/>
                    <a:p>
                      <a:r>
                        <a:rPr sz="1019" b="0">
                          <a:solidFill>
                            <a:srgbClr val="000000"/>
                          </a:solidFill>
                        </a:rPr>
                        <a:t>32.3</a:t>
                      </a:r>
                    </a:p>
                  </a:txBody>
                  <a:tcPr/>
                </a:tc>
                <a:tc>
                  <a:txBody>
                    <a:bodyPr/>
                    <a:lstStyle/>
                    <a:p>
                      <a:r>
                        <a:rPr sz="1019" b="0">
                          <a:solidFill>
                            <a:srgbClr val="000000"/>
                          </a:solidFill>
                        </a:rPr>
                        <a:t>fm</a:t>
                      </a:r>
                    </a:p>
                  </a:txBody>
                  <a:tcPr/>
                </a:tc>
                <a:tc>
                  <a:txBody>
                    <a:bodyPr/>
                    <a:lstStyle/>
                    <a:p>
                      <a:r>
                        <a:rPr sz="1019" b="0">
                          <a:solidFill>
                            <a:srgbClr val="000000"/>
                          </a:solidFill>
                        </a:rPr>
                        <a:t>—</a:t>
                      </a:r>
                    </a:p>
                  </a:txBody>
                  <a:tcPr/>
                </a:tc>
              </a:tr>
              <a:tr h="304800">
                <a:tc>
                  <a:txBody>
                    <a:bodyPr/>
                    <a:lstStyle/>
                    <a:p>
                      <a:r>
                        <a:rPr sz="1019" b="0">
                          <a:solidFill>
                            <a:srgbClr val="000000"/>
                          </a:solidFill>
                        </a:rPr>
                        <a:t>Radius the beam energy alone could never resolve past</a:t>
                      </a:r>
                    </a:p>
                  </a:txBody>
                  <a:tcPr/>
                </a:tc>
                <a:tc>
                  <a:txBody>
                    <a:bodyPr/>
                    <a:lstStyle/>
                    <a:p>
                      <a:r>
                        <a:rPr sz="1019" b="0">
                          <a:solidFill>
                            <a:srgbClr val="000000"/>
                          </a:solidFill>
                        </a:rPr>
                        <a:t>29.6</a:t>
                      </a:r>
                    </a:p>
                  </a:txBody>
                  <a:tcPr/>
                </a:tc>
                <a:tc>
                  <a:txBody>
                    <a:bodyPr/>
                    <a:lstStyle/>
                    <a:p>
                      <a:r>
                        <a:rPr sz="1019" b="0">
                          <a:solidFill>
                            <a:srgbClr val="000000"/>
                          </a:solidFill>
                        </a:rPr>
                        <a:t>fm</a:t>
                      </a:r>
                    </a:p>
                  </a:txBody>
                  <a:tcPr/>
                </a:tc>
                <a:tc>
                  <a:txBody>
                    <a:bodyPr/>
                    <a:lstStyle/>
                    <a:p>
                      <a:r>
                        <a:rPr sz="1019" b="0">
                          <a:solidFill>
                            <a:srgbClr val="000000"/>
                          </a:solidFill>
                        </a:rPr>
                        <a:t>—</a:t>
                      </a:r>
                    </a:p>
                  </a:txBody>
                  <a:tcPr/>
                </a:tc>
              </a:tr>
              <a:tr h="304800">
                <a:tc>
                  <a:txBody>
                    <a:bodyPr/>
                    <a:lstStyle/>
                    <a:p>
                      <a:r>
                        <a:rPr sz="1019" b="0">
                          <a:solidFill>
                            <a:srgbClr val="000000"/>
                          </a:solidFill>
                        </a:rPr>
                        <a:t>Counts at 150 degrees, foil in</a:t>
                      </a:r>
                    </a:p>
                  </a:txBody>
                  <a:tcPr/>
                </a:tc>
                <a:tc>
                  <a:txBody>
                    <a:bodyPr/>
                    <a:lstStyle/>
                    <a:p>
                      <a:r>
                        <a:rPr sz="1019" b="0">
                          <a:solidFill>
                            <a:srgbClr val="000000"/>
                          </a:solidFill>
                        </a:rPr>
                        <a:t>94117</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Counts a diffuse atom predicts at 150 degrees</a:t>
                      </a:r>
                    </a:p>
                  </a:txBody>
                  <a:tcPr/>
                </a:tc>
                <a:tc>
                  <a:txBody>
                    <a:bodyPr/>
                    <a:lstStyle/>
                    <a:p>
                      <a:r>
                        <a:rPr sz="1019" b="0">
                          <a:solidFill>
                            <a:srgbClr val="000000"/>
                          </a:solidFill>
                        </a:rPr>
                        <a:t>118.8</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Counts at 90 degrees with the foil out</a:t>
                      </a:r>
                    </a:p>
                  </a:txBody>
                  <a:tcPr/>
                </a:tc>
                <a:tc>
                  <a:txBody>
                    <a:bodyPr/>
                    <a:lstStyle/>
                    <a:p>
                      <a:r>
                        <a:rPr sz="1019" b="0">
                          <a:solidFill>
                            <a:srgbClr val="000000"/>
                          </a:solidFill>
                        </a:rPr>
                        <a:t>11</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Counts recorded across every station</a:t>
                      </a:r>
                    </a:p>
                  </a:txBody>
                  <a:tcPr/>
                </a:tc>
                <a:tc>
                  <a:txBody>
                    <a:bodyPr/>
                    <a:lstStyle/>
                    <a:p>
                      <a:r>
                        <a:rPr sz="1019" b="0">
                          <a:solidFill>
                            <a:srgbClr val="000000"/>
                          </a:solidFill>
                        </a:rPr>
                        <a:t>466849</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Figures</a:t>
            </a:r>
          </a:p>
        </p:txBody>
      </p:sp>
      <p:pic>
        <p:nvPicPr>
          <p:cNvPr id="3" name="Picture 2" descr="image.png"/>
          <p:cNvPicPr>
            <a:picLocks noChangeAspect="1"/>
          </p:cNvPicPr>
          <p:nvPr/>
        </p:nvPicPr>
        <p:blipFill>
          <a:blip r:embed="rId2"/>
          <a:stretch>
            <a:fillRect/>
          </a:stretch>
        </p:blipFill>
        <p:spPr>
          <a:xfrm>
            <a:off x="914400" y="965200"/>
            <a:ext cx="8852023" cy="4978400"/>
          </a:xfrm>
          <a:prstGeom prst="rect">
            <a:avLst/>
          </a:prstGeom>
        </p:spPr>
      </p:pic>
      <p:sp>
        <p:nvSpPr>
          <p:cNvPr id="4" name="TextBox 3"/>
          <p:cNvSpPr txBox="1"/>
          <p:nvPr/>
        </p:nvSpPr>
        <p:spPr>
          <a:xfrm>
            <a:off x="914400" y="6035040"/>
            <a:ext cx="10363200" cy="254000"/>
          </a:xfrm>
          <a:prstGeom prst="rect">
            <a:avLst/>
          </a:prstGeom>
          <a:noFill/>
        </p:spPr>
        <p:txBody>
          <a:bodyPr wrap="square">
            <a:spAutoFit/>
          </a:bodyPr>
          <a:lstStyle/>
          <a:p>
            <a:r>
              <a:rPr sz="1019" b="0">
                <a:solidFill>
                  <a:srgbClr val="000000"/>
                </a:solidFill>
              </a:rPr>
              <a:t>*Figure 1*. Estimated quantities with their intervals. The dashed rule marks the decision threshold; a row whose interval crosses it is unsettled rather than null.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