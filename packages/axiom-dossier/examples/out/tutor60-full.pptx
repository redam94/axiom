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2331720"/>
            <a:ext cx="10566400" cy="2057400"/>
          </a:xfrm>
          <a:prstGeom prst="rect">
            <a:avLst/>
          </a:prstGeom>
          <a:noFill/>
        </p:spPr>
        <p:txBody>
          <a:bodyPr wrap="square">
            <a:spAutoFit/>
          </a:bodyPr>
          <a:lstStyle/>
          <a:p>
            <a:r>
              <a:rPr sz="1900" b="1">
                <a:solidFill>
                  <a:srgbClr val="111111"/>
                </a:solidFill>
              </a:rPr>
              <a:t>TUTOR-60</a:t>
            </a:r>
          </a:p>
          <a:p>
            <a:r>
              <a:rPr sz="1365" b="0">
                <a:solidFill>
                  <a:srgbClr val="555555"/>
                </a:solidFill>
              </a:rPr>
              <a:t>Does buying fewer tutoring minutes for every eligible student beat buying the pilot's ninety weekly minutes for the fraction of them the budget reaches?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Abstract</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This study examined the allocation of tutoring minutes under a fixed budget for eligible students. The question asked was whether buying fewer tutoring minutes for every eligible student beats buying the pilot allocation's ninety weekly minutes for the fraction of them the budget reaches. This was answered by comparing cohort reading points over the pilot allocation against a decision threshold of zero points per year. The effect of tutoring on gain is identified via the backdoor route in the randomization design. The analysis found that cohort reading points over the pilot allocation settled above the threshold on the favourable side at 13838 points per year with a 90% HDI from 6163 to 22036 points per year. The value of the difference at the department's own valuation also settled above the threshold on the favourable side. These findings depend on the unverified assumption that the cohort average answers the question. The results indicate that spreading a lower dose across all eligible students delivers more total cohort reading points than funding a high dose for a smaller fraction of the students.</a:t>
            </a:r>
          </a:p>
        </p:txBody>
      </p:sp>
      <p:sp>
        <p:nvSpPr>
          <p:cNvPr id="4" name="TextBox 3"/>
          <p:cNvSpPr txBox="1"/>
          <p:nvPr/>
        </p:nvSpPr>
        <p:spPr>
          <a:xfrm>
            <a:off x="812800" y="1930400"/>
            <a:ext cx="10566400" cy="508000"/>
          </a:xfrm>
          <a:prstGeom prst="rect">
            <a:avLst/>
          </a:prstGeom>
          <a:noFill/>
        </p:spPr>
        <p:txBody>
          <a:bodyPr wrap="square">
            <a:spAutoFit/>
          </a:bodyPr>
          <a:lstStyle/>
          <a:p>
            <a:r>
              <a:rPr sz="1050" b="0">
                <a:solidFill>
                  <a:srgbClr val="1A1A1A"/>
                </a:solidFill>
              </a:rPr>
              <a:t>Reported quantities: Cohort reading points over the pilot allocation; Value of the difference at the department's own 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1. Introduction</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This report addresses whether buying fewer tutoring minutes for every eligible student beats buying the pilot's ninety weekly minutes for the fraction of them the budget reaches. The target quantity is identified. The question is answered by cohort reading points over the pilot allocation, evaluated against a decision threshold of 0 points/year. An interval that lies entirely on one side of 0 points/year settles the question. An interval strictly above 0 points/year indicates that allocating fewer minutes to every eligible student yields higher cohort reading points than the pilot allocation. An interval strictly below 0 points/year indicates that the pilot allocation yields higher cohort reading points. An interval spanning 0 points/year leaves the comparison unsettled.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To address the question introduced earlier, the target is the effect of tutoring on gain, identified via the backdoor route. The graph consists of poverty_share -&gt; gain, resources -&gt; gain, resources -&gt; poverty_share, and tutoring -&gt; gain, where resources are unmeasured, as shown in Table 1 and Figure 1. The trial design parameters are shown in Table 3. Across that design, 120 schools were randomized to allocations drawn from a lattice over the two doses, with 3 messaging levels and tutoring spread across the decision range, leaving the adjustment set empty. Relying on state records on 240 schools was considered instead, but in that graph poverty_share -&gt; gain, poverty_share -&gt; tutoring, resources -&gt; gain, resources -&gt; poverty_share, resources -&gt; tutoring, and tutoring -&gt; gain, which downgrades the effect because resources are unmeasured. A two-arm trial at the pilot's 90 minutes was also considered and rejected because it would only answer whether tutoring works rather than the shape of the response. Treatments are dosed in dollars per eligible student per year—where 20 USD buys a weekly tutoring minute and 9 USD buys a weekly caregiver message capped at 5—under a budget of 9,000,000 USD for one school year across 12,000 students reading two or more grade levels behind, equaling 750 USD a student if every one is reached. Dosing tutoring in minutes and messaging in messages was considered and rejected because the two</a:t>
            </a:r>
          </a:p>
        </p:txBody>
      </p:sp>
      <p:sp>
        <p:nvSpPr>
          <p:cNvPr id="4" name="TextBox 3"/>
          <p:cNvSpPr txBox="1"/>
          <p:nvPr/>
        </p:nvSpPr>
        <p:spPr>
          <a:xfrm>
            <a:off x="812800" y="2159000"/>
            <a:ext cx="10566400" cy="508000"/>
          </a:xfrm>
          <a:prstGeom prst="rect">
            <a:avLst/>
          </a:prstGeom>
          <a:noFill/>
        </p:spPr>
        <p:txBody>
          <a:bodyPr wrap="square">
            <a:spAutoFit/>
          </a:bodyPr>
          <a:lstStyle/>
          <a:p>
            <a:r>
              <a:rPr sz="1050" b="1">
                <a:solidFill>
                  <a:srgbClr val="111111"/>
                </a:solidFill>
              </a:rPr>
              <a:t>Planning the trial</a:t>
            </a:r>
          </a:p>
        </p:txBody>
      </p:sp>
      <p:sp>
        <p:nvSpPr>
          <p:cNvPr id="5" name="TextBox 4"/>
          <p:cNvSpPr txBox="1"/>
          <p:nvPr/>
        </p:nvSpPr>
        <p:spPr>
          <a:xfrm>
            <a:off x="812800" y="2413000"/>
            <a:ext cx="10566400" cy="508000"/>
          </a:xfrm>
          <a:prstGeom prst="rect">
            <a:avLst/>
          </a:prstGeom>
          <a:noFill/>
        </p:spPr>
        <p:txBody>
          <a:bodyPr wrap="square">
            <a:spAutoFit/>
          </a:bodyPr>
          <a:lstStyle/>
          <a:p>
            <a:r>
              <a:rPr sz="1050" b="0">
                <a:solidFill>
                  <a:srgbClr val="111111"/>
                </a:solidFill>
              </a:rPr>
              <a:t>`assignment: (tutoring_s, messaging_s) ~ Uniform(lattice)   per school s`
`observational graph : poverty_share -&gt; gain, poverty_share -&gt; tutoring, resources -&gt; gain, resources -&gt; poverty_share, resources -&gt; tutoring, tutoring -&gt; gain`
`  status downgraded - requires the unmeasured node`
`randomized graph    : poverty_share -&gt; gain, resources -&gt; gain, resources -&gt; poverty_share, tutoring -&gt; gain`
`  status identified via backdoor`</a:t>
            </a:r>
          </a:p>
        </p:txBody>
      </p:sp>
      <p:sp>
        <p:nvSpPr>
          <p:cNvPr id="6" name="TextBox 5"/>
          <p:cNvSpPr txBox="1"/>
          <p:nvPr/>
        </p:nvSpPr>
        <p:spPr>
          <a:xfrm>
            <a:off x="812800" y="3200400"/>
            <a:ext cx="10566400" cy="508000"/>
          </a:xfrm>
          <a:prstGeom prst="rect">
            <a:avLst/>
          </a:prstGeom>
          <a:noFill/>
        </p:spPr>
        <p:txBody>
          <a:bodyPr wrap="square">
            <a:spAutoFit/>
          </a:bodyPr>
          <a:lstStyle/>
          <a:p>
            <a:r>
              <a:rPr sz="1050" b="1">
                <a:solidFill>
                  <a:srgbClr val="111111"/>
                </a:solidFill>
              </a:rPr>
              <a:t>Estimating the response</a:t>
            </a:r>
          </a:p>
        </p:txBody>
      </p:sp>
      <p:sp>
        <p:nvSpPr>
          <p:cNvPr id="7" name="TextBox 6"/>
          <p:cNvSpPr txBox="1"/>
          <p:nvPr/>
        </p:nvSpPr>
        <p:spPr>
          <a:xfrm>
            <a:off x="812800" y="3454400"/>
            <a:ext cx="10566400" cy="508000"/>
          </a:xfrm>
          <a:prstGeom prst="rect">
            <a:avLst/>
          </a:prstGeom>
          <a:noFill/>
        </p:spPr>
        <p:txBody>
          <a:bodyPr wrap="square">
            <a:spAutoFit/>
          </a:bodyPr>
          <a:lstStyle/>
          <a:p>
            <a:r>
              <a:rPr sz="1050" b="0">
                <a:solidFill>
                  <a:srgbClr val="111111"/>
                </a:solidFill>
              </a:rPr>
              <a:t>`gain_s = f(tutoring_s) + g(messaging_s) + eps_s`
`  f, g   = penalised splines, one per dose, on the school-level panel`
`effect(a) = E[gain | dose = a] - E[gain | dose = 0]     within each draw`
`served(a) = min(N_eligible, Budget / cost(a))`
`cohort(a) = served(a) * effect(a)                       the objective`
`cost(a)   = a_tutoring + a_messaging   (USD per eligible student-year)`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 (cont.)</a:t>
            </a:r>
          </a:p>
        </p:txBody>
      </p:sp>
      <p:sp>
        <p:nvSpPr>
          <p:cNvPr id="3" name="TextBox 2"/>
          <p:cNvSpPr txBox="1"/>
          <p:nvPr/>
        </p:nvSpPr>
        <p:spPr>
          <a:xfrm>
            <a:off x="812800" y="914400"/>
            <a:ext cx="10566400" cy="508000"/>
          </a:xfrm>
          <a:prstGeom prst="rect">
            <a:avLst/>
          </a:prstGeom>
          <a:noFill/>
        </p:spPr>
        <p:txBody>
          <a:bodyPr wrap="square">
            <a:spAutoFit/>
          </a:bodyPr>
          <a:lstStyle/>
          <a:p>
            <a:r>
              <a:rPr sz="1050" b="1">
                <a:solidFill>
                  <a:srgbClr val="111111"/>
                </a:solidFill>
              </a:rPr>
              <a:t>Choosing the allocation</a:t>
            </a:r>
          </a:p>
        </p:txBody>
      </p:sp>
      <p:sp>
        <p:nvSpPr>
          <p:cNvPr id="4" name="TextBox 3"/>
          <p:cNvSpPr txBox="1"/>
          <p:nvPr/>
        </p:nvSpPr>
        <p:spPr>
          <a:xfrm>
            <a:off x="812800" y="1168400"/>
            <a:ext cx="10566400" cy="508000"/>
          </a:xfrm>
          <a:prstGeom prst="rect">
            <a:avLst/>
          </a:prstGeom>
          <a:noFill/>
        </p:spPr>
        <p:txBody>
          <a:bodyPr wrap="square">
            <a:spAutoFit/>
          </a:bodyPr>
          <a:lstStyle/>
          <a:p>
            <a:r>
              <a:rPr sz="1050" b="0">
                <a:solidFill>
                  <a:srgbClr val="111111"/>
                </a:solidFill>
              </a:rPr>
              <a:t>`a*      = argmax_a  mean_draws cohort(a)`
`Delta   = cohort(a*) - cohort(a_pilot)      paired inside each draw`
`P       = Pr(Delta &gt; 0)`
`value   = Delta * VALUE_PER_POINT`</a:t>
            </a:r>
          </a:p>
        </p:txBody>
      </p:sp>
      <p:sp>
        <p:nvSpPr>
          <p:cNvPr id="5" name="TextBox 4"/>
          <p:cNvSpPr txBox="1"/>
          <p:nvPr/>
        </p:nvSpPr>
        <p:spPr>
          <a:xfrm>
            <a:off x="812800" y="1727200"/>
            <a:ext cx="10566400" cy="508000"/>
          </a:xfrm>
          <a:prstGeom prst="rect">
            <a:avLst/>
          </a:prstGeom>
          <a:noFill/>
        </p:spPr>
        <p:txBody>
          <a:bodyPr wrap="square">
            <a:spAutoFit/>
          </a:bodyPr>
          <a:lstStyle/>
          <a:p>
            <a:r>
              <a:rPr sz="1050" b="1">
                <a:solidFill>
                  <a:srgbClr val="111111"/>
                </a:solidFill>
              </a:rPr>
              <a:t>The identification graph</a:t>
            </a:r>
          </a:p>
        </p:txBody>
      </p:sp>
      <p:graphicFrame>
        <p:nvGraphicFramePr>
          <p:cNvPr id="6" name="Table 5"/>
          <p:cNvGraphicFramePr>
            <a:graphicFrameLocks noGrp="1"/>
          </p:cNvGraphicFramePr>
          <p:nvPr/>
        </p:nvGraphicFramePr>
        <p:xfrm>
          <a:off x="812800" y="1981200"/>
          <a:ext cx="10566400" cy="18288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From</a:t>
                      </a:r>
                    </a:p>
                  </a:txBody>
                  <a:tcPr/>
                </a:tc>
                <a:tc>
                  <a:txBody>
                    <a:bodyPr/>
                    <a:lstStyle/>
                    <a:p>
                      <a:r>
                        <a:rPr sz="892" b="1">
                          <a:solidFill>
                            <a:srgbClr val="111111"/>
                          </a:solidFill>
                        </a:rPr>
                        <a:t>Arrow</a:t>
                      </a:r>
                    </a:p>
                  </a:txBody>
                  <a:tcPr/>
                </a:tc>
                <a:tc>
                  <a:txBody>
                    <a:bodyPr/>
                    <a:lstStyle/>
                    <a:p>
                      <a:r>
                        <a:rPr sz="892" b="1">
                          <a:solidFill>
                            <a:srgbClr val="111111"/>
                          </a:solidFill>
                        </a:rPr>
                        <a:t>To</a:t>
                      </a:r>
                    </a:p>
                  </a:txBody>
                  <a:tcPr/>
                </a:tc>
                <a:tc>
                  <a:txBody>
                    <a:bodyPr/>
                    <a:lstStyle/>
                    <a:p>
                      <a:r>
                        <a:rPr sz="892" b="1">
                          <a:solidFill>
                            <a:srgbClr val="111111"/>
                          </a:solidFill>
                        </a:rPr>
                        <a:t>Kind</a:t>
                      </a:r>
                    </a:p>
                  </a:txBody>
                  <a:tcPr/>
                </a:tc>
              </a:tr>
              <a:tr h="304800">
                <a:tc>
                  <a:txBody>
                    <a:bodyPr/>
                    <a:lstStyle/>
                    <a:p>
                      <a:r>
                        <a:rPr sz="892" b="0">
                          <a:solidFill>
                            <a:srgbClr val="111111"/>
                          </a:solidFill>
                        </a:rPr>
                        <a:t>poverty_share</a:t>
                      </a:r>
                    </a:p>
                  </a:txBody>
                  <a:tcPr/>
                </a:tc>
                <a:tc>
                  <a:txBody>
                    <a:bodyPr/>
                    <a:lstStyle/>
                    <a:p>
                      <a:r>
                        <a:rPr sz="892" b="0">
                          <a:solidFill>
                            <a:srgbClr val="111111"/>
                          </a:solidFill>
                        </a:rPr>
                        <a:t>→</a:t>
                      </a:r>
                    </a:p>
                  </a:txBody>
                  <a:tcPr/>
                </a:tc>
                <a:tc>
                  <a:txBody>
                    <a:bodyPr/>
                    <a:lstStyle/>
                    <a:p>
                      <a:r>
                        <a:rPr sz="892" b="0">
                          <a:solidFill>
                            <a:srgbClr val="111111"/>
                          </a:solidFill>
                        </a:rPr>
                        <a:t>gain</a:t>
                      </a:r>
                    </a:p>
                  </a:txBody>
                  <a:tcPr/>
                </a:tc>
                <a:tc>
                  <a:txBody>
                    <a:bodyPr/>
                    <a:lstStyle/>
                    <a:p>
                      <a:r>
                        <a:rPr sz="892" b="0">
                          <a:solidFill>
                            <a:srgbClr val="111111"/>
                          </a:solidFill>
                        </a:rPr>
                        <a:t>direct effect</a:t>
                      </a:r>
                    </a:p>
                  </a:txBody>
                  <a:tcPr/>
                </a:tc>
              </a:tr>
              <a:tr h="304800">
                <a:tc>
                  <a:txBody>
                    <a:bodyPr/>
                    <a:lstStyle/>
                    <a:p>
                      <a:r>
                        <a:rPr sz="892" b="0">
                          <a:solidFill>
                            <a:srgbClr val="111111"/>
                          </a:solidFill>
                        </a:rPr>
                        <a:t>resources</a:t>
                      </a:r>
                    </a:p>
                  </a:txBody>
                  <a:tcPr/>
                </a:tc>
                <a:tc>
                  <a:txBody>
                    <a:bodyPr/>
                    <a:lstStyle/>
                    <a:p>
                      <a:r>
                        <a:rPr sz="892" b="0">
                          <a:solidFill>
                            <a:srgbClr val="111111"/>
                          </a:solidFill>
                        </a:rPr>
                        <a:t>→</a:t>
                      </a:r>
                    </a:p>
                  </a:txBody>
                  <a:tcPr/>
                </a:tc>
                <a:tc>
                  <a:txBody>
                    <a:bodyPr/>
                    <a:lstStyle/>
                    <a:p>
                      <a:r>
                        <a:rPr sz="892" b="0">
                          <a:solidFill>
                            <a:srgbClr val="111111"/>
                          </a:solidFill>
                        </a:rPr>
                        <a:t>gain</a:t>
                      </a:r>
                    </a:p>
                  </a:txBody>
                  <a:tcPr/>
                </a:tc>
                <a:tc>
                  <a:txBody>
                    <a:bodyPr/>
                    <a:lstStyle/>
                    <a:p>
                      <a:r>
                        <a:rPr sz="892" b="0">
                          <a:solidFill>
                            <a:srgbClr val="111111"/>
                          </a:solidFill>
                        </a:rPr>
                        <a:t>direct effect</a:t>
                      </a:r>
                    </a:p>
                  </a:txBody>
                  <a:tcPr/>
                </a:tc>
              </a:tr>
              <a:tr h="304800">
                <a:tc>
                  <a:txBody>
                    <a:bodyPr/>
                    <a:lstStyle/>
                    <a:p>
                      <a:r>
                        <a:rPr sz="892" b="0">
                          <a:solidFill>
                            <a:srgbClr val="111111"/>
                          </a:solidFill>
                        </a:rPr>
                        <a:t>resources</a:t>
                      </a:r>
                    </a:p>
                  </a:txBody>
                  <a:tcPr/>
                </a:tc>
                <a:tc>
                  <a:txBody>
                    <a:bodyPr/>
                    <a:lstStyle/>
                    <a:p>
                      <a:r>
                        <a:rPr sz="892" b="0">
                          <a:solidFill>
                            <a:srgbClr val="111111"/>
                          </a:solidFill>
                        </a:rPr>
                        <a:t>→</a:t>
                      </a:r>
                    </a:p>
                  </a:txBody>
                  <a:tcPr/>
                </a:tc>
                <a:tc>
                  <a:txBody>
                    <a:bodyPr/>
                    <a:lstStyle/>
                    <a:p>
                      <a:r>
                        <a:rPr sz="892" b="0">
                          <a:solidFill>
                            <a:srgbClr val="111111"/>
                          </a:solidFill>
                        </a:rPr>
                        <a:t>poverty_share</a:t>
                      </a:r>
                    </a:p>
                  </a:txBody>
                  <a:tcPr/>
                </a:tc>
                <a:tc>
                  <a:txBody>
                    <a:bodyPr/>
                    <a:lstStyle/>
                    <a:p>
                      <a:r>
                        <a:rPr sz="892" b="0">
                          <a:solidFill>
                            <a:srgbClr val="111111"/>
                          </a:solidFill>
                        </a:rPr>
                        <a:t>direct effect</a:t>
                      </a:r>
                    </a:p>
                  </a:txBody>
                  <a:tcPr/>
                </a:tc>
              </a:tr>
              <a:tr h="304800">
                <a:tc>
                  <a:txBody>
                    <a:bodyPr/>
                    <a:lstStyle/>
                    <a:p>
                      <a:r>
                        <a:rPr sz="892" b="0">
                          <a:solidFill>
                            <a:srgbClr val="111111"/>
                          </a:solidFill>
                        </a:rPr>
                        <a:t>tutoring</a:t>
                      </a:r>
                    </a:p>
                  </a:txBody>
                  <a:tcPr/>
                </a:tc>
                <a:tc>
                  <a:txBody>
                    <a:bodyPr/>
                    <a:lstStyle/>
                    <a:p>
                      <a:r>
                        <a:rPr sz="892" b="0">
                          <a:solidFill>
                            <a:srgbClr val="111111"/>
                          </a:solidFill>
                        </a:rPr>
                        <a:t>→</a:t>
                      </a:r>
                    </a:p>
                  </a:txBody>
                  <a:tcPr/>
                </a:tc>
                <a:tc>
                  <a:txBody>
                    <a:bodyPr/>
                    <a:lstStyle/>
                    <a:p>
                      <a:r>
                        <a:rPr sz="892" b="0">
                          <a:solidFill>
                            <a:srgbClr val="111111"/>
                          </a:solidFill>
                        </a:rPr>
                        <a:t>gain</a:t>
                      </a:r>
                    </a:p>
                  </a:txBody>
                  <a:tcPr/>
                </a:tc>
                <a:tc>
                  <a:txBody>
                    <a:bodyPr/>
                    <a:lstStyle/>
                    <a:p>
                      <a:r>
                        <a:rPr sz="892" b="0">
                          <a:solidFill>
                            <a:srgbClr val="111111"/>
                          </a:solidFill>
                        </a:rPr>
                        <a:t>direct effect</a:t>
                      </a:r>
                    </a:p>
                  </a:txBody>
                  <a:tcPr/>
                </a:tc>
              </a:tr>
              <a:tr h="304800">
                <a:tc>
                  <a:txBody>
                    <a:bodyPr/>
                    <a:lstStyle/>
                    <a:p>
                      <a:r>
                        <a:rPr sz="892" b="0">
                          <a:solidFill>
                            <a:srgbClr val="111111"/>
                          </a:solidFill>
                        </a:rPr>
                        <a:t>resources</a:t>
                      </a:r>
                    </a:p>
                  </a:txBody>
                  <a:tcPr/>
                </a:tc>
                <a:tc>
                  <a:txBody>
                    <a:bodyPr/>
                    <a:lstStyle/>
                    <a:p/>
                  </a:txBody>
                  <a:tcPr/>
                </a:tc>
                <a:tc>
                  <a:txBody>
                    <a:bodyPr/>
                    <a:lstStyle/>
                    <a:p/>
                  </a:txBody>
                  <a:tcPr/>
                </a:tc>
                <a:tc>
                  <a:txBody>
                    <a:bodyPr/>
                    <a:lstStyle/>
                    <a:p>
                      <a:r>
                        <a:rPr sz="892" b="0">
                          <a:solidFill>
                            <a:srgbClr val="111111"/>
                          </a:solidFill>
                        </a:rPr>
                        <a:t>unmeasured node</a:t>
                      </a:r>
                    </a:p>
                  </a:txBody>
                  <a:tcPr/>
                </a:tc>
              </a:tr>
            </a:tbl>
          </a:graphicData>
        </a:graphic>
      </p:graphicFrame>
      <p:sp>
        <p:nvSpPr>
          <p:cNvPr id="7" name="TextBox 6"/>
          <p:cNvSpPr txBox="1"/>
          <p:nvPr/>
        </p:nvSpPr>
        <p:spPr>
          <a:xfrm>
            <a:off x="812800" y="3962400"/>
            <a:ext cx="10566400" cy="508000"/>
          </a:xfrm>
          <a:prstGeom prst="rect">
            <a:avLst/>
          </a:prstGeom>
          <a:noFill/>
        </p:spPr>
        <p:txBody>
          <a:bodyPr wrap="square">
            <a:spAutoFit/>
          </a:bodyPr>
          <a:lstStyle/>
          <a:p>
            <a:r>
              <a:rPr sz="1050" b="1">
                <a:solidFill>
                  <a:srgbClr val="111111"/>
                </a:solidFill>
              </a:rPr>
              <a:t>Assumptions this analysis rests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 (cont.)</a:t>
            </a:r>
          </a:p>
        </p:txBody>
      </p:sp>
      <p:graphicFrame>
        <p:nvGraphicFramePr>
          <p:cNvPr id="3" name="Table 2"/>
          <p:cNvGraphicFramePr>
            <a:graphicFrameLocks noGrp="1"/>
          </p:cNvGraphicFramePr>
          <p:nvPr/>
        </p:nvGraphicFramePr>
        <p:xfrm>
          <a:off x="812800" y="914400"/>
          <a:ext cx="10566400" cy="9144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Assumption</a:t>
                      </a:r>
                    </a:p>
                  </a:txBody>
                  <a:tcPr/>
                </a:tc>
                <a:tc>
                  <a:txBody>
                    <a:bodyPr/>
                    <a:lstStyle/>
                    <a:p>
                      <a:r>
                        <a:rPr sz="892" b="1">
                          <a:solidFill>
                            <a:srgbClr val="111111"/>
                          </a:solidFill>
                        </a:rPr>
                        <a:t>Statement</a:t>
                      </a:r>
                    </a:p>
                  </a:txBody>
                  <a:tcPr/>
                </a:tc>
                <a:tc>
                  <a:txBody>
                    <a:bodyPr/>
                    <a:lstStyle/>
                    <a:p>
                      <a:r>
                        <a:rPr sz="892" b="1">
                          <a:solidFill>
                            <a:srgbClr val="111111"/>
                          </a:solidFill>
                        </a:rPr>
                        <a:t>Status</a:t>
                      </a:r>
                    </a:p>
                  </a:txBody>
                  <a:tcPr/>
                </a:tc>
                <a:tc>
                  <a:txBody>
                    <a:bodyPr/>
                    <a:lstStyle/>
                    <a:p>
                      <a:r>
                        <a:rPr sz="892" b="1">
                          <a:solidFill>
                            <a:srgbClr val="111111"/>
                          </a:solidFill>
                        </a:rPr>
                        <a:t>Challenged by</a:t>
                      </a:r>
                    </a:p>
                  </a:txBody>
                  <a:tcPr/>
                </a:tc>
              </a:tr>
              <a:tr h="304800">
                <a:tc>
                  <a:txBody>
                    <a:bodyPr/>
                    <a:lstStyle/>
                    <a:p>
                      <a:r>
                        <a:rPr sz="892" b="0">
                          <a:solidFill>
                            <a:srgbClr val="111111"/>
                          </a:solidFill>
                        </a:rPr>
                        <a:t>a reading point has the value the state assigns it</a:t>
                      </a:r>
                    </a:p>
                  </a:txBody>
                  <a:tcPr/>
                </a:tc>
                <a:tc>
                  <a:txBody>
                    <a:bodyPr/>
                    <a:lstStyle/>
                    <a:p>
                      <a:r>
                        <a:rPr sz="892" b="0">
                          <a:solidFill>
                            <a:srgbClr val="111111"/>
                          </a:solidFill>
                        </a:rPr>
                        <a:t>a reading point is valued at 1,400 USD; the recommendation does not depend on this number, only on whether to fund at all</a:t>
                      </a:r>
                    </a:p>
                  </a:txBody>
                  <a:tcPr/>
                </a:tc>
                <a:tc>
                  <a:txBody>
                    <a:bodyPr/>
                    <a:lstStyle/>
                    <a:p>
                      <a:r>
                        <a:rPr sz="892" b="0">
                          <a:solidFill>
                            <a:srgbClr val="111111"/>
                          </a:solidFill>
                        </a:rPr>
                        <a:t>was asserted without a check</a:t>
                      </a:r>
                    </a:p>
                  </a:txBody>
                  <a:tcPr/>
                </a:tc>
                <a:tc>
                  <a:txBody>
                    <a:bodyPr/>
                    <a:lstStyle/>
                    <a:p>
                      <a:r>
                        <a:rPr sz="892" b="0">
                          <a:solidFill>
                            <a:srgbClr val="111111"/>
                          </a:solidFill>
                        </a:rPr>
                        <a:t>a valuation low enough to make the whole program not worth funding</a:t>
                      </a:r>
                    </a:p>
                  </a:txBody>
                  <a:tcPr/>
                </a:tc>
              </a:tr>
              <a:tr h="304800">
                <a:tc>
                  <a:txBody>
                    <a:bodyPr/>
                    <a:lstStyle/>
                    <a:p>
                      <a:r>
                        <a:rPr sz="892" b="0">
                          <a:solidFill>
                            <a:srgbClr val="111111"/>
                          </a:solidFill>
                        </a:rPr>
                        <a:t>the cohort average answers the question</a:t>
                      </a:r>
                    </a:p>
                  </a:txBody>
                  <a:tcPr/>
                </a:tc>
                <a:tc>
                  <a:txBody>
                    <a:bodyPr/>
                    <a:lstStyle/>
                    <a:p>
                      <a:r>
                        <a:rPr sz="892" b="0">
                          <a:solidFill>
                            <a:srgbClr val="111111"/>
                          </a:solidFill>
                        </a:rPr>
                        <a:t>the recommendation is made on the cohort average; the grade-band breakdown the program office asked for is not estimable from a school-randomized trial</a:t>
                      </a:r>
                    </a:p>
                  </a:txBody>
                  <a:tcPr/>
                </a:tc>
                <a:tc>
                  <a:txBody>
                    <a:bodyPr/>
                    <a:lstStyle/>
                    <a:p>
                      <a:r>
                        <a:rPr sz="892" b="0">
                          <a:solidFill>
                            <a:srgbClr val="111111"/>
                          </a:solidFill>
                        </a:rPr>
                        <a:t>is assumed and has not been checked</a:t>
                      </a:r>
                    </a:p>
                  </a:txBody>
                  <a:tcPr/>
                </a:tc>
                <a:tc>
                  <a:txBody>
                    <a:bodyPr/>
                    <a:lstStyle/>
                    <a:p>
                      <a:r>
                        <a:rPr sz="892" b="0">
                          <a:solidFill>
                            <a:srgbClr val="111111"/>
                          </a:solidFill>
                        </a:rPr>
                        <a:t>a response that differs across grade bands enough to change the allocation</a:t>
                      </a:r>
                    </a:p>
                  </a:txBody>
                  <a:tcPr/>
                </a:tc>
              </a:tr>
            </a:tbl>
          </a:graphicData>
        </a:graphic>
      </p:graphicFrame>
      <p:sp>
        <p:nvSpPr>
          <p:cNvPr id="4" name="TextBox 3"/>
          <p:cNvSpPr txBox="1"/>
          <p:nvPr/>
        </p:nvSpPr>
        <p:spPr>
          <a:xfrm>
            <a:off x="812800" y="1981200"/>
            <a:ext cx="10566400" cy="4064000"/>
          </a:xfrm>
          <a:prstGeom prst="rect">
            <a:avLst/>
          </a:prstGeom>
          <a:noFill/>
        </p:spPr>
        <p:txBody>
          <a:bodyPr wrap="square">
            <a:spAutoFit/>
          </a:bodyPr>
          <a:lstStyle/>
          <a:p>
            <a:r>
              <a:rPr sz="892" b="1">
                <a:solidFill>
                  <a:srgbClr val="1A1A1A"/>
                </a:solidFill>
              </a:rPr>
              <a:t>identification  </a:t>
            </a:r>
            <a:r>
              <a:rPr sz="945" b="0">
                <a:solidFill>
                  <a:srgbClr val="111111"/>
                </a:solidFill>
              </a:rPr>
              <a:t>Schools were randomized to allocations; the adjustment set is empty.</a:t>
            </a:r>
          </a:p>
          <a:p>
            <a:r>
              <a:rPr sz="892" b="1">
                <a:solidFill>
                  <a:srgbClr val="1A1A1A"/>
                </a:solidFill>
              </a:rPr>
              <a:t>estimand  </a:t>
            </a:r>
            <a:r>
              <a:rPr sz="945" b="0">
                <a:solidFill>
                  <a:srgbClr val="111111"/>
                </a:solidFill>
              </a:rPr>
              <a:t>The recommendation is over assigned allocations. Schools delivered 93% of assigned minutes, and that shortfall is inside the estimate rather than corrected out of it.</a:t>
            </a:r>
          </a:p>
          <a:p>
            <a:r>
              <a:rPr sz="892" b="1">
                <a:solidFill>
                  <a:srgbClr val="1A1A1A"/>
                </a:solidFill>
              </a:rPr>
              <a:t>interval  </a:t>
            </a:r>
            <a:r>
              <a:rPr sz="945" b="0">
                <a:solidFill>
                  <a:srgbClr val="111111"/>
                </a:solidFill>
              </a:rPr>
              <a:t>Every figure and quantity at 90% over 4,000 posterior draws.</a:t>
            </a:r>
          </a:p>
          <a:p>
            <a:r>
              <a:rPr sz="892" b="1">
                <a:solidFill>
                  <a:srgbClr val="1A1A1A"/>
                </a:solidFill>
              </a:rPr>
              <a:t>limitation  </a:t>
            </a:r>
            <a:r>
              <a:rPr sz="945" b="0">
                <a:solidFill>
                  <a:srgbClr val="111111"/>
                </a:solidFill>
              </a:rPr>
              <a:t>The grade-band breakdown the program office asked for is not estimable from a school-randomized trial, and is not reported.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 (cont.)</a:t>
            </a:r>
          </a:p>
        </p:txBody>
      </p:sp>
      <p:pic>
        <p:nvPicPr>
          <p:cNvPr id="3" name="Picture 2" descr="image.png"/>
          <p:cNvPicPr>
            <a:picLocks noChangeAspect="1"/>
          </p:cNvPicPr>
          <p:nvPr/>
        </p:nvPicPr>
        <p:blipFill>
          <a:blip r:embed="rId2"/>
          <a:stretch>
            <a:fillRect/>
          </a:stretch>
        </p:blipFill>
        <p:spPr>
          <a:xfrm>
            <a:off x="812800" y="914400"/>
            <a:ext cx="9122190" cy="5130800"/>
          </a:xfrm>
          <a:prstGeom prst="rect">
            <a:avLst/>
          </a:prstGeom>
        </p:spPr>
      </p:pic>
      <p:sp>
        <p:nvSpPr>
          <p:cNvPr id="4" name="TextBox 3"/>
          <p:cNvSpPr txBox="1"/>
          <p:nvPr/>
        </p:nvSpPr>
        <p:spPr>
          <a:xfrm>
            <a:off x="812800" y="6126480"/>
            <a:ext cx="10566400" cy="254000"/>
          </a:xfrm>
          <a:prstGeom prst="rect">
            <a:avLst/>
          </a:prstGeom>
          <a:noFill/>
        </p:spPr>
        <p:txBody>
          <a:bodyPr wrap="square">
            <a:spAutoFit/>
          </a:bodyPr>
          <a:lstStyle/>
          <a:p>
            <a:r>
              <a:rPr sz="892" b="0">
                <a:solidFill>
                  <a:srgbClr val="555555"/>
                </a:solidFill>
              </a:rPr>
              <a:t>Figure 1. The identification graph. A hollow node was not measured and a dashed edge is an unmeasured common cause; those two are what decide whether the effect is identifiable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 (cont.)</a:t>
            </a:r>
          </a:p>
        </p:txBody>
      </p:sp>
      <p:graphicFrame>
        <p:nvGraphicFramePr>
          <p:cNvPr id="3" name="Table 2"/>
          <p:cNvGraphicFramePr>
            <a:graphicFrameLocks noGrp="1"/>
          </p:cNvGraphicFramePr>
          <p:nvPr/>
        </p:nvGraphicFramePr>
        <p:xfrm>
          <a:off x="812800" y="914400"/>
          <a:ext cx="10566400" cy="5130800"/>
        </p:xfrm>
        <a:graphic>
          <a:graphicData uri="http://schemas.openxmlformats.org/drawingml/2006/table">
            <a:tbl>
              <a:tblPr firstRow="1" bandRow="1">
                <a:tableStyleId>{5C22544A-7EE6-4342-B048-85BDC9FD1C3A}</a:tableStyleId>
              </a:tblPr>
              <a:tblGrid>
                <a:gridCol w="3522133"/>
                <a:gridCol w="3522133"/>
                <a:gridCol w="3522134"/>
              </a:tblGrid>
              <a:tr h="190029">
                <a:tc>
                  <a:txBody>
                    <a:bodyPr/>
                    <a:lstStyle/>
                    <a:p>
                      <a:r>
                        <a:rPr sz="892" b="1">
                          <a:solidFill>
                            <a:srgbClr val="111111"/>
                          </a:solidFill>
                        </a:rPr>
                        <a:t>Step</a:t>
                      </a:r>
                    </a:p>
                  </a:txBody>
                  <a:tcPr/>
                </a:tc>
                <a:tc>
                  <a:txBody>
                    <a:bodyPr/>
                    <a:lstStyle/>
                    <a:p>
                      <a:r>
                        <a:rPr sz="892" b="1">
                          <a:solidFill>
                            <a:srgbClr val="111111"/>
                          </a:solidFill>
                        </a:rPr>
                        <a:t>Parameter</a:t>
                      </a:r>
                    </a:p>
                  </a:txBody>
                  <a:tcPr/>
                </a:tc>
                <a:tc>
                  <a:txBody>
                    <a:bodyPr/>
                    <a:lstStyle/>
                    <a:p>
                      <a:r>
                        <a:rPr sz="892" b="1">
                          <a:solidFill>
                            <a:srgbClr val="111111"/>
                          </a:solidFill>
                        </a:rPr>
                        <a:t>Value</a:t>
                      </a:r>
                    </a:p>
                  </a:txBody>
                  <a:tcPr/>
                </a:tc>
              </a:tr>
              <a:tr h="190029">
                <a:tc>
                  <a:txBody>
                    <a:bodyPr/>
                    <a:lstStyle/>
                    <a:p>
                      <a:r>
                        <a:rPr sz="892" b="0">
                          <a:solidFill>
                            <a:srgbClr val="111111"/>
                          </a:solidFill>
                        </a:rPr>
                        <a:t>Identification</a:t>
                      </a:r>
                    </a:p>
                  </a:txBody>
                  <a:tcPr/>
                </a:tc>
                <a:tc>
                  <a:txBody>
                    <a:bodyPr/>
                    <a:lstStyle/>
                    <a:p>
                      <a:r>
                        <a:rPr sz="892" b="0">
                          <a:solidFill>
                            <a:srgbClr val="111111"/>
                          </a:solidFill>
                        </a:rPr>
                        <a:t>graph</a:t>
                      </a:r>
                    </a:p>
                  </a:txBody>
                  <a:tcPr/>
                </a:tc>
                <a:tc>
                  <a:txBody>
                    <a:bodyPr/>
                    <a:lstStyle/>
                    <a:p>
                      <a:r>
                        <a:rPr sz="892" b="0">
                          <a:solidFill>
                            <a:srgbClr val="111111"/>
                          </a:solidFill>
                        </a:rPr>
                        <a:t>poverty_share -&gt; gain, resources -&gt; gain, resources -&gt; poverty_share, tutoring -&gt; gain</a:t>
                      </a:r>
                    </a:p>
                  </a:txBody>
                  <a:tcPr/>
                </a:tc>
              </a:tr>
              <a:tr h="190029">
                <a:tc>
                  <a:txBody>
                    <a:bodyPr/>
                    <a:lstStyle/>
                    <a:p>
                      <a:r>
                        <a:rPr sz="892" b="0">
                          <a:solidFill>
                            <a:srgbClr val="111111"/>
                          </a:solidFill>
                        </a:rPr>
                        <a:t>Identification</a:t>
                      </a:r>
                    </a:p>
                  </a:txBody>
                  <a:tcPr/>
                </a:tc>
                <a:tc>
                  <a:txBody>
                    <a:bodyPr/>
                    <a:lstStyle/>
                    <a:p>
                      <a:r>
                        <a:rPr sz="892" b="0">
                          <a:solidFill>
                            <a:srgbClr val="111111"/>
                          </a:solidFill>
                        </a:rPr>
                        <a:t>graph hash</a:t>
                      </a:r>
                    </a:p>
                  </a:txBody>
                  <a:tcPr/>
                </a:tc>
                <a:tc>
                  <a:txBody>
                    <a:bodyPr/>
                    <a:lstStyle/>
                    <a:p>
                      <a:r>
                        <a:rPr sz="892" b="0">
                          <a:solidFill>
                            <a:srgbClr val="111111"/>
                          </a:solidFill>
                        </a:rPr>
                        <a:t>488a01d83085</a:t>
                      </a:r>
                    </a:p>
                  </a:txBody>
                  <a:tcPr/>
                </a:tc>
              </a:tr>
              <a:tr h="190029">
                <a:tc>
                  <a:txBody>
                    <a:bodyPr/>
                    <a:lstStyle/>
                    <a:p>
                      <a:r>
                        <a:rPr sz="892" b="0">
                          <a:solidFill>
                            <a:srgbClr val="111111"/>
                          </a:solidFill>
                        </a:rPr>
                        <a:t>Identification</a:t>
                      </a:r>
                    </a:p>
                  </a:txBody>
                  <a:tcPr/>
                </a:tc>
                <a:tc>
                  <a:txBody>
                    <a:bodyPr/>
                    <a:lstStyle/>
                    <a:p>
                      <a:r>
                        <a:rPr sz="892" b="0">
                          <a:solidFill>
                            <a:srgbClr val="111111"/>
                          </a:solidFill>
                        </a:rPr>
                        <a:t>route</a:t>
                      </a:r>
                    </a:p>
                  </a:txBody>
                  <a:tcPr/>
                </a:tc>
                <a:tc>
                  <a:txBody>
                    <a:bodyPr/>
                    <a:lstStyle/>
                    <a:p>
                      <a:r>
                        <a:rPr sz="892" b="0">
                          <a:solidFill>
                            <a:srgbClr val="111111"/>
                          </a:solidFill>
                        </a:rPr>
                        <a:t>backdoor</a:t>
                      </a:r>
                    </a:p>
                  </a:txBody>
                  <a:tcPr/>
                </a:tc>
              </a:tr>
              <a:tr h="190029">
                <a:tc>
                  <a:txBody>
                    <a:bodyPr/>
                    <a:lstStyle/>
                    <a:p>
                      <a:r>
                        <a:rPr sz="892" b="0">
                          <a:solidFill>
                            <a:srgbClr val="111111"/>
                          </a:solidFill>
                        </a:rPr>
                        <a:t>Identification</a:t>
                      </a:r>
                    </a:p>
                  </a:txBody>
                  <a:tcPr/>
                </a:tc>
                <a:tc>
                  <a:txBody>
                    <a:bodyPr/>
                    <a:lstStyle/>
                    <a:p>
                      <a:r>
                        <a:rPr sz="892" b="0">
                          <a:solidFill>
                            <a:srgbClr val="111111"/>
                          </a:solidFill>
                        </a:rPr>
                        <a:t>status</a:t>
                      </a:r>
                    </a:p>
                  </a:txBody>
                  <a:tcPr/>
                </a:tc>
                <a:tc>
                  <a:txBody>
                    <a:bodyPr/>
                    <a:lstStyle/>
                    <a:p>
                      <a:r>
                        <a:rPr sz="892" b="0">
                          <a:solidFill>
                            <a:srgbClr val="111111"/>
                          </a:solidFill>
                        </a:rPr>
                        <a:t>identified</a:t>
                      </a:r>
                    </a:p>
                  </a:txBody>
                  <a:tcPr/>
                </a:tc>
              </a:tr>
              <a:tr h="190029">
                <a:tc>
                  <a:txBody>
                    <a:bodyPr/>
                    <a:lstStyle/>
                    <a:p>
                      <a:r>
                        <a:rPr sz="892" b="0">
                          <a:solidFill>
                            <a:srgbClr val="111111"/>
                          </a:solidFill>
                        </a:rPr>
                        <a:t>Identification</a:t>
                      </a:r>
                    </a:p>
                  </a:txBody>
                  <a:tcPr/>
                </a:tc>
                <a:tc>
                  <a:txBody>
                    <a:bodyPr/>
                    <a:lstStyle/>
                    <a:p>
                      <a:r>
                        <a:rPr sz="892" b="0">
                          <a:solidFill>
                            <a:srgbClr val="111111"/>
                          </a:solidFill>
                        </a:rPr>
                        <a:t>unmeasured nodes</a:t>
                      </a:r>
                    </a:p>
                  </a:txBody>
                  <a:tcPr/>
                </a:tc>
                <a:tc>
                  <a:txBody>
                    <a:bodyPr/>
                    <a:lstStyle/>
                    <a:p>
                      <a:r>
                        <a:rPr sz="892" b="0">
                          <a:solidFill>
                            <a:srgbClr val="111111"/>
                          </a:solidFill>
                        </a:rPr>
                        <a:t>resources</a:t>
                      </a:r>
                    </a:p>
                  </a:txBody>
                  <a:tcPr/>
                </a:tc>
              </a:tr>
              <a:tr h="190029">
                <a:tc>
                  <a:txBody>
                    <a:bodyPr/>
                    <a:lstStyle/>
                    <a:p>
                      <a:r>
                        <a:rPr sz="892" b="0">
                          <a:solidFill>
                            <a:srgbClr val="111111"/>
                          </a:solidFill>
                        </a:rPr>
                        <a:t>The decision as arithmetic</a:t>
                      </a:r>
                    </a:p>
                  </a:txBody>
                  <a:tcPr/>
                </a:tc>
                <a:tc>
                  <a:txBody>
                    <a:bodyPr/>
                    <a:lstStyle/>
                    <a:p>
                      <a:r>
                        <a:rPr sz="892" b="0">
                          <a:solidFill>
                            <a:srgbClr val="111111"/>
                          </a:solidFill>
                        </a:rPr>
                        <a:t>budget (USD)</a:t>
                      </a:r>
                    </a:p>
                  </a:txBody>
                  <a:tcPr/>
                </a:tc>
                <a:tc>
                  <a:txBody>
                    <a:bodyPr/>
                    <a:lstStyle/>
                    <a:p>
                      <a:r>
                        <a:rPr sz="892" b="0">
                          <a:solidFill>
                            <a:srgbClr val="111111"/>
                          </a:solidFill>
                        </a:rPr>
                        <a:t>9,000,000</a:t>
                      </a:r>
                    </a:p>
                  </a:txBody>
                  <a:tcPr/>
                </a:tc>
              </a:tr>
              <a:tr h="190029">
                <a:tc>
                  <a:txBody>
                    <a:bodyPr/>
                    <a:lstStyle/>
                    <a:p>
                      <a:r>
                        <a:rPr sz="892" b="0">
                          <a:solidFill>
                            <a:srgbClr val="111111"/>
                          </a:solidFill>
                        </a:rPr>
                        <a:t>The decision as arithmetic</a:t>
                      </a:r>
                    </a:p>
                  </a:txBody>
                  <a:tcPr/>
                </a:tc>
                <a:tc>
                  <a:txBody>
                    <a:bodyPr/>
                    <a:lstStyle/>
                    <a:p>
                      <a:r>
                        <a:rPr sz="892" b="0">
                          <a:solidFill>
                            <a:srgbClr val="111111"/>
                          </a:solidFill>
                        </a:rPr>
                        <a:t>eligible students</a:t>
                      </a:r>
                    </a:p>
                  </a:txBody>
                  <a:tcPr/>
                </a:tc>
                <a:tc>
                  <a:txBody>
                    <a:bodyPr/>
                    <a:lstStyle/>
                    <a:p>
                      <a:r>
                        <a:rPr sz="892" b="0">
                          <a:solidFill>
                            <a:srgbClr val="111111"/>
                          </a:solidFill>
                        </a:rPr>
                        <a:t>12,000</a:t>
                      </a:r>
                    </a:p>
                  </a:txBody>
                  <a:tcPr/>
                </a:tc>
              </a:tr>
              <a:tr h="190029">
                <a:tc>
                  <a:txBody>
                    <a:bodyPr/>
                    <a:lstStyle/>
                    <a:p>
                      <a:r>
                        <a:rPr sz="892" b="0">
                          <a:solidFill>
                            <a:srgbClr val="111111"/>
                          </a:solidFill>
                        </a:rPr>
                        <a:t>The decision as arithmetic</a:t>
                      </a:r>
                    </a:p>
                  </a:txBody>
                  <a:tcPr/>
                </a:tc>
                <a:tc>
                  <a:txBody>
                    <a:bodyPr/>
                    <a:lstStyle/>
                    <a:p>
                      <a:r>
                        <a:rPr sz="892" b="0">
                          <a:solidFill>
                            <a:srgbClr val="111111"/>
                          </a:solidFill>
                        </a:rPr>
                        <a:t>messaging dose range (USD)</a:t>
                      </a:r>
                    </a:p>
                  </a:txBody>
                  <a:tcPr/>
                </a:tc>
                <a:tc>
                  <a:txBody>
                    <a:bodyPr/>
                    <a:lstStyle/>
                    <a:p>
                      <a:r>
                        <a:rPr sz="892" b="0">
                          <a:solidFill>
                            <a:srgbClr val="111111"/>
                          </a:solidFill>
                        </a:rPr>
                        <a:t>0 to 45</a:t>
                      </a:r>
                    </a:p>
                  </a:txBody>
                  <a:tcPr/>
                </a:tc>
              </a:tr>
              <a:tr h="190029">
                <a:tc>
                  <a:txBody>
                    <a:bodyPr/>
                    <a:lstStyle/>
                    <a:p>
                      <a:r>
                        <a:rPr sz="892" b="0">
                          <a:solidFill>
                            <a:srgbClr val="111111"/>
                          </a:solidFill>
                        </a:rPr>
                        <a:t>The decision as arithmetic</a:t>
                      </a:r>
                    </a:p>
                  </a:txBody>
                  <a:tcPr/>
                </a:tc>
                <a:tc>
                  <a:txBody>
                    <a:bodyPr/>
                    <a:lstStyle/>
                    <a:p>
                      <a:r>
                        <a:rPr sz="892" b="0">
                          <a:solidFill>
                            <a:srgbClr val="111111"/>
                          </a:solidFill>
                        </a:rPr>
                        <a:t>per student if all are reached (USD)</a:t>
                      </a:r>
                    </a:p>
                  </a:txBody>
                  <a:tcPr/>
                </a:tc>
                <a:tc>
                  <a:txBody>
                    <a:bodyPr/>
                    <a:lstStyle/>
                    <a:p>
                      <a:r>
                        <a:rPr sz="892" b="0">
                          <a:solidFill>
                            <a:srgbClr val="111111"/>
                          </a:solidFill>
                        </a:rPr>
                        <a:t>750</a:t>
                      </a:r>
                    </a:p>
                  </a:txBody>
                  <a:tcPr/>
                </a:tc>
              </a:tr>
              <a:tr h="190029">
                <a:tc>
                  <a:txBody>
                    <a:bodyPr/>
                    <a:lstStyle/>
                    <a:p>
                      <a:r>
                        <a:rPr sz="892" b="0">
                          <a:solidFill>
                            <a:srgbClr val="111111"/>
                          </a:solidFill>
                        </a:rPr>
                        <a:t>The decision as arithmetic</a:t>
                      </a:r>
                    </a:p>
                  </a:txBody>
                  <a:tcPr/>
                </a:tc>
                <a:tc>
                  <a:txBody>
                    <a:bodyPr/>
                    <a:lstStyle/>
                    <a:p>
                      <a:r>
                        <a:rPr sz="892" b="0">
                          <a:solidFill>
                            <a:srgbClr val="111111"/>
                          </a:solidFill>
                        </a:rPr>
                        <a:t>tutoring dose range (USD)</a:t>
                      </a:r>
                    </a:p>
                  </a:txBody>
                  <a:tcPr/>
                </a:tc>
                <a:tc>
                  <a:txBody>
                    <a:bodyPr/>
                    <a:lstStyle/>
                    <a:p>
                      <a:r>
                        <a:rPr sz="892" b="0">
                          <a:solidFill>
                            <a:srgbClr val="111111"/>
                          </a:solidFill>
                        </a:rPr>
                        <a:t>0 to 3,000</a:t>
                      </a:r>
                    </a:p>
                  </a:txBody>
                  <a:tcPr/>
                </a:tc>
              </a:tr>
              <a:tr h="190029">
                <a:tc>
                  <a:txBody>
                    <a:bodyPr/>
                    <a:lstStyle/>
                    <a:p>
                      <a:r>
                        <a:rPr sz="892" b="0">
                          <a:solidFill>
                            <a:srgbClr val="111111"/>
                          </a:solidFill>
                        </a:rPr>
                        <a:t>Planning the trial</a:t>
                      </a:r>
                    </a:p>
                  </a:txBody>
                  <a:tcPr/>
                </a:tc>
                <a:tc>
                  <a:txBody>
                    <a:bodyPr/>
                    <a:lstStyle/>
                    <a:p>
                      <a:r>
                        <a:rPr sz="892" b="0">
                          <a:solidFill>
                            <a:srgbClr val="111111"/>
                          </a:solidFill>
                        </a:rPr>
                        <a:t>eligible per school</a:t>
                      </a:r>
                    </a:p>
                  </a:txBody>
                  <a:tcPr/>
                </a:tc>
                <a:tc>
                  <a:txBody>
                    <a:bodyPr/>
                    <a:lstStyle/>
                    <a:p>
                      <a:r>
                        <a:rPr sz="892" b="0">
                          <a:solidFill>
                            <a:srgbClr val="111111"/>
                          </a:solidFill>
                        </a:rPr>
                        <a:t>35–65</a:t>
                      </a:r>
                    </a:p>
                  </a:txBody>
                  <a:tcPr/>
                </a:tc>
              </a:tr>
              <a:tr h="190029">
                <a:tc>
                  <a:txBody>
                    <a:bodyPr/>
                    <a:lstStyle/>
                    <a:p>
                      <a:r>
                        <a:rPr sz="892" b="0">
                          <a:solidFill>
                            <a:srgbClr val="111111"/>
                          </a:solidFill>
                        </a:rPr>
                        <a:t>Planning the trial</a:t>
                      </a:r>
                    </a:p>
                  </a:txBody>
                  <a:tcPr/>
                </a:tc>
                <a:tc>
                  <a:txBody>
                    <a:bodyPr/>
                    <a:lstStyle/>
                    <a:p>
                      <a:r>
                        <a:rPr sz="892" b="0">
                          <a:solidFill>
                            <a:srgbClr val="111111"/>
                          </a:solidFill>
                        </a:rPr>
                        <a:t>messaging levels</a:t>
                      </a:r>
                    </a:p>
                  </a:txBody>
                  <a:tcPr/>
                </a:tc>
                <a:tc>
                  <a:txBody>
                    <a:bodyPr/>
                    <a:lstStyle/>
                    <a:p>
                      <a:r>
                        <a:rPr sz="892" b="0">
                          <a:solidFill>
                            <a:srgbClr val="111111"/>
                          </a:solidFill>
                        </a:rPr>
                        <a:t>0, 18, 45</a:t>
                      </a:r>
                    </a:p>
                  </a:txBody>
                  <a:tcPr/>
                </a:tc>
              </a:tr>
              <a:tr h="190029">
                <a:tc>
                  <a:txBody>
                    <a:bodyPr/>
                    <a:lstStyle/>
                    <a:p>
                      <a:r>
                        <a:rPr sz="892" b="0">
                          <a:solidFill>
                            <a:srgbClr val="111111"/>
                          </a:solidFill>
                        </a:rPr>
                        <a:t>Planning the trial</a:t>
                      </a:r>
                    </a:p>
                  </a:txBody>
                  <a:tcPr/>
                </a:tc>
                <a:tc>
                  <a:txBody>
                    <a:bodyPr/>
                    <a:lstStyle/>
                    <a:p>
                      <a:r>
                        <a:rPr sz="892" b="0">
                          <a:solidFill>
                            <a:srgbClr val="111111"/>
                          </a:solidFill>
                        </a:rPr>
                        <a:t>schools</a:t>
                      </a:r>
                    </a:p>
                  </a:txBody>
                  <a:tcPr/>
                </a:tc>
                <a:tc>
                  <a:txBody>
                    <a:bodyPr/>
                    <a:lstStyle/>
                    <a:p>
                      <a:r>
                        <a:rPr sz="892" b="0">
                          <a:solidFill>
                            <a:srgbClr val="111111"/>
                          </a:solidFill>
                        </a:rPr>
                        <a:t>120</a:t>
                      </a:r>
                    </a:p>
                  </a:txBody>
                  <a:tcPr/>
                </a:tc>
              </a:tr>
              <a:tr h="190029">
                <a:tc>
                  <a:txBody>
                    <a:bodyPr/>
                    <a:lstStyle/>
                    <a:p>
                      <a:r>
                        <a:rPr sz="892" b="0">
                          <a:solidFill>
                            <a:srgbClr val="111111"/>
                          </a:solidFill>
                        </a:rPr>
                        <a:t>Planning the trial</a:t>
                      </a:r>
                    </a:p>
                  </a:txBody>
                  <a:tcPr/>
                </a:tc>
                <a:tc>
                  <a:txBody>
                    <a:bodyPr/>
                    <a:lstStyle/>
                    <a:p>
                      <a:r>
                        <a:rPr sz="892" b="0">
                          <a:solidFill>
                            <a:srgbClr val="111111"/>
                          </a:solidFill>
                        </a:rPr>
                        <a:t>unit of assignment</a:t>
                      </a:r>
                    </a:p>
                  </a:txBody>
                  <a:tcPr/>
                </a:tc>
                <a:tc>
                  <a:txBody>
                    <a:bodyPr/>
                    <a:lstStyle/>
                    <a:p>
                      <a:r>
                        <a:rPr sz="892" b="0">
                          <a:solidFill>
                            <a:srgbClr val="111111"/>
                          </a:solidFill>
                        </a:rPr>
                        <a:t>school</a:t>
                      </a:r>
                    </a:p>
                  </a:txBody>
                  <a:tcPr/>
                </a:tc>
              </a:tr>
              <a:tr h="190029">
                <a:tc>
                  <a:txBody>
                    <a:bodyPr/>
                    <a:lstStyle/>
                    <a:p>
                      <a:r>
                        <a:rPr sz="892" b="0">
                          <a:solidFill>
                            <a:srgbClr val="111111"/>
                          </a:solidFill>
                        </a:rPr>
                        <a:t>Estimating the response</a:t>
                      </a:r>
                    </a:p>
                  </a:txBody>
                  <a:tcPr/>
                </a:tc>
                <a:tc>
                  <a:txBody>
                    <a:bodyPr/>
                    <a:lstStyle/>
                    <a:p>
                      <a:r>
                        <a:rPr sz="892" b="0">
                          <a:solidFill>
                            <a:srgbClr val="111111"/>
                          </a:solidFill>
                        </a:rPr>
                        <a:t>fit hash</a:t>
                      </a:r>
                    </a:p>
                  </a:txBody>
                  <a:tcPr/>
                </a:tc>
                <a:tc>
                  <a:txBody>
                    <a:bodyPr/>
                    <a:lstStyle/>
                    <a:p>
                      <a:r>
                        <a:rPr sz="892" b="0">
                          <a:solidFill>
                            <a:srgbClr val="111111"/>
                          </a:solidFill>
                        </a:rPr>
                        <a:t>c878161a12a5</a:t>
                      </a:r>
                    </a:p>
                  </a:txBody>
                  <a:tcPr/>
                </a:tc>
              </a:tr>
              <a:tr h="190029">
                <a:tc>
                  <a:txBody>
                    <a:bodyPr/>
                    <a:lstStyle/>
                    <a:p>
                      <a:r>
                        <a:rPr sz="892" b="0">
                          <a:solidFill>
                            <a:srgbClr val="111111"/>
                          </a:solidFill>
                        </a:rPr>
                        <a:t>Estimating the response</a:t>
                      </a:r>
                    </a:p>
                  </a:txBody>
                  <a:tcPr/>
                </a:tc>
                <a:tc>
                  <a:txBody>
                    <a:bodyPr/>
                    <a:lstStyle/>
                    <a:p>
                      <a:r>
                        <a:rPr sz="892" b="0">
                          <a:solidFill>
                            <a:srgbClr val="111111"/>
                          </a:solidFill>
                        </a:rPr>
                        <a:t>interval mass</a:t>
                      </a:r>
                    </a:p>
                  </a:txBody>
                  <a:tcPr/>
                </a:tc>
                <a:tc>
                  <a:txBody>
                    <a:bodyPr/>
                    <a:lstStyle/>
                    <a:p>
                      <a:r>
                        <a:rPr sz="892" b="0">
                          <a:solidFill>
                            <a:srgbClr val="111111"/>
                          </a:solidFill>
                        </a:rPr>
                        <a:t>90%</a:t>
                      </a:r>
                    </a:p>
                  </a:txBody>
                  <a:tcPr/>
                </a:tc>
              </a:tr>
              <a:tr h="190029">
                <a:tc>
                  <a:txBody>
                    <a:bodyPr/>
                    <a:lstStyle/>
                    <a:p>
                      <a:r>
                        <a:rPr sz="892" b="0">
                          <a:solidFill>
                            <a:srgbClr val="111111"/>
                          </a:solidFill>
                        </a:rPr>
                        <a:t>Estimating the response</a:t>
                      </a:r>
                    </a:p>
                  </a:txBody>
                  <a:tcPr/>
                </a:tc>
                <a:tc>
                  <a:txBody>
                    <a:bodyPr/>
                    <a:lstStyle/>
                    <a:p>
                      <a:r>
                        <a:rPr sz="892" b="0">
                          <a:solidFill>
                            <a:srgbClr val="111111"/>
                          </a:solidFill>
                        </a:rPr>
                        <a:t>posterior draws</a:t>
                      </a:r>
                    </a:p>
                  </a:txBody>
                  <a:tcPr/>
                </a:tc>
                <a:tc>
                  <a:txBody>
                    <a:bodyPr/>
                    <a:lstStyle/>
                    <a:p>
                      <a:r>
                        <a:rPr sz="892" b="0">
                          <a:solidFill>
                            <a:srgbClr val="111111"/>
                          </a:solidFill>
                        </a:rPr>
                        <a:t>4,000</a:t>
                      </a:r>
                    </a:p>
                  </a:txBody>
                  <a:tcPr/>
                </a:tc>
              </a:tr>
              <a:tr h="190029">
                <a:tc>
                  <a:txBody>
                    <a:bodyPr/>
                    <a:lstStyle/>
                    <a:p>
                      <a:r>
                        <a:rPr sz="892" b="0">
                          <a:solidFill>
                            <a:srgbClr val="111111"/>
                          </a:solidFill>
                        </a:rPr>
                        <a:t>Estimating the response</a:t>
                      </a:r>
                    </a:p>
                  </a:txBody>
                  <a:tcPr/>
                </a:tc>
                <a:tc>
                  <a:txBody>
                    <a:bodyPr/>
                    <a:lstStyle/>
                    <a:p>
                      <a:r>
                        <a:rPr sz="892" b="0">
                          <a:solidFill>
                            <a:srgbClr val="111111"/>
                          </a:solidFill>
                        </a:rPr>
                        <a:t>response family</a:t>
                      </a:r>
                    </a:p>
                  </a:txBody>
                  <a:tcPr/>
                </a:tc>
                <a:tc>
                  <a:txBody>
                    <a:bodyPr/>
                    <a:lstStyle/>
                    <a:p>
                      <a:r>
                        <a:rPr sz="892" b="0">
                          <a:solidFill>
                            <a:srgbClr val="111111"/>
                          </a:solidFill>
                        </a:rPr>
                        <a:t>spline in both doses</a:t>
                      </a:r>
                    </a:p>
                  </a:txBody>
                  <a:tcPr/>
                </a:tc>
              </a:tr>
              <a:tr h="190029">
                <a:tc>
                  <a:txBody>
                    <a:bodyPr/>
                    <a:lstStyle/>
                    <a:p>
                      <a:r>
                        <a:rPr sz="892" b="0">
                          <a:solidFill>
                            <a:srgbClr val="111111"/>
                          </a:solidFill>
                        </a:rPr>
                        <a:t>Estimating the response</a:t>
                      </a:r>
                    </a:p>
                  </a:txBody>
                  <a:tcPr/>
                </a:tc>
                <a:tc>
                  <a:txBody>
                    <a:bodyPr/>
                    <a:lstStyle/>
                    <a:p>
                      <a:r>
                        <a:rPr sz="892" b="0">
                          <a:solidFill>
                            <a:srgbClr val="111111"/>
                          </a:solidFill>
                        </a:rPr>
                        <a:t>sampler</a:t>
                      </a:r>
                    </a:p>
                  </a:txBody>
                  <a:tcPr/>
                </a:tc>
                <a:tc>
                  <a:txBody>
                    <a:bodyPr/>
                    <a:lstStyle/>
                    <a:p>
                      <a:r>
                        <a:rPr sz="892" b="0">
                          <a:solidFill>
                            <a:srgbClr val="111111"/>
                          </a:solidFill>
                        </a:rPr>
                        <a:t>PyMC via nutpie</a:t>
                      </a:r>
                    </a:p>
                  </a:txBody>
                  <a:tcPr/>
                </a:tc>
              </a:tr>
              <a:tr h="190029">
                <a:tc>
                  <a:txBody>
                    <a:bodyPr/>
                    <a:lstStyle/>
                    <a:p>
                      <a:r>
                        <a:rPr sz="892" b="0">
                          <a:solidFill>
                            <a:srgbClr val="111111"/>
                          </a:solidFill>
                        </a:rPr>
                        <a:t>Choosing the allocation</a:t>
                      </a:r>
                    </a:p>
                  </a:txBody>
                  <a:tcPr/>
                </a:tc>
                <a:tc>
                  <a:txBody>
                    <a:bodyPr/>
                    <a:lstStyle/>
                    <a:p>
                      <a:r>
                        <a:rPr sz="892" b="0">
                          <a:solidFill>
                            <a:srgbClr val="111111"/>
                          </a:solidFill>
                        </a:rPr>
                        <a:t>allocate() at the budget</a:t>
                      </a:r>
                    </a:p>
                  </a:txBody>
                  <a:tcPr/>
                </a:tc>
                <a:tc>
                  <a:txBody>
                    <a:bodyPr/>
                    <a:lstStyle/>
                    <a:p>
                      <a:r>
                        <a:rPr sz="892" b="0">
                          <a:solidFill>
                            <a:srgbClr val="111111"/>
                          </a:solidFill>
                        </a:rPr>
                        <a:t>tutoring 705, messaging 45 (converged)</a:t>
                      </a:r>
                    </a:p>
                  </a:txBody>
                  <a:tcPr/>
                </a:tc>
              </a:tr>
              <a:tr h="190029">
                <a:tc>
                  <a:txBody>
                    <a:bodyPr/>
                    <a:lstStyle/>
                    <a:p>
                      <a:r>
                        <a:rPr sz="892" b="0">
                          <a:solidFill>
                            <a:srgbClr val="111111"/>
                          </a:solidFill>
                        </a:rPr>
                        <a:t>Choosing the allocation</a:t>
                      </a:r>
                    </a:p>
                  </a:txBody>
                  <a:tcPr/>
                </a:tc>
                <a:tc>
                  <a:txBody>
                    <a:bodyPr/>
                    <a:lstStyle/>
                    <a:p>
                      <a:r>
                        <a:rPr sz="892" b="0">
                          <a:solidFill>
                            <a:srgbClr val="111111"/>
                          </a:solidFill>
                        </a:rPr>
                        <a:t>messages a week</a:t>
                      </a:r>
                    </a:p>
                  </a:txBody>
                  <a:tcPr/>
                </a:tc>
                <a:tc>
                  <a:txBody>
                    <a:bodyPr/>
                    <a:lstStyle/>
                    <a:p>
                      <a:r>
                        <a:rPr sz="892" b="0">
                          <a:solidFill>
                            <a:srgbClr val="111111"/>
                          </a:solidFill>
                        </a:rPr>
                        <a:t>5</a:t>
                      </a:r>
                    </a:p>
                  </a:txBody>
                  <a:tcPr/>
                </a:tc>
              </a:tr>
              <a:tr h="190029">
                <a:tc>
                  <a:txBody>
                    <a:bodyPr/>
                    <a:lstStyle/>
                    <a:p>
                      <a:r>
                        <a:rPr sz="892" b="0">
                          <a:solidFill>
                            <a:srgbClr val="111111"/>
                          </a:solidFill>
                        </a:rPr>
                        <a:t>Choosing the allocation</a:t>
                      </a:r>
                    </a:p>
                  </a:txBody>
                  <a:tcPr/>
                </a:tc>
                <a:tc>
                  <a:txBody>
                    <a:bodyPr/>
                    <a:lstStyle/>
                    <a:p>
                      <a:r>
                        <a:rPr sz="892" b="0">
                          <a:solidFill>
                            <a:srgbClr val="111111"/>
                          </a:solidFill>
                        </a:rPr>
                        <a:t>recommended messaging (USD)</a:t>
                      </a:r>
                    </a:p>
                  </a:txBody>
                  <a:tcPr/>
                </a:tc>
                <a:tc>
                  <a:txBody>
                    <a:bodyPr/>
                    <a:lstStyle/>
                    <a:p>
                      <a:r>
                        <a:rPr sz="892" b="0">
                          <a:solidFill>
                            <a:srgbClr val="111111"/>
                          </a:solidFill>
                        </a:rPr>
                        <a:t>45</a:t>
                      </a:r>
                    </a:p>
                  </a:txBody>
                  <a:tcPr/>
                </a:tc>
              </a:tr>
              <a:tr h="190029">
                <a:tc>
                  <a:txBody>
                    <a:bodyPr/>
                    <a:lstStyle/>
                    <a:p>
                      <a:r>
                        <a:rPr sz="892" b="0">
                          <a:solidFill>
                            <a:srgbClr val="111111"/>
                          </a:solidFill>
                        </a:rPr>
                        <a:t>Choosing the allocation</a:t>
                      </a:r>
                    </a:p>
                  </a:txBody>
                  <a:tcPr/>
                </a:tc>
                <a:tc>
                  <a:txBody>
                    <a:bodyPr/>
                    <a:lstStyle/>
                    <a:p>
                      <a:r>
                        <a:rPr sz="892" b="0">
                          <a:solidFill>
                            <a:srgbClr val="111111"/>
                          </a:solidFill>
                        </a:rPr>
                        <a:t>recommended tutoring (USD)</a:t>
                      </a:r>
                    </a:p>
                  </a:txBody>
                  <a:tcPr/>
                </a:tc>
                <a:tc>
                  <a:txBody>
                    <a:bodyPr/>
                    <a:lstStyle/>
                    <a:p>
                      <a:r>
                        <a:rPr sz="892" b="0">
                          <a:solidFill>
                            <a:srgbClr val="111111"/>
                          </a:solidFill>
                        </a:rPr>
                        <a:t>700</a:t>
                      </a:r>
                    </a:p>
                  </a:txBody>
                  <a:tcPr/>
                </a:tc>
              </a:tr>
              <a:tr h="190029">
                <a:tc>
                  <a:txBody>
                    <a:bodyPr/>
                    <a:lstStyle/>
                    <a:p>
                      <a:r>
                        <a:rPr sz="892" b="0">
                          <a:solidFill>
                            <a:srgbClr val="111111"/>
                          </a:solidFill>
                        </a:rPr>
                        <a:t>Choosing the allocation</a:t>
                      </a:r>
                    </a:p>
                  </a:txBody>
                  <a:tcPr/>
                </a:tc>
                <a:tc>
                  <a:txBody>
                    <a:bodyPr/>
                    <a:lstStyle/>
                    <a:p>
                      <a:r>
                        <a:rPr sz="892" b="0">
                          <a:solidFill>
                            <a:srgbClr val="111111"/>
                          </a:solidFill>
                        </a:rPr>
                        <a:t>students reached</a:t>
                      </a:r>
                    </a:p>
                  </a:txBody>
                  <a:tcPr/>
                </a:tc>
                <a:tc>
                  <a:txBody>
                    <a:bodyPr/>
                    <a:lstStyle/>
                    <a:p>
                      <a:r>
                        <a:rPr sz="892" b="0">
                          <a:solidFill>
                            <a:srgbClr val="111111"/>
                          </a:solidFill>
                        </a:rPr>
                        <a:t>12,000</a:t>
                      </a:r>
                    </a:p>
                  </a:txBody>
                  <a:tcPr/>
                </a:tc>
              </a:tr>
              <a:tr h="190029">
                <a:tc>
                  <a:txBody>
                    <a:bodyPr/>
                    <a:lstStyle/>
                    <a:p>
                      <a:r>
                        <a:rPr sz="892" b="0">
                          <a:solidFill>
                            <a:srgbClr val="111111"/>
                          </a:solidFill>
                        </a:rPr>
                        <a:t>Choosing the allocation</a:t>
                      </a:r>
                    </a:p>
                  </a:txBody>
                  <a:tcPr/>
                </a:tc>
                <a:tc>
                  <a:txBody>
                    <a:bodyPr/>
                    <a:lstStyle/>
                    <a:p>
                      <a:r>
                        <a:rPr sz="892" b="0">
                          <a:solidFill>
                            <a:srgbClr val="111111"/>
                          </a:solidFill>
                        </a:rPr>
                        <a:t>weekly minutes</a:t>
                      </a:r>
                    </a:p>
                  </a:txBody>
                  <a:tcPr/>
                </a:tc>
                <a:tc>
                  <a:txBody>
                    <a:bodyPr/>
                    <a:lstStyle/>
                    <a:p>
                      <a:r>
                        <a:rPr sz="892" b="0">
                          <a:solidFill>
                            <a:srgbClr val="111111"/>
                          </a:solidFill>
                        </a:rPr>
                        <a:t>35</a:t>
                      </a:r>
                    </a:p>
                  </a:txBody>
                  <a:tcPr/>
                </a:tc>
              </a:tr>
              <a:tr h="190046">
                <a:tc>
                  <a:txBody>
                    <a:bodyPr/>
                    <a:lstStyle/>
                    <a:p>
                      <a:r>
                        <a:rPr sz="892" b="0">
                          <a:solidFill>
                            <a:srgbClr val="111111"/>
                          </a:solidFill>
                        </a:rPr>
                        <a:t>Choosing the allocation</a:t>
                      </a:r>
                    </a:p>
                  </a:txBody>
                  <a:tcPr/>
                </a:tc>
                <a:tc>
                  <a:txBody>
                    <a:bodyPr/>
                    <a:lstStyle/>
                    <a:p>
                      <a:r>
                        <a:rPr sz="892" b="0">
                          <a:solidFill>
                            <a:srgbClr val="111111"/>
                          </a:solidFill>
                        </a:rPr>
                        <a:t>within 2% of the best (USD)</a:t>
                      </a:r>
                    </a:p>
                  </a:txBody>
                  <a:tcPr/>
                </a:tc>
                <a:tc>
                  <a:txBody>
                    <a:bodyPr/>
                    <a:lstStyle/>
                    <a:p>
                      <a:r>
                        <a:rPr sz="892" b="0">
                          <a:solidFill>
                            <a:srgbClr val="111111"/>
                          </a:solidFill>
                        </a:rPr>
                        <a:t>700 to 750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a:t>
            </a:r>
          </a:p>
        </p:txBody>
      </p:sp>
      <p:sp>
        <p:nvSpPr>
          <p:cNvPr id="3" name="TextBox 2"/>
          <p:cNvSpPr txBox="1"/>
          <p:nvPr/>
        </p:nvSpPr>
        <p:spPr>
          <a:xfrm>
            <a:off x="812800" y="914400"/>
            <a:ext cx="5181600" cy="889000"/>
          </a:xfrm>
          <a:prstGeom prst="rect">
            <a:avLst/>
          </a:prstGeom>
          <a:noFill/>
        </p:spPr>
        <p:txBody>
          <a:bodyPr wrap="square">
            <a:spAutoFit/>
          </a:bodyPr>
          <a:lstStyle/>
          <a:p>
            <a:r>
              <a:rPr sz="892" b="0">
                <a:solidFill>
                  <a:srgbClr val="555555"/>
                </a:solidFill>
              </a:rPr>
              <a:t>COHORT READING POINTS OVER THE PILOT ALLOCATION</a:t>
            </a:r>
          </a:p>
          <a:p>
            <a:r>
              <a:rPr sz="1520" b="1">
                <a:solidFill>
                  <a:srgbClr val="1A1A1A"/>
                </a:solidFill>
              </a:rPr>
              <a:t>13,838 points/year</a:t>
            </a:r>
          </a:p>
          <a:p>
            <a:r>
              <a:rPr sz="892" b="0">
                <a:solidFill>
                  <a:srgbClr val="555555"/>
                </a:solidFill>
              </a:rPr>
              <a:t>[6,200, 22,000] (90% HDI)</a:t>
            </a:r>
          </a:p>
        </p:txBody>
      </p:sp>
      <p:sp>
        <p:nvSpPr>
          <p:cNvPr id="4" name="TextBox 3"/>
          <p:cNvSpPr txBox="1"/>
          <p:nvPr/>
        </p:nvSpPr>
        <p:spPr>
          <a:xfrm>
            <a:off x="6096000" y="914400"/>
            <a:ext cx="5181600" cy="889000"/>
          </a:xfrm>
          <a:prstGeom prst="rect">
            <a:avLst/>
          </a:prstGeom>
          <a:noFill/>
        </p:spPr>
        <p:txBody>
          <a:bodyPr wrap="square">
            <a:spAutoFit/>
          </a:bodyPr>
          <a:lstStyle/>
          <a:p>
            <a:r>
              <a:rPr sz="892" b="0">
                <a:solidFill>
                  <a:srgbClr val="555555"/>
                </a:solidFill>
              </a:rPr>
              <a:t>VALUE OF THE DIFFERENCE AT THE DEPARTMENT'S OWN VALUATION</a:t>
            </a:r>
          </a:p>
          <a:p>
            <a:r>
              <a:rPr sz="1520" b="1">
                <a:solidFill>
                  <a:srgbClr val="1A1A1A"/>
                </a:solidFill>
              </a:rPr>
              <a:t>19,372,837 USD</a:t>
            </a:r>
          </a:p>
          <a:p>
            <a:r>
              <a:rPr sz="892" b="0">
                <a:solidFill>
                  <a:srgbClr val="555555"/>
                </a:solidFill>
              </a:rPr>
              <a:t>[9,000,000, 3.1e+07] (90% HDI)</a:t>
            </a:r>
          </a:p>
        </p:txBody>
      </p:sp>
      <p:sp>
        <p:nvSpPr>
          <p:cNvPr id="5" name="TextBox 4"/>
          <p:cNvSpPr txBox="1"/>
          <p:nvPr/>
        </p:nvSpPr>
        <p:spPr>
          <a:xfrm>
            <a:off x="812800" y="1955800"/>
            <a:ext cx="10566400" cy="508000"/>
          </a:xfrm>
          <a:prstGeom prst="rect">
            <a:avLst/>
          </a:prstGeom>
          <a:noFill/>
        </p:spPr>
        <p:txBody>
          <a:bodyPr wrap="square">
            <a:spAutoFit/>
          </a:bodyPr>
          <a:lstStyle/>
          <a:p>
            <a:r>
              <a:rPr sz="1050" b="0">
                <a:solidFill>
                  <a:srgbClr val="111111"/>
                </a:solidFill>
              </a:rPr>
              <a:t>The results address the comparison between the program allocation and the pilot allocation for the decision values established in the introduction. Following the design and model assumptions outlined in the methods, the analysis provides estimates for the primary outcomes. The cohort reading points over the pilot allocation is 13838 points/year (90% HDI 6163 to 22036 points/year). The value of the difference at the department's own valuation is 19372837 USD (90% HDI 8627873 to 30850017 USD). The estimated quantities are reported in Table 4. The estimated quantities with their intervals are displayed in Figure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pic>
        <p:nvPicPr>
          <p:cNvPr id="3" name="Picture 2" descr="image.png"/>
          <p:cNvPicPr>
            <a:picLocks noChangeAspect="1"/>
          </p:cNvPicPr>
          <p:nvPr/>
        </p:nvPicPr>
        <p:blipFill>
          <a:blip r:embed="rId2"/>
          <a:stretch>
            <a:fillRect/>
          </a:stretch>
        </p:blipFill>
        <p:spPr>
          <a:xfrm>
            <a:off x="812800" y="914400"/>
            <a:ext cx="9122190" cy="5130800"/>
          </a:xfrm>
          <a:prstGeom prst="rect">
            <a:avLst/>
          </a:prstGeom>
        </p:spPr>
      </p:pic>
      <p:sp>
        <p:nvSpPr>
          <p:cNvPr id="4" name="TextBox 3"/>
          <p:cNvSpPr txBox="1"/>
          <p:nvPr/>
        </p:nvSpPr>
        <p:spPr>
          <a:xfrm>
            <a:off x="812800" y="6126480"/>
            <a:ext cx="10566400" cy="254000"/>
          </a:xfrm>
          <a:prstGeom prst="rect">
            <a:avLst/>
          </a:prstGeom>
          <a:noFill/>
        </p:spPr>
        <p:txBody>
          <a:bodyPr wrap="square">
            <a:spAutoFit/>
          </a:bodyPr>
          <a:lstStyle/>
          <a:p>
            <a:r>
              <a:rPr sz="892" b="0">
                <a:solidFill>
                  <a:srgbClr val="555555"/>
                </a:solidFill>
              </a:rPr>
              <a:t>Figure 2. Estimated quantities with their intervals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graphicFrame>
        <p:nvGraphicFramePr>
          <p:cNvPr id="3" name="Table 2"/>
          <p:cNvGraphicFramePr>
            <a:graphicFrameLocks noGrp="1"/>
          </p:cNvGraphicFramePr>
          <p:nvPr/>
        </p:nvGraphicFramePr>
        <p:xfrm>
          <a:off x="812800" y="914400"/>
          <a:ext cx="10566400" cy="914400"/>
        </p:xfrm>
        <a:graphic>
          <a:graphicData uri="http://schemas.openxmlformats.org/drawingml/2006/table">
            <a:tbl>
              <a:tblPr firstRow="1" bandRow="1">
                <a:tableStyleId>{5C22544A-7EE6-4342-B048-85BDC9FD1C3A}</a:tableStyleId>
              </a:tblPr>
              <a:tblGrid>
                <a:gridCol w="1761066"/>
                <a:gridCol w="1761066"/>
                <a:gridCol w="1761066"/>
                <a:gridCol w="1761066"/>
                <a:gridCol w="1761066"/>
                <a:gridCol w="1761070"/>
              </a:tblGrid>
              <a:tr h="304800">
                <a:tc>
                  <a:txBody>
                    <a:bodyPr/>
                    <a:lstStyle/>
                    <a:p>
                      <a:r>
                        <a:rPr sz="892" b="1">
                          <a:solidFill>
                            <a:srgbClr val="111111"/>
                          </a:solidFill>
                        </a:rPr>
                        <a:t>Quantity</a:t>
                      </a:r>
                    </a:p>
                  </a:txBody>
                  <a:tcPr/>
                </a:tc>
                <a:tc>
                  <a:txBody>
                    <a:bodyPr/>
                    <a:lstStyle/>
                    <a:p>
                      <a:r>
                        <a:rPr sz="892" b="1">
                          <a:solidFill>
                            <a:srgbClr val="111111"/>
                          </a:solidFill>
                        </a:rPr>
                        <a:t>Estimate</a:t>
                      </a:r>
                    </a:p>
                  </a:txBody>
                  <a:tcPr/>
                </a:tc>
                <a:tc>
                  <a:txBody>
                    <a:bodyPr/>
                    <a:lstStyle/>
                    <a:p>
                      <a:r>
                        <a:rPr sz="892" b="1">
                          <a:solidFill>
                            <a:srgbClr val="111111"/>
                          </a:solidFill>
                        </a:rPr>
                        <a:t>Unit</a:t>
                      </a:r>
                    </a:p>
                  </a:txBody>
                  <a:tcPr/>
                </a:tc>
                <a:tc>
                  <a:txBody>
                    <a:bodyPr/>
                    <a:lstStyle/>
                    <a:p>
                      <a:r>
                        <a:rPr sz="892" b="1">
                          <a:solidFill>
                            <a:srgbClr val="111111"/>
                          </a:solidFill>
                        </a:rPr>
                        <a:t>Interval</a:t>
                      </a:r>
                    </a:p>
                  </a:txBody>
                  <a:tcPr/>
                </a:tc>
                <a:tc>
                  <a:txBody>
                    <a:bodyPr/>
                    <a:lstStyle/>
                    <a:p>
                      <a:r>
                        <a:rPr sz="892" b="1">
                          <a:solidFill>
                            <a:srgbClr val="111111"/>
                          </a:solidFill>
                        </a:rPr>
                        <a:t>Threshold</a:t>
                      </a:r>
                    </a:p>
                  </a:txBody>
                  <a:tcPr/>
                </a:tc>
                <a:tc>
                  <a:txBody>
                    <a:bodyPr/>
                    <a:lstStyle/>
                    <a:p>
                      <a:r>
                        <a:rPr sz="892" b="1">
                          <a:solidFill>
                            <a:srgbClr val="111111"/>
                          </a:solidFill>
                        </a:rPr>
                        <a:t>Relative to threshold</a:t>
                      </a:r>
                    </a:p>
                  </a:txBody>
                  <a:tcPr/>
                </a:tc>
              </a:tr>
              <a:tr h="304800">
                <a:tc>
                  <a:txBody>
                    <a:bodyPr/>
                    <a:lstStyle/>
                    <a:p>
                      <a:r>
                        <a:rPr sz="892" b="0">
                          <a:solidFill>
                            <a:srgbClr val="111111"/>
                          </a:solidFill>
                        </a:rPr>
                        <a:t>Cohort reading points over the pilot allocation</a:t>
                      </a:r>
                    </a:p>
                  </a:txBody>
                  <a:tcPr/>
                </a:tc>
                <a:tc>
                  <a:txBody>
                    <a:bodyPr/>
                    <a:lstStyle/>
                    <a:p>
                      <a:r>
                        <a:rPr sz="892" b="0">
                          <a:solidFill>
                            <a:srgbClr val="111111"/>
                          </a:solidFill>
                        </a:rPr>
                        <a:t>13838</a:t>
                      </a:r>
                    </a:p>
                  </a:txBody>
                  <a:tcPr/>
                </a:tc>
                <a:tc>
                  <a:txBody>
                    <a:bodyPr/>
                    <a:lstStyle/>
                    <a:p>
                      <a:r>
                        <a:rPr sz="892" b="0">
                          <a:solidFill>
                            <a:srgbClr val="111111"/>
                          </a:solidFill>
                        </a:rPr>
                        <a:t>points/year</a:t>
                      </a:r>
                    </a:p>
                  </a:txBody>
                  <a:tcPr/>
                </a:tc>
                <a:tc>
                  <a:txBody>
                    <a:bodyPr/>
                    <a:lstStyle/>
                    <a:p>
                      <a:r>
                        <a:rPr sz="892" b="0">
                          <a:solidFill>
                            <a:srgbClr val="111111"/>
                          </a:solidFill>
                        </a:rPr>
                        <a:t>6163 to 22036 (90% HDI)</a:t>
                      </a:r>
                    </a:p>
                  </a:txBody>
                  <a:tcPr/>
                </a:tc>
                <a:tc>
                  <a:txBody>
                    <a:bodyPr/>
                    <a:lstStyle/>
                    <a:p>
                      <a:r>
                        <a:rPr sz="892" b="0">
                          <a:solidFill>
                            <a:srgbClr val="111111"/>
                          </a:solidFill>
                        </a:rPr>
                        <a:t>0</a:t>
                      </a:r>
                    </a:p>
                  </a:txBody>
                  <a:tcPr/>
                </a:tc>
                <a:tc>
                  <a:txBody>
                    <a:bodyPr/>
                    <a:lstStyle/>
                    <a:p>
                      <a:r>
                        <a:rPr sz="892" b="0">
                          <a:solidFill>
                            <a:srgbClr val="111111"/>
                          </a:solidFill>
                        </a:rPr>
                        <a:t>above threshold</a:t>
                      </a:r>
                    </a:p>
                  </a:txBody>
                  <a:tcPr/>
                </a:tc>
              </a:tr>
              <a:tr h="304800">
                <a:tc>
                  <a:txBody>
                    <a:bodyPr/>
                    <a:lstStyle/>
                    <a:p>
                      <a:r>
                        <a:rPr sz="892" b="0">
                          <a:solidFill>
                            <a:srgbClr val="111111"/>
                          </a:solidFill>
                        </a:rPr>
                        <a:t>Value of the difference at the department's own valuation</a:t>
                      </a:r>
                    </a:p>
                  </a:txBody>
                  <a:tcPr/>
                </a:tc>
                <a:tc>
                  <a:txBody>
                    <a:bodyPr/>
                    <a:lstStyle/>
                    <a:p>
                      <a:r>
                        <a:rPr sz="892" b="0">
                          <a:solidFill>
                            <a:srgbClr val="111111"/>
                          </a:solidFill>
                        </a:rPr>
                        <a:t>19372837</a:t>
                      </a:r>
                    </a:p>
                  </a:txBody>
                  <a:tcPr/>
                </a:tc>
                <a:tc>
                  <a:txBody>
                    <a:bodyPr/>
                    <a:lstStyle/>
                    <a:p>
                      <a:r>
                        <a:rPr sz="892" b="0">
                          <a:solidFill>
                            <a:srgbClr val="111111"/>
                          </a:solidFill>
                        </a:rPr>
                        <a:t>USD</a:t>
                      </a:r>
                    </a:p>
                  </a:txBody>
                  <a:tcPr/>
                </a:tc>
                <a:tc>
                  <a:txBody>
                    <a:bodyPr/>
                    <a:lstStyle/>
                    <a:p>
                      <a:r>
                        <a:rPr sz="892" b="0">
                          <a:solidFill>
                            <a:srgbClr val="111111"/>
                          </a:solidFill>
                        </a:rPr>
                        <a:t>8627873 to 30850017 (90% HDI)</a:t>
                      </a:r>
                    </a:p>
                  </a:txBody>
                  <a:tcPr/>
                </a:tc>
                <a:tc>
                  <a:txBody>
                    <a:bodyPr/>
                    <a:lstStyle/>
                    <a:p>
                      <a:r>
                        <a:rPr sz="892" b="0">
                          <a:solidFill>
                            <a:srgbClr val="111111"/>
                          </a:solidFill>
                        </a:rPr>
                        <a:t>0</a:t>
                      </a:r>
                    </a:p>
                  </a:txBody>
                  <a:tcPr/>
                </a:tc>
                <a:tc>
                  <a:txBody>
                    <a:bodyPr/>
                    <a:lstStyle/>
                    <a:p>
                      <a:r>
                        <a:rPr sz="892" b="0">
                          <a:solidFill>
                            <a:srgbClr val="111111"/>
                          </a:solidFill>
                        </a:rPr>
                        <a:t>above threshold</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4. What the run showed</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A1A1A"/>
                </a:solidFill>
              </a:rPr>
              <a:t>Written by the analyst after seeing the output, and reproduced unchanged. Nothing in this section is generated.</a:t>
            </a:r>
          </a:p>
        </p:txBody>
      </p:sp>
      <p:sp>
        <p:nvSpPr>
          <p:cNvPr id="4" name="TextBox 3"/>
          <p:cNvSpPr txBox="1"/>
          <p:nvPr/>
        </p:nvSpPr>
        <p:spPr>
          <a:xfrm>
            <a:off x="812800" y="1244600"/>
            <a:ext cx="10566400" cy="508000"/>
          </a:xfrm>
          <a:prstGeom prst="rect">
            <a:avLst/>
          </a:prstGeom>
          <a:noFill/>
        </p:spPr>
        <p:txBody>
          <a:bodyPr wrap="square">
            <a:spAutoFit/>
          </a:bodyPr>
          <a:lstStyle/>
          <a:p>
            <a:r>
              <a:rPr sz="1050" b="0">
                <a:solidFill>
                  <a:srgbClr val="111111"/>
                </a:solidFill>
              </a:rPr>
              <a:t>The recommendation is flat between 700 and 750 USD — 35 to 38 weekly minutes are all within two per cent of the best. The decision that matters is not the exact figure, it is not funding 90 minutes.</a:t>
            </a:r>
          </a:p>
        </p:txBody>
      </p:sp>
      <p:sp>
        <p:nvSpPr>
          <p:cNvPr id="5" name="TextBox 4"/>
          <p:cNvSpPr txBox="1"/>
          <p:nvPr/>
        </p:nvSpPr>
        <p:spPr>
          <a:xfrm>
            <a:off x="812800" y="1574800"/>
            <a:ext cx="10566400" cy="508000"/>
          </a:xfrm>
          <a:prstGeom prst="rect">
            <a:avLst/>
          </a:prstGeom>
          <a:noFill/>
        </p:spPr>
        <p:txBody>
          <a:bodyPr wrap="square">
            <a:spAutoFit/>
          </a:bodyPr>
          <a:lstStyle/>
          <a:p>
            <a:r>
              <a:rPr sz="1050" b="0">
                <a:solidFill>
                  <a:srgbClr val="111111"/>
                </a:solidFill>
              </a:rPr>
              <a:t>For the pilot to be the better buy, the advantage would have to be overstated by 100% of itself — that is, essentially the whole of it would have to be an artefact of the fit rather than a real difference between the two allocations.</a:t>
            </a:r>
          </a:p>
        </p:txBody>
      </p:sp>
      <p:sp>
        <p:nvSpPr>
          <p:cNvPr id="6" name="TextBox 5"/>
          <p:cNvSpPr txBox="1"/>
          <p:nvPr/>
        </p:nvSpPr>
        <p:spPr>
          <a:xfrm>
            <a:off x="812800" y="1981200"/>
            <a:ext cx="10566400" cy="508000"/>
          </a:xfrm>
          <a:prstGeom prst="rect">
            <a:avLst/>
          </a:prstGeom>
          <a:noFill/>
        </p:spPr>
        <p:txBody>
          <a:bodyPr wrap="square">
            <a:spAutoFit/>
          </a:bodyPr>
          <a:lstStyle/>
          <a:p>
            <a:r>
              <a:rPr sz="1050" b="0">
                <a:solidFill>
                  <a:srgbClr val="111111"/>
                </a:solidFill>
              </a:rPr>
              <a:t>The reason the recommendation is not 90 minutes is not that 90 minutes fails. It is that the response is steep at the bottom, the budget is fixed, and every extra dollar a student is a student not 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5. Model checking</a:t>
            </a:r>
          </a:p>
        </p:txBody>
      </p:sp>
      <p:sp>
        <p:nvSpPr>
          <p:cNvPr id="3" name="TextBox 2"/>
          <p:cNvSpPr txBox="1"/>
          <p:nvPr/>
        </p:nvSpPr>
        <p:spPr>
          <a:xfrm>
            <a:off x="812800" y="914400"/>
            <a:ext cx="2540000" cy="889000"/>
          </a:xfrm>
          <a:prstGeom prst="rect">
            <a:avLst/>
          </a:prstGeom>
          <a:noFill/>
        </p:spPr>
        <p:txBody>
          <a:bodyPr wrap="square">
            <a:spAutoFit/>
          </a:bodyPr>
          <a:lstStyle/>
          <a:p>
            <a:r>
              <a:rPr sz="892" b="0">
                <a:solidFill>
                  <a:srgbClr val="555555"/>
                </a:solidFill>
              </a:rPr>
              <a:t>POSTERIOR PROBABILITY THE RECOMMENDATION BEATS THE PILOT</a:t>
            </a:r>
          </a:p>
          <a:p>
            <a:r>
              <a:rPr sz="1520" b="1">
                <a:solidFill>
                  <a:srgbClr val="1A1A1A"/>
                </a:solidFill>
              </a:rPr>
              <a:t>0.997</a:t>
            </a:r>
          </a:p>
        </p:txBody>
      </p:sp>
      <p:sp>
        <p:nvSpPr>
          <p:cNvPr id="4" name="TextBox 3"/>
          <p:cNvSpPr txBox="1"/>
          <p:nvPr/>
        </p:nvSpPr>
        <p:spPr>
          <a:xfrm>
            <a:off x="3454400" y="914400"/>
            <a:ext cx="2540000" cy="889000"/>
          </a:xfrm>
          <a:prstGeom prst="rect">
            <a:avLst/>
          </a:prstGeom>
          <a:noFill/>
        </p:spPr>
        <p:txBody>
          <a:bodyPr wrap="square">
            <a:spAutoFit/>
          </a:bodyPr>
          <a:lstStyle/>
          <a:p>
            <a:r>
              <a:rPr sz="892" b="0">
                <a:solidFill>
                  <a:srgbClr val="555555"/>
                </a:solidFill>
              </a:rPr>
              <a:t>STUDENTS THE RECOMMENDATION REACHES</a:t>
            </a:r>
          </a:p>
          <a:p>
            <a:r>
              <a:rPr sz="1520" b="1">
                <a:solidFill>
                  <a:srgbClr val="1A1A1A"/>
                </a:solidFill>
              </a:rPr>
              <a:t>12,000</a:t>
            </a:r>
          </a:p>
        </p:txBody>
      </p:sp>
      <p:sp>
        <p:nvSpPr>
          <p:cNvPr id="5" name="TextBox 4"/>
          <p:cNvSpPr txBox="1"/>
          <p:nvPr/>
        </p:nvSpPr>
        <p:spPr>
          <a:xfrm>
            <a:off x="6096000" y="914400"/>
            <a:ext cx="2540000" cy="889000"/>
          </a:xfrm>
          <a:prstGeom prst="rect">
            <a:avLst/>
          </a:prstGeom>
          <a:noFill/>
        </p:spPr>
        <p:txBody>
          <a:bodyPr wrap="square">
            <a:spAutoFit/>
          </a:bodyPr>
          <a:lstStyle/>
          <a:p>
            <a:r>
              <a:rPr sz="892" b="0">
                <a:solidFill>
                  <a:srgbClr val="555555"/>
                </a:solidFill>
              </a:rPr>
              <a:t>STUDENTS THE PILOT ALLOCATION WOULD REACH</a:t>
            </a:r>
          </a:p>
          <a:p>
            <a:r>
              <a:rPr sz="1520" b="1">
                <a:solidFill>
                  <a:srgbClr val="1A1A1A"/>
                </a:solidFill>
              </a:rPr>
              <a:t>4,878</a:t>
            </a:r>
          </a:p>
        </p:txBody>
      </p:sp>
      <p:sp>
        <p:nvSpPr>
          <p:cNvPr id="6" name="TextBox 5"/>
          <p:cNvSpPr txBox="1"/>
          <p:nvPr/>
        </p:nvSpPr>
        <p:spPr>
          <a:xfrm>
            <a:off x="8737600" y="914400"/>
            <a:ext cx="2540000" cy="889000"/>
          </a:xfrm>
          <a:prstGeom prst="rect">
            <a:avLst/>
          </a:prstGeom>
          <a:noFill/>
        </p:spPr>
        <p:txBody>
          <a:bodyPr wrap="square">
            <a:spAutoFit/>
          </a:bodyPr>
          <a:lstStyle/>
          <a:p>
            <a:r>
              <a:rPr sz="892" b="0">
                <a:solidFill>
                  <a:srgbClr val="555555"/>
                </a:solidFill>
              </a:rPr>
              <a:t>COST OF THE RECOMMENDED ALLOCATION PER STUDENT</a:t>
            </a:r>
          </a:p>
          <a:p>
            <a:r>
              <a:rPr sz="1520" b="1">
                <a:solidFill>
                  <a:srgbClr val="1A1A1A"/>
                </a:solidFill>
              </a:rPr>
              <a:t>745 USD</a:t>
            </a:r>
          </a:p>
        </p:txBody>
      </p:sp>
      <p:sp>
        <p:nvSpPr>
          <p:cNvPr id="7" name="TextBox 6"/>
          <p:cNvSpPr txBox="1"/>
          <p:nvPr/>
        </p:nvSpPr>
        <p:spPr>
          <a:xfrm>
            <a:off x="812800" y="1955800"/>
            <a:ext cx="10566400" cy="508000"/>
          </a:xfrm>
          <a:prstGeom prst="rect">
            <a:avLst/>
          </a:prstGeom>
          <a:noFill/>
        </p:spPr>
        <p:txBody>
          <a:bodyPr wrap="square">
            <a:spAutoFit/>
          </a:bodyPr>
          <a:lstStyle/>
          <a:p>
            <a:r>
              <a:rPr sz="1050" b="0">
                <a:solidFill>
                  <a:srgbClr val="111111"/>
                </a:solidFill>
              </a:rPr>
              <a:t>Diagnostic checks evaluate the fit and can lower confidence in an estimate, but they can never establish one. The estimation relies on 4000 posterior draws across the 120 randomized schools. The posterior probability that the recommendation beats the pilot is 0.997. Under the recommended allocation, the intervention reaches 12000 students. By contrast, the pilot allocation would reach 4878 students. The cost of the recommended allocation is 745 USD per student. Recorded diagnostics are presented in Table 5. This evaluation examines the sampling performance and the reach quantities generated by the model. It leaves unexamined the structural and identification conditions detailed in the methods. Diagnostic consistency reflects computational stability without verifying the broader foundational assumptions of the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5. Model checking (cont.)</a:t>
            </a:r>
          </a:p>
        </p:txBody>
      </p:sp>
      <p:sp>
        <p:nvSpPr>
          <p:cNvPr id="3" name="TextBox 2"/>
          <p:cNvSpPr txBox="1"/>
          <p:nvPr/>
        </p:nvSpPr>
        <p:spPr>
          <a:xfrm>
            <a:off x="812800" y="914400"/>
            <a:ext cx="5181600" cy="889000"/>
          </a:xfrm>
          <a:prstGeom prst="rect">
            <a:avLst/>
          </a:prstGeom>
          <a:noFill/>
        </p:spPr>
        <p:txBody>
          <a:bodyPr wrap="square">
            <a:spAutoFit/>
          </a:bodyPr>
          <a:lstStyle/>
          <a:p>
            <a:r>
              <a:rPr sz="892" b="0">
                <a:solidFill>
                  <a:srgbClr val="555555"/>
                </a:solidFill>
              </a:rPr>
              <a:t>SCHOOLS RANDOMIZED</a:t>
            </a:r>
          </a:p>
          <a:p>
            <a:r>
              <a:rPr sz="1520" b="1">
                <a:solidFill>
                  <a:srgbClr val="1A1A1A"/>
                </a:solidFill>
              </a:rPr>
              <a:t>120</a:t>
            </a:r>
          </a:p>
        </p:txBody>
      </p:sp>
      <p:sp>
        <p:nvSpPr>
          <p:cNvPr id="4" name="TextBox 3"/>
          <p:cNvSpPr txBox="1"/>
          <p:nvPr/>
        </p:nvSpPr>
        <p:spPr>
          <a:xfrm>
            <a:off x="6096000" y="914400"/>
            <a:ext cx="5181600" cy="889000"/>
          </a:xfrm>
          <a:prstGeom prst="rect">
            <a:avLst/>
          </a:prstGeom>
          <a:noFill/>
        </p:spPr>
        <p:txBody>
          <a:bodyPr wrap="square">
            <a:spAutoFit/>
          </a:bodyPr>
          <a:lstStyle/>
          <a:p>
            <a:r>
              <a:rPr sz="892" b="0">
                <a:solidFill>
                  <a:srgbClr val="555555"/>
                </a:solidFill>
              </a:rPr>
              <a:t>POSTERIOR DRAWS</a:t>
            </a:r>
          </a:p>
          <a:p>
            <a:r>
              <a:rPr sz="1520" b="1">
                <a:solidFill>
                  <a:srgbClr val="1A1A1A"/>
                </a:solidFill>
              </a:rPr>
              <a:t>4,000</a:t>
            </a:r>
          </a:p>
        </p:txBody>
      </p:sp>
      <p:graphicFrame>
        <p:nvGraphicFramePr>
          <p:cNvPr id="5" name="Table 4"/>
          <p:cNvGraphicFramePr>
            <a:graphicFrameLocks noGrp="1"/>
          </p:cNvGraphicFramePr>
          <p:nvPr/>
        </p:nvGraphicFramePr>
        <p:xfrm>
          <a:off x="812800" y="1955800"/>
          <a:ext cx="10566400" cy="21336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Check</a:t>
                      </a:r>
                    </a:p>
                  </a:txBody>
                  <a:tcPr/>
                </a:tc>
                <a:tc>
                  <a:txBody>
                    <a:bodyPr/>
                    <a:lstStyle/>
                    <a:p>
                      <a:r>
                        <a:rPr sz="892" b="1">
                          <a:solidFill>
                            <a:srgbClr val="111111"/>
                          </a:solidFill>
                        </a:rPr>
                        <a:t>Value</a:t>
                      </a:r>
                    </a:p>
                  </a:txBody>
                  <a:tcPr/>
                </a:tc>
                <a:tc>
                  <a:txBody>
                    <a:bodyPr/>
                    <a:lstStyle/>
                    <a:p>
                      <a:r>
                        <a:rPr sz="892" b="1">
                          <a:solidFill>
                            <a:srgbClr val="111111"/>
                          </a:solidFill>
                        </a:rPr>
                        <a:t>Unit</a:t>
                      </a:r>
                    </a:p>
                  </a:txBody>
                  <a:tcPr/>
                </a:tc>
                <a:tc>
                  <a:txBody>
                    <a:bodyPr/>
                    <a:lstStyle/>
                    <a:p>
                      <a:r>
                        <a:rPr sz="892" b="1">
                          <a:solidFill>
                            <a:srgbClr val="111111"/>
                          </a:solidFill>
                        </a:rPr>
                        <a:t>Interval</a:t>
                      </a:r>
                    </a:p>
                  </a:txBody>
                  <a:tcPr/>
                </a:tc>
              </a:tr>
              <a:tr h="304800">
                <a:tc>
                  <a:txBody>
                    <a:bodyPr/>
                    <a:lstStyle/>
                    <a:p>
                      <a:r>
                        <a:rPr sz="892" b="0">
                          <a:solidFill>
                            <a:srgbClr val="111111"/>
                          </a:solidFill>
                        </a:rPr>
                        <a:t>Posterior probability the recommendation beats the pilot</a:t>
                      </a:r>
                    </a:p>
                  </a:txBody>
                  <a:tcPr/>
                </a:tc>
                <a:tc>
                  <a:txBody>
                    <a:bodyPr/>
                    <a:lstStyle/>
                    <a:p>
                      <a:r>
                        <a:rPr sz="892" b="0">
                          <a:solidFill>
                            <a:srgbClr val="111111"/>
                          </a:solidFill>
                        </a:rPr>
                        <a:t>0.997</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Students the recommendation reaches</a:t>
                      </a:r>
                    </a:p>
                  </a:txBody>
                  <a:tcPr/>
                </a:tc>
                <a:tc>
                  <a:txBody>
                    <a:bodyPr/>
                    <a:lstStyle/>
                    <a:p>
                      <a:r>
                        <a:rPr sz="892" b="0">
                          <a:solidFill>
                            <a:srgbClr val="111111"/>
                          </a:solidFill>
                        </a:rPr>
                        <a:t>12000</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Students the pilot allocation would reach</a:t>
                      </a:r>
                    </a:p>
                  </a:txBody>
                  <a:tcPr/>
                </a:tc>
                <a:tc>
                  <a:txBody>
                    <a:bodyPr/>
                    <a:lstStyle/>
                    <a:p>
                      <a:r>
                        <a:rPr sz="892" b="0">
                          <a:solidFill>
                            <a:srgbClr val="111111"/>
                          </a:solidFill>
                        </a:rPr>
                        <a:t>4878</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Cost of the recommended allocation per student</a:t>
                      </a:r>
                    </a:p>
                  </a:txBody>
                  <a:tcPr/>
                </a:tc>
                <a:tc>
                  <a:txBody>
                    <a:bodyPr/>
                    <a:lstStyle/>
                    <a:p>
                      <a:r>
                        <a:rPr sz="892" b="0">
                          <a:solidFill>
                            <a:srgbClr val="111111"/>
                          </a:solidFill>
                        </a:rPr>
                        <a:t>745</a:t>
                      </a:r>
                    </a:p>
                  </a:txBody>
                  <a:tcPr/>
                </a:tc>
                <a:tc>
                  <a:txBody>
                    <a:bodyPr/>
                    <a:lstStyle/>
                    <a:p>
                      <a:r>
                        <a:rPr sz="892" b="0">
                          <a:solidFill>
                            <a:srgbClr val="111111"/>
                          </a:solidFill>
                        </a:rPr>
                        <a:t>USD</a:t>
                      </a:r>
                    </a:p>
                  </a:txBody>
                  <a:tcPr/>
                </a:tc>
                <a:tc>
                  <a:txBody>
                    <a:bodyPr/>
                    <a:lstStyle/>
                    <a:p>
                      <a:r>
                        <a:rPr sz="892" b="0">
                          <a:solidFill>
                            <a:srgbClr val="111111"/>
                          </a:solidFill>
                        </a:rPr>
                        <a:t>—</a:t>
                      </a:r>
                    </a:p>
                  </a:txBody>
                  <a:tcPr/>
                </a:tc>
              </a:tr>
              <a:tr h="304800">
                <a:tc>
                  <a:txBody>
                    <a:bodyPr/>
                    <a:lstStyle/>
                    <a:p>
                      <a:r>
                        <a:rPr sz="892" b="0">
                          <a:solidFill>
                            <a:srgbClr val="111111"/>
                          </a:solidFill>
                        </a:rPr>
                        <a:t>Schools randomized</a:t>
                      </a:r>
                    </a:p>
                  </a:txBody>
                  <a:tcPr/>
                </a:tc>
                <a:tc>
                  <a:txBody>
                    <a:bodyPr/>
                    <a:lstStyle/>
                    <a:p>
                      <a:r>
                        <a:rPr sz="892" b="0">
                          <a:solidFill>
                            <a:srgbClr val="111111"/>
                          </a:solidFill>
                        </a:rPr>
                        <a:t>120</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Posterior draws</a:t>
                      </a:r>
                    </a:p>
                  </a:txBody>
                  <a:tcPr/>
                </a:tc>
                <a:tc>
                  <a:txBody>
                    <a:bodyPr/>
                    <a:lstStyle/>
                    <a:p>
                      <a:r>
                        <a:rPr sz="892" b="0">
                          <a:solidFill>
                            <a:srgbClr val="111111"/>
                          </a:solidFill>
                        </a:rPr>
                        <a:t>4000</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6. Discussion</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Both key findings agree and settle above the threshold on the favourable side. Specifically, the value of the difference at the department's own valuation and the cohort reading points over the pilot allocation each lie on the side favoring the broader distribution of tutoring minutes over the pilot allocation. Because the analysis relies on the backdoor route identified in the methods, these estimates can be read as effects of the allocation choice rather than baseline associations. That reading holds under the identification strategy but remains conditional on 2 unresolved assumptions. The limitations section states what each of those assumptions claims and what would challenge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7. Conclusions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Buying fewer tutoring minutes for every eligible student beats buying the pilot's ninety weekly minutes for the fraction of students reached by the budget. Cohort reading points over the pilot allocation settle on the favourable side of the decision threshold at 13838 points/year (90% HDI 6163 to 22036 points/year). The value of the difference at the department's own valuation also settles on the favourable side of the threshold. This finding follows from the identification set out earlier in the report. The conclusion is conditional on 2 unresolved assumptions: a reading point has the value the state assigns it, and the cohort average answers the question. What each assumption claims is stated in the limitations section. The policy answer holds under these conditions.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8. Limitations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Two unresolved assumptions support the analysis beyond what the data supply. First, the analysis asserts that a reading point has the value the state assigns it. Under this claim, a reading point is valued at 1,400 USD. This licenses the recommendation because the decision does not depend on this number, only on whether to fund at all. The assertion would be challenged by a valuation low enough to make the whole program not worth funding. Second, the analysis leaves unverified the assumption that the cohort average answers the question. This licenses basing the recommendation on the cohort average, as the grade-band breakdown the program office asked for is not estimable from a school-randomized trial. This assumption would be challenged by a response that differs across grade bands enough to change the allocation.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9. Provenance</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Every number in this document resolves to a quantity in the evidence record below. Prose was checked against that record: any numeral not traceable to it, and any claim the record does not itself make, is reported rather than published.</a:t>
            </a:r>
          </a:p>
        </p:txBody>
      </p:sp>
      <p:graphicFrame>
        <p:nvGraphicFramePr>
          <p:cNvPr id="4" name="Table 3"/>
          <p:cNvGraphicFramePr>
            <a:graphicFrameLocks noGrp="1"/>
          </p:cNvGraphicFramePr>
          <p:nvPr/>
        </p:nvGraphicFramePr>
        <p:xfrm>
          <a:off x="812800" y="1320800"/>
          <a:ext cx="10566400" cy="27432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Quantity</a:t>
                      </a:r>
                    </a:p>
                  </a:txBody>
                  <a:tcPr/>
                </a:tc>
                <a:tc>
                  <a:txBody>
                    <a:bodyPr/>
                    <a:lstStyle/>
                    <a:p>
                      <a:r>
                        <a:rPr sz="892" b="1">
                          <a:solidFill>
                            <a:srgbClr val="111111"/>
                          </a:solidFill>
                        </a:rPr>
                        <a:t>Key</a:t>
                      </a:r>
                    </a:p>
                  </a:txBody>
                  <a:tcPr/>
                </a:tc>
                <a:tc>
                  <a:txBody>
                    <a:bodyPr/>
                    <a:lstStyle/>
                    <a:p>
                      <a:r>
                        <a:rPr sz="892" b="1">
                          <a:solidFill>
                            <a:srgbClr val="111111"/>
                          </a:solidFill>
                        </a:rPr>
                        <a:t>Value</a:t>
                      </a:r>
                    </a:p>
                  </a:txBody>
                  <a:tcPr/>
                </a:tc>
                <a:tc>
                  <a:txBody>
                    <a:bodyPr/>
                    <a:lstStyle/>
                    <a:p>
                      <a:r>
                        <a:rPr sz="892" b="1">
                          <a:solidFill>
                            <a:srgbClr val="111111"/>
                          </a:solidFill>
                        </a:rPr>
                        <a:t>Produced by</a:t>
                      </a:r>
                    </a:p>
                  </a:txBody>
                  <a:tcPr/>
                </a:tc>
              </a:tr>
              <a:tr h="304800">
                <a:tc>
                  <a:txBody>
                    <a:bodyPr/>
                    <a:lstStyle/>
                    <a:p>
                      <a:r>
                        <a:rPr sz="892" b="0">
                          <a:solidFill>
                            <a:srgbClr val="111111"/>
                          </a:solidFill>
                        </a:rPr>
                        <a:t>Cohort reading points over the pilot allocation</a:t>
                      </a:r>
                    </a:p>
                  </a:txBody>
                  <a:tcPr/>
                </a:tc>
                <a:tc>
                  <a:txBody>
                    <a:bodyPr/>
                    <a:lstStyle/>
                    <a:p>
                      <a:r>
                        <a:rPr sz="892" b="0">
                          <a:solidFill>
                            <a:srgbClr val="111111"/>
                          </a:solidFill>
                        </a:rPr>
                        <a:t>advantage</a:t>
                      </a:r>
                    </a:p>
                  </a:txBody>
                  <a:tcPr/>
                </a:tc>
                <a:tc>
                  <a:txBody>
                    <a:bodyPr/>
                    <a:lstStyle/>
                    <a:p>
                      <a:r>
                        <a:rPr sz="892" b="0">
                          <a:solidFill>
                            <a:srgbClr val="111111"/>
                          </a:solidFill>
                        </a:rPr>
                        <a:t>13838 points/year (90% HDI 6163 to 22036 points/year)</a:t>
                      </a:r>
                    </a:p>
                  </a:txBody>
                  <a:tcPr/>
                </a:tc>
                <a:tc>
                  <a:txBody>
                    <a:bodyPr/>
                    <a:lstStyle/>
                    <a:p>
                      <a:r>
                        <a:rPr sz="892" b="0">
                          <a:solidFill>
                            <a:srgbClr val="111111"/>
                          </a:solidFill>
                        </a:rPr>
                        <a:t>paired posterior comparison over the allocation grid</a:t>
                      </a:r>
                    </a:p>
                  </a:txBody>
                  <a:tcPr/>
                </a:tc>
              </a:tr>
              <a:tr h="304800">
                <a:tc>
                  <a:txBody>
                    <a:bodyPr/>
                    <a:lstStyle/>
                    <a:p>
                      <a:r>
                        <a:rPr sz="892" b="0">
                          <a:solidFill>
                            <a:srgbClr val="111111"/>
                          </a:solidFill>
                        </a:rPr>
                        <a:t>Value of the difference at the department's own valuation</a:t>
                      </a:r>
                    </a:p>
                  </a:txBody>
                  <a:tcPr/>
                </a:tc>
                <a:tc>
                  <a:txBody>
                    <a:bodyPr/>
                    <a:lstStyle/>
                    <a:p>
                      <a:r>
                        <a:rPr sz="892" b="0">
                          <a:solidFill>
                            <a:srgbClr val="111111"/>
                          </a:solidFill>
                        </a:rPr>
                        <a:t>advantage_value</a:t>
                      </a:r>
                    </a:p>
                  </a:txBody>
                  <a:tcPr/>
                </a:tc>
                <a:tc>
                  <a:txBody>
                    <a:bodyPr/>
                    <a:lstStyle/>
                    <a:p>
                      <a:r>
                        <a:rPr sz="892" b="0">
                          <a:solidFill>
                            <a:srgbClr val="111111"/>
                          </a:solidFill>
                        </a:rPr>
                        <a:t>19372837 USD (90% HDI 8627873 to 30850017 USD)</a:t>
                      </a:r>
                    </a:p>
                  </a:txBody>
                  <a:tcPr/>
                </a:tc>
                <a:tc>
                  <a:txBody>
                    <a:bodyPr/>
                    <a:lstStyle/>
                    <a:p>
                      <a:r>
                        <a:rPr sz="892" b="0">
                          <a:solidFill>
                            <a:srgbClr val="111111"/>
                          </a:solidFill>
                        </a:rPr>
                        <a:t>the same draws, priced</a:t>
                      </a:r>
                    </a:p>
                  </a:txBody>
                  <a:tcPr/>
                </a:tc>
              </a:tr>
              <a:tr h="304800">
                <a:tc>
                  <a:txBody>
                    <a:bodyPr/>
                    <a:lstStyle/>
                    <a:p>
                      <a:r>
                        <a:rPr sz="892" b="0">
                          <a:solidFill>
                            <a:srgbClr val="111111"/>
                          </a:solidFill>
                        </a:rPr>
                        <a:t>Posterior probability the recommendation beats the pilot</a:t>
                      </a:r>
                    </a:p>
                  </a:txBody>
                  <a:tcPr/>
                </a:tc>
                <a:tc>
                  <a:txBody>
                    <a:bodyPr/>
                    <a:lstStyle/>
                    <a:p>
                      <a:r>
                        <a:rPr sz="892" b="0">
                          <a:solidFill>
                            <a:srgbClr val="111111"/>
                          </a:solidFill>
                        </a:rPr>
                        <a:t>probability_better</a:t>
                      </a:r>
                    </a:p>
                  </a:txBody>
                  <a:tcPr/>
                </a:tc>
                <a:tc>
                  <a:txBody>
                    <a:bodyPr/>
                    <a:lstStyle/>
                    <a:p>
                      <a:r>
                        <a:rPr sz="892" b="0">
                          <a:solidFill>
                            <a:srgbClr val="111111"/>
                          </a:solidFill>
                        </a:rPr>
                        <a:t>0.997</a:t>
                      </a:r>
                    </a:p>
                  </a:txBody>
                  <a:tcPr/>
                </a:tc>
                <a:tc>
                  <a:txBody>
                    <a:bodyPr/>
                    <a:lstStyle/>
                    <a:p>
                      <a:r>
                        <a:rPr sz="892" b="0">
                          <a:solidFill>
                            <a:srgbClr val="111111"/>
                          </a:solidFill>
                        </a:rPr>
                        <a:t>—</a:t>
                      </a:r>
                    </a:p>
                  </a:txBody>
                  <a:tcPr/>
                </a:tc>
              </a:tr>
              <a:tr h="304800">
                <a:tc>
                  <a:txBody>
                    <a:bodyPr/>
                    <a:lstStyle/>
                    <a:p>
                      <a:r>
                        <a:rPr sz="892" b="0">
                          <a:solidFill>
                            <a:srgbClr val="111111"/>
                          </a:solidFill>
                        </a:rPr>
                        <a:t>Students the recommendation reaches</a:t>
                      </a:r>
                    </a:p>
                  </a:txBody>
                  <a:tcPr/>
                </a:tc>
                <a:tc>
                  <a:txBody>
                    <a:bodyPr/>
                    <a:lstStyle/>
                    <a:p>
                      <a:r>
                        <a:rPr sz="892" b="0">
                          <a:solidFill>
                            <a:srgbClr val="111111"/>
                          </a:solidFill>
                        </a:rPr>
                        <a:t>students_reached</a:t>
                      </a:r>
                    </a:p>
                  </a:txBody>
                  <a:tcPr/>
                </a:tc>
                <a:tc>
                  <a:txBody>
                    <a:bodyPr/>
                    <a:lstStyle/>
                    <a:p>
                      <a:r>
                        <a:rPr sz="892" b="0">
                          <a:solidFill>
                            <a:srgbClr val="111111"/>
                          </a:solidFill>
                        </a:rPr>
                        <a:t>12000</a:t>
                      </a:r>
                    </a:p>
                  </a:txBody>
                  <a:tcPr/>
                </a:tc>
                <a:tc>
                  <a:txBody>
                    <a:bodyPr/>
                    <a:lstStyle/>
                    <a:p>
                      <a:r>
                        <a:rPr sz="892" b="0">
                          <a:solidFill>
                            <a:srgbClr val="111111"/>
                          </a:solidFill>
                        </a:rPr>
                        <a:t>—</a:t>
                      </a:r>
                    </a:p>
                  </a:txBody>
                  <a:tcPr/>
                </a:tc>
              </a:tr>
              <a:tr h="304800">
                <a:tc>
                  <a:txBody>
                    <a:bodyPr/>
                    <a:lstStyle/>
                    <a:p>
                      <a:r>
                        <a:rPr sz="892" b="0">
                          <a:solidFill>
                            <a:srgbClr val="111111"/>
                          </a:solidFill>
                        </a:rPr>
                        <a:t>Students the pilot allocation would reach</a:t>
                      </a:r>
                    </a:p>
                  </a:txBody>
                  <a:tcPr/>
                </a:tc>
                <a:tc>
                  <a:txBody>
                    <a:bodyPr/>
                    <a:lstStyle/>
                    <a:p>
                      <a:r>
                        <a:rPr sz="892" b="0">
                          <a:solidFill>
                            <a:srgbClr val="111111"/>
                          </a:solidFill>
                        </a:rPr>
                        <a:t>pilot_reached</a:t>
                      </a:r>
                    </a:p>
                  </a:txBody>
                  <a:tcPr/>
                </a:tc>
                <a:tc>
                  <a:txBody>
                    <a:bodyPr/>
                    <a:lstStyle/>
                    <a:p>
                      <a:r>
                        <a:rPr sz="892" b="0">
                          <a:solidFill>
                            <a:srgbClr val="111111"/>
                          </a:solidFill>
                        </a:rPr>
                        <a:t>4878</a:t>
                      </a:r>
                    </a:p>
                  </a:txBody>
                  <a:tcPr/>
                </a:tc>
                <a:tc>
                  <a:txBody>
                    <a:bodyPr/>
                    <a:lstStyle/>
                    <a:p>
                      <a:r>
                        <a:rPr sz="892" b="0">
                          <a:solidFill>
                            <a:srgbClr val="111111"/>
                          </a:solidFill>
                        </a:rPr>
                        <a:t>—</a:t>
                      </a:r>
                    </a:p>
                  </a:txBody>
                  <a:tcPr/>
                </a:tc>
              </a:tr>
              <a:tr h="304800">
                <a:tc>
                  <a:txBody>
                    <a:bodyPr/>
                    <a:lstStyle/>
                    <a:p>
                      <a:r>
                        <a:rPr sz="892" b="0">
                          <a:solidFill>
                            <a:srgbClr val="111111"/>
                          </a:solidFill>
                        </a:rPr>
                        <a:t>Cost of the recommended allocation per student</a:t>
                      </a:r>
                    </a:p>
                  </a:txBody>
                  <a:tcPr/>
                </a:tc>
                <a:tc>
                  <a:txBody>
                    <a:bodyPr/>
                    <a:lstStyle/>
                    <a:p>
                      <a:r>
                        <a:rPr sz="892" b="0">
                          <a:solidFill>
                            <a:srgbClr val="111111"/>
                          </a:solidFill>
                        </a:rPr>
                        <a:t>cost_per_student</a:t>
                      </a:r>
                    </a:p>
                  </a:txBody>
                  <a:tcPr/>
                </a:tc>
                <a:tc>
                  <a:txBody>
                    <a:bodyPr/>
                    <a:lstStyle/>
                    <a:p>
                      <a:r>
                        <a:rPr sz="892" b="0">
                          <a:solidFill>
                            <a:srgbClr val="111111"/>
                          </a:solidFill>
                        </a:rPr>
                        <a:t>745 USD</a:t>
                      </a:r>
                    </a:p>
                  </a:txBody>
                  <a:tcPr/>
                </a:tc>
                <a:tc>
                  <a:txBody>
                    <a:bodyPr/>
                    <a:lstStyle/>
                    <a:p>
                      <a:r>
                        <a:rPr sz="892" b="0">
                          <a:solidFill>
                            <a:srgbClr val="111111"/>
                          </a:solidFill>
                        </a:rPr>
                        <a:t>—</a:t>
                      </a:r>
                    </a:p>
                  </a:txBody>
                  <a:tcPr/>
                </a:tc>
              </a:tr>
              <a:tr h="304800">
                <a:tc>
                  <a:txBody>
                    <a:bodyPr/>
                    <a:lstStyle/>
                    <a:p>
                      <a:r>
                        <a:rPr sz="892" b="0">
                          <a:solidFill>
                            <a:srgbClr val="111111"/>
                          </a:solidFill>
                        </a:rPr>
                        <a:t>Schools randomized</a:t>
                      </a:r>
                    </a:p>
                  </a:txBody>
                  <a:tcPr/>
                </a:tc>
                <a:tc>
                  <a:txBody>
                    <a:bodyPr/>
                    <a:lstStyle/>
                    <a:p>
                      <a:r>
                        <a:rPr sz="892" b="0">
                          <a:solidFill>
                            <a:srgbClr val="111111"/>
                          </a:solidFill>
                        </a:rPr>
                        <a:t>schools</a:t>
                      </a:r>
                    </a:p>
                  </a:txBody>
                  <a:tcPr/>
                </a:tc>
                <a:tc>
                  <a:txBody>
                    <a:bodyPr/>
                    <a:lstStyle/>
                    <a:p>
                      <a:r>
                        <a:rPr sz="892" b="0">
                          <a:solidFill>
                            <a:srgbClr val="111111"/>
                          </a:solidFill>
                        </a:rPr>
                        <a:t>120</a:t>
                      </a:r>
                    </a:p>
                  </a:txBody>
                  <a:tcPr/>
                </a:tc>
                <a:tc>
                  <a:txBody>
                    <a:bodyPr/>
                    <a:lstStyle/>
                    <a:p>
                      <a:r>
                        <a:rPr sz="892" b="0">
                          <a:solidFill>
                            <a:srgbClr val="111111"/>
                          </a:solidFill>
                        </a:rPr>
                        <a:t>—</a:t>
                      </a:r>
                    </a:p>
                  </a:txBody>
                  <a:tcPr/>
                </a:tc>
              </a:tr>
              <a:tr h="304800">
                <a:tc>
                  <a:txBody>
                    <a:bodyPr/>
                    <a:lstStyle/>
                    <a:p>
                      <a:r>
                        <a:rPr sz="892" b="0">
                          <a:solidFill>
                            <a:srgbClr val="111111"/>
                          </a:solidFill>
                        </a:rPr>
                        <a:t>Posterior draws</a:t>
                      </a:r>
                    </a:p>
                  </a:txBody>
                  <a:tcPr/>
                </a:tc>
                <a:tc>
                  <a:txBody>
                    <a:bodyPr/>
                    <a:lstStyle/>
                    <a:p>
                      <a:r>
                        <a:rPr sz="892" b="0">
                          <a:solidFill>
                            <a:srgbClr val="111111"/>
                          </a:solidFill>
                        </a:rPr>
                        <a:t>draws</a:t>
                      </a:r>
                    </a:p>
                  </a:txBody>
                  <a:tcPr/>
                </a:tc>
                <a:tc>
                  <a:txBody>
                    <a:bodyPr/>
                    <a:lstStyle/>
                    <a:p>
                      <a:r>
                        <a:rPr sz="892" b="0">
                          <a:solidFill>
                            <a:srgbClr val="111111"/>
                          </a:solidFill>
                        </a:rPr>
                        <a:t>4000</a:t>
                      </a:r>
                    </a:p>
                  </a:txBody>
                  <a:tcPr/>
                </a:tc>
                <a:tc>
                  <a:txBody>
                    <a:bodyPr/>
                    <a:lstStyle/>
                    <a:p>
                      <a:r>
                        <a:rPr sz="892" b="0">
                          <a:solidFill>
                            <a:srgbClr val="111111"/>
                          </a:solidFill>
                        </a:rPr>
                        <a:t>—</a:t>
                      </a:r>
                    </a:p>
                  </a:txBody>
                  <a:tcPr/>
                </a:tc>
              </a:tr>
            </a:tbl>
          </a:graphicData>
        </a:graphic>
      </p:graphicFrame>
      <p:graphicFrame>
        <p:nvGraphicFramePr>
          <p:cNvPr id="5" name="Table 4"/>
          <p:cNvGraphicFramePr>
            <a:graphicFrameLocks noGrp="1"/>
          </p:cNvGraphicFramePr>
          <p:nvPr/>
        </p:nvGraphicFramePr>
        <p:xfrm>
          <a:off x="812800" y="4216400"/>
          <a:ext cx="10566400" cy="1828800"/>
        </p:xfrm>
        <a:graphic>
          <a:graphicData uri="http://schemas.openxmlformats.org/drawingml/2006/table">
            <a:tbl>
              <a:tblPr firstRow="1" bandRow="1">
                <a:tableStyleId>{5C22544A-7EE6-4342-B048-85BDC9FD1C3A}</a:tableStyleId>
              </a:tblPr>
              <a:tblGrid>
                <a:gridCol w="5283200"/>
                <a:gridCol w="5283200"/>
              </a:tblGrid>
              <a:tr h="121920">
                <a:tc>
                  <a:txBody>
                    <a:bodyPr/>
                    <a:lstStyle/>
                    <a:p>
                      <a:r>
                        <a:rPr sz="892" b="1">
                          <a:solidFill>
                            <a:srgbClr val="111111"/>
                          </a:solidFill>
                        </a:rPr>
                        <a:t>Field</a:t>
                      </a:r>
                    </a:p>
                  </a:txBody>
                  <a:tcPr/>
                </a:tc>
                <a:tc>
                  <a:txBody>
                    <a:bodyPr/>
                    <a:lstStyle/>
                    <a:p>
                      <a:r>
                        <a:rPr sz="892" b="1">
                          <a:solidFill>
                            <a:srgbClr val="111111"/>
                          </a:solidFill>
                        </a:rPr>
                        <a:t>Value</a:t>
                      </a:r>
                    </a:p>
                  </a:txBody>
                  <a:tcPr/>
                </a:tc>
              </a:tr>
              <a:tr h="121920">
                <a:tc>
                  <a:txBody>
                    <a:bodyPr/>
                    <a:lstStyle/>
                    <a:p>
                      <a:r>
                        <a:rPr sz="892" b="0">
                          <a:solidFill>
                            <a:srgbClr val="111111"/>
                          </a:solidFill>
                        </a:rPr>
                        <a:t>estimator</a:t>
                      </a:r>
                    </a:p>
                  </a:txBody>
                  <a:tcPr/>
                </a:tc>
                <a:tc>
                  <a:txBody>
                    <a:bodyPr/>
                    <a:lstStyle/>
                    <a:p>
                      <a:r>
                        <a:rPr sz="892" b="0">
                          <a:solidFill>
                            <a:srgbClr val="111111"/>
                          </a:solidFill>
                        </a:rPr>
                        <a:t>spline response surface, PyMC via nutpie</a:t>
                      </a:r>
                    </a:p>
                  </a:txBody>
                  <a:tcPr/>
                </a:tc>
              </a:tr>
              <a:tr h="121920">
                <a:tc>
                  <a:txBody>
                    <a:bodyPr/>
                    <a:lstStyle/>
                    <a:p>
                      <a:r>
                        <a:rPr sz="892" b="0">
                          <a:solidFill>
                            <a:srgbClr val="111111"/>
                          </a:solidFill>
                        </a:rPr>
                        <a:t>fit_hash</a:t>
                      </a:r>
                    </a:p>
                  </a:txBody>
                  <a:tcPr/>
                </a:tc>
                <a:tc>
                  <a:txBody>
                    <a:bodyPr/>
                    <a:lstStyle/>
                    <a:p>
                      <a:r>
                        <a:rPr sz="892" b="0">
                          <a:solidFill>
                            <a:srgbClr val="111111"/>
                          </a:solidFill>
                        </a:rPr>
                        <a:t>c878161a12a5</a:t>
                      </a:r>
                    </a:p>
                  </a:txBody>
                  <a:tcPr/>
                </a:tc>
              </a:tr>
              <a:tr h="121920">
                <a:tc>
                  <a:txBody>
                    <a:bodyPr/>
                    <a:lstStyle/>
                    <a:p>
                      <a:r>
                        <a:rPr sz="892" b="0">
                          <a:solidFill>
                            <a:srgbClr val="111111"/>
                          </a:solidFill>
                        </a:rPr>
                        <a:t>interval_mass</a:t>
                      </a:r>
                    </a:p>
                  </a:txBody>
                  <a:tcPr/>
                </a:tc>
                <a:tc>
                  <a:txBody>
                    <a:bodyPr/>
                    <a:lstStyle/>
                    <a:p>
                      <a:r>
                        <a:rPr sz="892" b="0">
                          <a:solidFill>
                            <a:srgbClr val="111111"/>
                          </a:solidFill>
                        </a:rPr>
                        <a:t>90%</a:t>
                      </a:r>
                    </a:p>
                  </a:txBody>
                  <a:tcPr/>
                </a:tc>
              </a:tr>
              <a:tr h="121920">
                <a:tc>
                  <a:txBody>
                    <a:bodyPr/>
                    <a:lstStyle/>
                    <a:p>
                      <a:r>
                        <a:rPr sz="892" b="0">
                          <a:solidFill>
                            <a:srgbClr val="111111"/>
                          </a:solidFill>
                        </a:rPr>
                        <a:t>seed</a:t>
                      </a:r>
                    </a:p>
                  </a:txBody>
                  <a:tcPr/>
                </a:tc>
                <a:tc>
                  <a:txBody>
                    <a:bodyPr/>
                    <a:lstStyle/>
                    <a:p>
                      <a:r>
                        <a:rPr sz="892" b="0">
                          <a:solidFill>
                            <a:srgbClr val="111111"/>
                          </a:solidFill>
                        </a:rPr>
                        <a:t>0</a:t>
                      </a:r>
                    </a:p>
                  </a:txBody>
                  <a:tcPr/>
                </a:tc>
              </a:tr>
              <a:tr h="121920">
                <a:tc>
                  <a:txBody>
                    <a:bodyPr/>
                    <a:lstStyle/>
                    <a:p>
                      <a:r>
                        <a:rPr sz="892" b="0">
                          <a:solidFill>
                            <a:srgbClr val="111111"/>
                          </a:solidFill>
                        </a:rPr>
                        <a:t>world</a:t>
                      </a:r>
                    </a:p>
                  </a:txBody>
                  <a:tcPr/>
                </a:tc>
                <a:tc>
                  <a:txBody>
                    <a:bodyPr/>
                    <a:lstStyle/>
                    <a:p>
                      <a:r>
                        <a:rPr sz="892" b="0">
                          <a:solidFill>
                            <a:srgbClr val="111111"/>
                          </a:solidFill>
                        </a:rPr>
                        <a:t>nbs/case-studies/tutoring/tutoring.py</a:t>
                      </a:r>
                    </a:p>
                  </a:txBody>
                  <a:tcPr/>
                </a:tc>
              </a:tr>
              <a:tr h="121920">
                <a:tc>
                  <a:txBody>
                    <a:bodyPr/>
                    <a:lstStyle/>
                    <a:p>
                      <a:r>
                        <a:rPr sz="892" b="0">
                          <a:solidFill>
                            <a:srgbClr val="111111"/>
                          </a:solidFill>
                        </a:rPr>
                        <a:t>evidence hash</a:t>
                      </a:r>
                    </a:p>
                  </a:txBody>
                  <a:tcPr/>
                </a:tc>
                <a:tc>
                  <a:txBody>
                    <a:bodyPr/>
                    <a:lstStyle/>
                    <a:p>
                      <a:r>
                        <a:rPr sz="892" b="0">
                          <a:solidFill>
                            <a:srgbClr val="111111"/>
                          </a:solidFill>
                        </a:rPr>
                        <a:t>7bc9d4b50db1c7e7d179ec9a8af11003732629bc0189790cf210b75d82f12a52</a:t>
                      </a:r>
                    </a:p>
                  </a:txBody>
                  <a:tcPr/>
                </a:tc>
              </a:tr>
              <a:tr h="121920">
                <a:tc>
                  <a:txBody>
                    <a:bodyPr/>
                    <a:lstStyle/>
                    <a:p>
                      <a:r>
                        <a:rPr sz="892" b="0">
                          <a:solidFill>
                            <a:srgbClr val="111111"/>
                          </a:solidFill>
                        </a:rPr>
                        <a:t>narration: abstract</a:t>
                      </a:r>
                    </a:p>
                  </a:txBody>
                  <a:tcPr/>
                </a:tc>
                <a:tc>
                  <a:txBody>
                    <a:bodyPr/>
                    <a:lstStyle/>
                    <a:p>
                      <a:r>
                        <a:rPr sz="892" b="0">
                          <a:solidFill>
                            <a:srgbClr val="111111"/>
                          </a:solidFill>
                        </a:rPr>
                        <a:t>gemini-3.5-flash-lite — verified</a:t>
                      </a:r>
                    </a:p>
                  </a:txBody>
                  <a:tcPr/>
                </a:tc>
              </a:tr>
              <a:tr h="121920">
                <a:tc>
                  <a:txBody>
                    <a:bodyPr/>
                    <a:lstStyle/>
                    <a:p>
                      <a:r>
                        <a:rPr sz="892" b="0">
                          <a:solidFill>
                            <a:srgbClr val="111111"/>
                          </a:solidFill>
                        </a:rPr>
                        <a:t>narration: introduction</a:t>
                      </a:r>
                    </a:p>
                  </a:txBody>
                  <a:tcPr/>
                </a:tc>
                <a:tc>
                  <a:txBody>
                    <a:bodyPr/>
                    <a:lstStyle/>
                    <a:p>
                      <a:r>
                        <a:rPr sz="892" b="0">
                          <a:solidFill>
                            <a:srgbClr val="111111"/>
                          </a:solidFill>
                        </a:rPr>
                        <a:t>gemini-3.7-flash — verified</a:t>
                      </a:r>
                    </a:p>
                  </a:txBody>
                  <a:tcPr/>
                </a:tc>
              </a:tr>
              <a:tr h="121920">
                <a:tc>
                  <a:txBody>
                    <a:bodyPr/>
                    <a:lstStyle/>
                    <a:p>
                      <a:r>
                        <a:rPr sz="892" b="0">
                          <a:solidFill>
                            <a:srgbClr val="111111"/>
                          </a:solidFill>
                        </a:rPr>
                        <a:t>narration: methods</a:t>
                      </a:r>
                    </a:p>
                  </a:txBody>
                  <a:tcPr/>
                </a:tc>
                <a:tc>
                  <a:txBody>
                    <a:bodyPr/>
                    <a:lstStyle/>
                    <a:p>
                      <a:r>
                        <a:rPr sz="892" b="0">
                          <a:solidFill>
                            <a:srgbClr val="111111"/>
                          </a:solidFill>
                        </a:rPr>
                        <a:t>gemini-3.7-flash — verified</a:t>
                      </a:r>
                    </a:p>
                  </a:txBody>
                  <a:tcPr/>
                </a:tc>
              </a:tr>
              <a:tr h="121920">
                <a:tc>
                  <a:txBody>
                    <a:bodyPr/>
                    <a:lstStyle/>
                    <a:p>
                      <a:r>
                        <a:rPr sz="892" b="0">
                          <a:solidFill>
                            <a:srgbClr val="111111"/>
                          </a:solidFill>
                        </a:rPr>
                        <a:t>narration: results</a:t>
                      </a:r>
                    </a:p>
                  </a:txBody>
                  <a:tcPr/>
                </a:tc>
                <a:tc>
                  <a:txBody>
                    <a:bodyPr/>
                    <a:lstStyle/>
                    <a:p>
                      <a:r>
                        <a:rPr sz="892" b="0">
                          <a:solidFill>
                            <a:srgbClr val="111111"/>
                          </a:solidFill>
                        </a:rPr>
                        <a:t>gemini-3.7-flash — verified</a:t>
                      </a:r>
                    </a:p>
                  </a:txBody>
                  <a:tcPr/>
                </a:tc>
              </a:tr>
              <a:tr h="121920">
                <a:tc>
                  <a:txBody>
                    <a:bodyPr/>
                    <a:lstStyle/>
                    <a:p>
                      <a:r>
                        <a:rPr sz="892" b="0">
                          <a:solidFill>
                            <a:srgbClr val="111111"/>
                          </a:solidFill>
                        </a:rPr>
                        <a:t>narration: diagnostics</a:t>
                      </a:r>
                    </a:p>
                  </a:txBody>
                  <a:tcPr/>
                </a:tc>
                <a:tc>
                  <a:txBody>
                    <a:bodyPr/>
                    <a:lstStyle/>
                    <a:p>
                      <a:r>
                        <a:rPr sz="892" b="0">
                          <a:solidFill>
                            <a:srgbClr val="111111"/>
                          </a:solidFill>
                        </a:rPr>
                        <a:t>gemini-3.7-flash — verified</a:t>
                      </a:r>
                    </a:p>
                  </a:txBody>
                  <a:tcPr/>
                </a:tc>
              </a:tr>
              <a:tr h="121920">
                <a:tc>
                  <a:txBody>
                    <a:bodyPr/>
                    <a:lstStyle/>
                    <a:p>
                      <a:r>
                        <a:rPr sz="892" b="0">
                          <a:solidFill>
                            <a:srgbClr val="111111"/>
                          </a:solidFill>
                        </a:rPr>
                        <a:t>narration: discussion</a:t>
                      </a:r>
                    </a:p>
                  </a:txBody>
                  <a:tcPr/>
                </a:tc>
                <a:tc>
                  <a:txBody>
                    <a:bodyPr/>
                    <a:lstStyle/>
                    <a:p>
                      <a:r>
                        <a:rPr sz="892" b="0">
                          <a:solidFill>
                            <a:srgbClr val="111111"/>
                          </a:solidFill>
                        </a:rPr>
                        <a:t>gemini-3.7-flash — verified</a:t>
                      </a:r>
                    </a:p>
                  </a:txBody>
                  <a:tcPr/>
                </a:tc>
              </a:tr>
              <a:tr h="121920">
                <a:tc>
                  <a:txBody>
                    <a:bodyPr/>
                    <a:lstStyle/>
                    <a:p>
                      <a:r>
                        <a:rPr sz="892" b="0">
                          <a:solidFill>
                            <a:srgbClr val="111111"/>
                          </a:solidFill>
                        </a:rPr>
                        <a:t>narration: conclusions</a:t>
                      </a:r>
                    </a:p>
                  </a:txBody>
                  <a:tcPr/>
                </a:tc>
                <a:tc>
                  <a:txBody>
                    <a:bodyPr/>
                    <a:lstStyle/>
                    <a:p>
                      <a:r>
                        <a:rPr sz="892" b="0">
                          <a:solidFill>
                            <a:srgbClr val="111111"/>
                          </a:solidFill>
                        </a:rPr>
                        <a:t>gemini-3.7-flash — verified</a:t>
                      </a:r>
                    </a:p>
                  </a:txBody>
                  <a:tcPr/>
                </a:tc>
              </a:tr>
              <a:tr h="121920">
                <a:tc>
                  <a:txBody>
                    <a:bodyPr/>
                    <a:lstStyle/>
                    <a:p>
                      <a:r>
                        <a:rPr sz="892" b="0">
                          <a:solidFill>
                            <a:srgbClr val="111111"/>
                          </a:solidFill>
                        </a:rPr>
                        <a:t>narration: limitations</a:t>
                      </a:r>
                    </a:p>
                  </a:txBody>
                  <a:tcPr/>
                </a:tc>
                <a:tc>
                  <a:txBody>
                    <a:bodyPr/>
                    <a:lstStyle/>
                    <a:p>
                      <a:r>
                        <a:rPr sz="892" b="0">
                          <a:solidFill>
                            <a:srgbClr val="111111"/>
                          </a:solidFill>
                        </a:rPr>
                        <a:t>gemini-3.7-flash — verified</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